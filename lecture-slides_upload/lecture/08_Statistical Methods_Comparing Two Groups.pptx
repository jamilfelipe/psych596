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258" r:id="rId3"/>
    <p:sldId id="263" r:id="rId4"/>
    <p:sldId id="264" r:id="rId5"/>
    <p:sldId id="278" r:id="rId6"/>
    <p:sldId id="340" r:id="rId7"/>
    <p:sldId id="280" r:id="rId8"/>
    <p:sldId id="356" r:id="rId9"/>
    <p:sldId id="357" r:id="rId10"/>
    <p:sldId id="358" r:id="rId11"/>
    <p:sldId id="292" r:id="rId12"/>
    <p:sldId id="261" r:id="rId13"/>
    <p:sldId id="343" r:id="rId14"/>
    <p:sldId id="344" r:id="rId15"/>
    <p:sldId id="34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essa Lobue" initials="VL" lastIdx="1" clrIdx="0">
    <p:extLst>
      <p:ext uri="{19B8F6BF-5375-455C-9EA6-DF929625EA0E}">
        <p15:presenceInfo xmlns:p15="http://schemas.microsoft.com/office/powerpoint/2012/main" userId="S::vlobue@psychology.rutgers.edu::02666d29-be71-456b-b9ea-d85fac8119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61"/>
    <p:restoredTop sz="87114"/>
  </p:normalViewPr>
  <p:slideViewPr>
    <p:cSldViewPr snapToGrid="0" snapToObjects="1">
      <p:cViewPr varScale="1">
        <p:scale>
          <a:sx n="83" d="100"/>
          <a:sy n="83" d="100"/>
        </p:scale>
        <p:origin x="232"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a:t>
            </a:fld>
            <a:endParaRPr lang="en-US"/>
          </a:p>
        </p:txBody>
      </p:sp>
    </p:spTree>
    <p:extLst>
      <p:ext uri="{BB962C8B-B14F-4D97-AF65-F5344CB8AC3E}">
        <p14:creationId xmlns:p14="http://schemas.microsoft.com/office/powerpoint/2010/main" val="3656891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a:t>
            </a:fld>
            <a:endParaRPr lang="en-US"/>
          </a:p>
        </p:txBody>
      </p:sp>
    </p:spTree>
    <p:extLst>
      <p:ext uri="{BB962C8B-B14F-4D97-AF65-F5344CB8AC3E}">
        <p14:creationId xmlns:p14="http://schemas.microsoft.com/office/powerpoint/2010/main" val="1145530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 larger the observed difference between the sample means (relative to the standard error), the more likely it is that the two sample means differ because of the different testing conditions imposed on each sample.</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6</a:t>
            </a:fld>
            <a:endParaRPr lang="en-US"/>
          </a:p>
        </p:txBody>
      </p:sp>
    </p:spTree>
    <p:extLst>
      <p:ext uri="{BB962C8B-B14F-4D97-AF65-F5344CB8AC3E}">
        <p14:creationId xmlns:p14="http://schemas.microsoft.com/office/powerpoint/2010/main" val="3195327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Normal errors: </a:t>
            </a:r>
            <a:r>
              <a:rPr lang="en-US" sz="1800" dirty="0">
                <a:effectLst/>
                <a:latin typeface="TimesNewRomanPSMT"/>
              </a:rPr>
              <a:t>the differences between the predicted and observed data are most frequently zero or very close to zero, and that differences much greater than zero happen only occasionally. Some people confuse this assumption with the idea that predictors have to be normally distributed, which they don’t.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NewRomanPSMT"/>
              </a:rPr>
              <a:t>In small samples a lack of normality invalidates confidence intervals and significance tests, whereas in large samples it will not because of the central limit theorem. If you are concerned only with estimating the model parameters (and not significance tests and confidence intervals) then this assumption barely matters. If you bootstrap confidence intervals then you can ignore this assumption.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i="1" dirty="0"/>
          </a:p>
        </p:txBody>
      </p:sp>
      <p:sp>
        <p:nvSpPr>
          <p:cNvPr id="4" name="Slide Number Placeholder 3"/>
          <p:cNvSpPr>
            <a:spLocks noGrp="1"/>
          </p:cNvSpPr>
          <p:nvPr>
            <p:ph type="sldNum" sz="quarter" idx="5"/>
          </p:nvPr>
        </p:nvSpPr>
        <p:spPr/>
        <p:txBody>
          <a:bodyPr/>
          <a:lstStyle/>
          <a:p>
            <a:fld id="{66610047-E131-0346-ABBC-77645D001C55}" type="slidenum">
              <a:rPr lang="en-US" smtClean="0"/>
              <a:t>8</a:t>
            </a:fld>
            <a:endParaRPr lang="en-US"/>
          </a:p>
        </p:txBody>
      </p:sp>
    </p:spTree>
    <p:extLst>
      <p:ext uri="{BB962C8B-B14F-4D97-AF65-F5344CB8AC3E}">
        <p14:creationId xmlns:p14="http://schemas.microsoft.com/office/powerpoint/2010/main" val="3427394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When data violate the assumptions of parametric tests we can sometimes find a nonparametric equivalent</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11</a:t>
            </a:fld>
            <a:endParaRPr lang="en-US"/>
          </a:p>
        </p:txBody>
      </p:sp>
    </p:spTree>
    <p:extLst>
      <p:ext uri="{BB962C8B-B14F-4D97-AF65-F5344CB8AC3E}">
        <p14:creationId xmlns:p14="http://schemas.microsoft.com/office/powerpoint/2010/main" val="3939708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10/20/25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10/20/25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Comparing Two Groups</a:t>
            </a:r>
          </a:p>
        </p:txBody>
      </p:sp>
      <p:sp>
        <p:nvSpPr>
          <p:cNvPr id="3" name="Subtitle 2"/>
          <p:cNvSpPr>
            <a:spLocks noGrp="1"/>
          </p:cNvSpPr>
          <p:nvPr>
            <p:ph type="subTitle" idx="1"/>
          </p:nvPr>
        </p:nvSpPr>
        <p:spPr>
          <a:xfrm>
            <a:off x="1524000" y="3869324"/>
            <a:ext cx="9144000" cy="1655762"/>
          </a:xfrm>
        </p:spPr>
        <p:txBody>
          <a:bodyPr/>
          <a:lstStyle/>
          <a:p>
            <a:r>
              <a:rPr lang="en-GB" dirty="0"/>
              <a:t>Jamil </a:t>
            </a:r>
            <a:r>
              <a:rPr lang="en-GB" dirty="0" err="1"/>
              <a:t>Bhanji</a:t>
            </a:r>
            <a:endParaRPr lang="en-GB" dirty="0"/>
          </a:p>
          <a:p>
            <a:r>
              <a:rPr lang="en-GB" dirty="0"/>
              <a:t>with help from Vanessa </a:t>
            </a:r>
            <a:r>
              <a:rPr lang="en-GB" dirty="0" err="1"/>
              <a:t>LoBue</a:t>
            </a:r>
            <a:endParaRPr lang="en-GB" dirty="0"/>
          </a:p>
          <a:p>
            <a:r>
              <a:rPr lang="en-GB" dirty="0"/>
              <a:t>and Andy Field</a:t>
            </a:r>
          </a:p>
        </p:txBody>
      </p:sp>
    </p:spTree>
    <p:extLst>
      <p:ext uri="{BB962C8B-B14F-4D97-AF65-F5344CB8AC3E}">
        <p14:creationId xmlns:p14="http://schemas.microsoft.com/office/powerpoint/2010/main" val="90758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Aims</a:t>
            </a:r>
          </a:p>
        </p:txBody>
      </p:sp>
      <p:sp>
        <p:nvSpPr>
          <p:cNvPr id="3" name="Content Placeholder 2"/>
          <p:cNvSpPr>
            <a:spLocks noGrp="1"/>
          </p:cNvSpPr>
          <p:nvPr>
            <p:ph idx="1"/>
          </p:nvPr>
        </p:nvSpPr>
        <p:spPr>
          <a:xfrm>
            <a:off x="838200" y="1534685"/>
            <a:ext cx="10515600" cy="4351338"/>
          </a:xfrm>
        </p:spPr>
        <p:txBody>
          <a:bodyPr>
            <a:noAutofit/>
          </a:bodyPr>
          <a:lstStyle/>
          <a:p>
            <a:r>
              <a:rPr lang="en-GB" sz="3200" i="1" dirty="0"/>
              <a:t>t</a:t>
            </a:r>
            <a:r>
              <a:rPr lang="en-GB" sz="3200" dirty="0"/>
              <a:t>-tests</a:t>
            </a:r>
          </a:p>
          <a:p>
            <a:r>
              <a:rPr lang="en-GB" sz="3000" dirty="0"/>
              <a:t>Dependent (paired-samples, matched-pairs)</a:t>
            </a:r>
          </a:p>
          <a:p>
            <a:r>
              <a:rPr lang="en-GB" sz="3000" dirty="0"/>
              <a:t>Independent</a:t>
            </a:r>
          </a:p>
          <a:p>
            <a:r>
              <a:rPr lang="en-GB" sz="3200" dirty="0"/>
              <a:t>Rationale for the tests</a:t>
            </a:r>
          </a:p>
          <a:p>
            <a:r>
              <a:rPr lang="en-GB" sz="3200"/>
              <a:t>Nonparametric Tests</a:t>
            </a:r>
            <a:endParaRPr lang="en-GB" sz="3200" dirty="0"/>
          </a:p>
        </p:txBody>
      </p:sp>
    </p:spTree>
    <p:extLst>
      <p:ext uri="{BB962C8B-B14F-4D97-AF65-F5344CB8AC3E}">
        <p14:creationId xmlns:p14="http://schemas.microsoft.com/office/powerpoint/2010/main" val="304842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Experiments</a:t>
            </a:r>
          </a:p>
        </p:txBody>
      </p:sp>
      <p:sp>
        <p:nvSpPr>
          <p:cNvPr id="3" name="Content Placeholder 2"/>
          <p:cNvSpPr>
            <a:spLocks noGrp="1"/>
          </p:cNvSpPr>
          <p:nvPr>
            <p:ph idx="1"/>
          </p:nvPr>
        </p:nvSpPr>
        <p:spPr>
          <a:xfrm>
            <a:off x="838200" y="1473933"/>
            <a:ext cx="10515600" cy="4351338"/>
          </a:xfrm>
        </p:spPr>
        <p:txBody>
          <a:bodyPr>
            <a:noAutofit/>
          </a:bodyPr>
          <a:lstStyle/>
          <a:p>
            <a:r>
              <a:rPr lang="en-GB" sz="3200" dirty="0"/>
              <a:t>The simplest form of an experiment is with only one independent variable that is manipulated to yield only two levels and only one (continuous) outcome is measured.</a:t>
            </a:r>
          </a:p>
          <a:p>
            <a:pPr lvl="1"/>
            <a:r>
              <a:rPr lang="en-GB" sz="3000" dirty="0"/>
              <a:t>E.g., experimental condition vs. control, one outcome measure</a:t>
            </a:r>
          </a:p>
          <a:p>
            <a:pPr lvl="1"/>
            <a:endParaRPr lang="en-GB" sz="3000" dirty="0"/>
          </a:p>
          <a:p>
            <a:r>
              <a:rPr lang="en-GB" sz="3200" dirty="0"/>
              <a:t>means of each IV level can be compared with a </a:t>
            </a:r>
            <a:r>
              <a:rPr lang="en-GB" sz="3200" i="1" dirty="0"/>
              <a:t>t</a:t>
            </a:r>
            <a:r>
              <a:rPr lang="en-GB" sz="3200" dirty="0"/>
              <a:t>-test</a:t>
            </a:r>
          </a:p>
        </p:txBody>
      </p:sp>
    </p:spTree>
    <p:extLst>
      <p:ext uri="{BB962C8B-B14F-4D97-AF65-F5344CB8AC3E}">
        <p14:creationId xmlns:p14="http://schemas.microsoft.com/office/powerpoint/2010/main" val="294227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T</a:t>
            </a:r>
            <a:r>
              <a:rPr lang="en-GB" dirty="0"/>
              <a:t>-test</a:t>
            </a:r>
            <a:endParaRPr lang="en-GB" i="1" dirty="0"/>
          </a:p>
        </p:txBody>
      </p:sp>
      <p:sp>
        <p:nvSpPr>
          <p:cNvPr id="3" name="Content Placeholder 2"/>
          <p:cNvSpPr>
            <a:spLocks noGrp="1"/>
          </p:cNvSpPr>
          <p:nvPr>
            <p:ph idx="1"/>
          </p:nvPr>
        </p:nvSpPr>
        <p:spPr>
          <a:xfrm>
            <a:off x="838200" y="1253331"/>
            <a:ext cx="10515600" cy="4351338"/>
          </a:xfrm>
        </p:spPr>
        <p:txBody>
          <a:bodyPr>
            <a:noAutofit/>
          </a:bodyPr>
          <a:lstStyle/>
          <a:p>
            <a:endParaRPr lang="en-GB" sz="3200" dirty="0"/>
          </a:p>
          <a:p>
            <a:r>
              <a:rPr lang="en-GB" sz="3200" dirty="0"/>
              <a:t>Independent samples </a:t>
            </a:r>
            <a:r>
              <a:rPr lang="en-GB" sz="3200" i="1" dirty="0"/>
              <a:t>t</a:t>
            </a:r>
            <a:r>
              <a:rPr lang="en-GB" sz="3200" dirty="0"/>
              <a:t>-test</a:t>
            </a:r>
          </a:p>
          <a:p>
            <a:pPr lvl="1"/>
            <a:r>
              <a:rPr lang="en-GB" sz="3000" dirty="0"/>
              <a:t>Compares two means based on independent data</a:t>
            </a:r>
          </a:p>
          <a:p>
            <a:pPr lvl="1"/>
            <a:r>
              <a:rPr lang="en-GB" sz="3000" dirty="0"/>
              <a:t>E.g., data from different groups of people</a:t>
            </a:r>
          </a:p>
          <a:p>
            <a:pPr lvl="1"/>
            <a:endParaRPr lang="en-GB" sz="3000" dirty="0"/>
          </a:p>
          <a:p>
            <a:r>
              <a:rPr lang="en-GB" sz="3200" dirty="0"/>
              <a:t>Dependent samples </a:t>
            </a:r>
            <a:r>
              <a:rPr lang="en-GB" sz="3200" i="1" dirty="0"/>
              <a:t>t</a:t>
            </a:r>
            <a:r>
              <a:rPr lang="en-GB" sz="3200" dirty="0"/>
              <a:t>-test</a:t>
            </a:r>
          </a:p>
          <a:p>
            <a:pPr lvl="1"/>
            <a:r>
              <a:rPr lang="en-GB" sz="3000" dirty="0"/>
              <a:t>Compares two means based on related data.</a:t>
            </a:r>
          </a:p>
          <a:p>
            <a:pPr lvl="1"/>
            <a:r>
              <a:rPr lang="en-GB" sz="3000" dirty="0"/>
              <a:t>E.g., Same people measured at different times, Data from ‘matched’ samples.</a:t>
            </a:r>
          </a:p>
          <a:p>
            <a:pPr lvl="1"/>
            <a:endParaRPr lang="en-GB" sz="3000" dirty="0"/>
          </a:p>
        </p:txBody>
      </p:sp>
    </p:spTree>
    <p:extLst>
      <p:ext uri="{BB962C8B-B14F-4D97-AF65-F5344CB8AC3E}">
        <p14:creationId xmlns:p14="http://schemas.microsoft.com/office/powerpoint/2010/main" val="210746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Rational for the </a:t>
            </a:r>
            <a:r>
              <a:rPr lang="en-GB" i="1" dirty="0"/>
              <a:t>t</a:t>
            </a:r>
            <a:r>
              <a:rPr lang="en-GB" dirty="0"/>
              <a:t>-test</a:t>
            </a:r>
          </a:p>
        </p:txBody>
      </p:sp>
      <p:sp>
        <p:nvSpPr>
          <p:cNvPr id="3" name="Content Placeholder 2"/>
          <p:cNvSpPr>
            <a:spLocks noGrp="1"/>
          </p:cNvSpPr>
          <p:nvPr>
            <p:ph idx="1"/>
          </p:nvPr>
        </p:nvSpPr>
        <p:spPr/>
        <p:txBody>
          <a:bodyPr>
            <a:normAutofit fontScale="62500" lnSpcReduction="20000"/>
          </a:bodyPr>
          <a:lstStyle/>
          <a:p>
            <a:pPr lvl="0"/>
            <a:r>
              <a:rPr lang="en-GB" sz="4600" dirty="0"/>
              <a:t>Two samples are collected and the means calculated</a:t>
            </a:r>
          </a:p>
          <a:p>
            <a:pPr lvl="0"/>
            <a:endParaRPr lang="en-GB" sz="4600" dirty="0"/>
          </a:p>
          <a:p>
            <a:pPr lvl="0"/>
            <a:r>
              <a:rPr lang="en-GB" sz="4600" dirty="0"/>
              <a:t>These means might differ by either a little or a lot</a:t>
            </a:r>
          </a:p>
          <a:p>
            <a:pPr lvl="1"/>
            <a:endParaRPr lang="en-GB" sz="4600" dirty="0"/>
          </a:p>
          <a:p>
            <a:pPr lvl="0">
              <a:lnSpc>
                <a:spcPct val="120000"/>
              </a:lnSpc>
            </a:pPr>
            <a:r>
              <a:rPr lang="en-GB" sz="4600" dirty="0"/>
              <a:t>If the samples come from the same population (this is the null hypothesis), we would expect large differences between sample means to occur very </a:t>
            </a:r>
            <a:r>
              <a:rPr lang="en-GB" sz="4600" b="1" i="1" dirty="0"/>
              <a:t>infrequently.</a:t>
            </a:r>
          </a:p>
          <a:p>
            <a:pPr lvl="0">
              <a:lnSpc>
                <a:spcPct val="120000"/>
              </a:lnSpc>
            </a:pPr>
            <a:r>
              <a:rPr lang="en-GB" sz="4600" dirty="0"/>
              <a:t>How large is a large difference? The </a:t>
            </a:r>
            <a:r>
              <a:rPr lang="en-GB" sz="4600" b="1" dirty="0"/>
              <a:t>standard error </a:t>
            </a:r>
            <a:r>
              <a:rPr lang="en-GB" sz="4600" dirty="0"/>
              <a:t>of the mean tells us how much we expect a sample mean to vary</a:t>
            </a:r>
            <a:endParaRPr lang="en-GB" sz="4600" b="1" i="1" dirty="0"/>
          </a:p>
        </p:txBody>
      </p:sp>
    </p:spTree>
    <p:extLst>
      <p:ext uri="{BB962C8B-B14F-4D97-AF65-F5344CB8AC3E}">
        <p14:creationId xmlns:p14="http://schemas.microsoft.com/office/powerpoint/2010/main" val="90617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Rational for the </a:t>
            </a:r>
            <a:r>
              <a:rPr lang="en-GB" i="1" dirty="0"/>
              <a:t>t</a:t>
            </a:r>
            <a:r>
              <a:rPr lang="en-GB" dirty="0"/>
              <a:t>-test</a:t>
            </a:r>
          </a:p>
        </p:txBody>
      </p:sp>
      <p:sp>
        <p:nvSpPr>
          <p:cNvPr id="3" name="Content Placeholder 2"/>
          <p:cNvSpPr>
            <a:spLocks noGrp="1"/>
          </p:cNvSpPr>
          <p:nvPr>
            <p:ph idx="1"/>
          </p:nvPr>
        </p:nvSpPr>
        <p:spPr>
          <a:xfrm>
            <a:off x="739726" y="1502068"/>
            <a:ext cx="10515600" cy="4666503"/>
          </a:xfrm>
        </p:spPr>
        <p:txBody>
          <a:bodyPr>
            <a:normAutofit fontScale="25000" lnSpcReduction="20000"/>
          </a:bodyPr>
          <a:lstStyle/>
          <a:p>
            <a:pPr marL="457200" lvl="1" indent="0">
              <a:lnSpc>
                <a:spcPct val="120000"/>
              </a:lnSpc>
              <a:buNone/>
            </a:pPr>
            <a:r>
              <a:rPr lang="en-GB" sz="9800" dirty="0"/>
              <a:t>If the difference between the samples is larger than we would expect </a:t>
            </a:r>
            <a:r>
              <a:rPr lang="en-GB" sz="9800" dirty="0">
                <a:solidFill>
                  <a:srgbClr val="FF0000"/>
                </a:solidFill>
              </a:rPr>
              <a:t>based on the standard error </a:t>
            </a:r>
            <a:r>
              <a:rPr lang="en-GB" sz="9800" dirty="0"/>
              <a:t>then one of two things has happened:</a:t>
            </a:r>
          </a:p>
          <a:p>
            <a:pPr marL="457200" lvl="1" indent="0">
              <a:lnSpc>
                <a:spcPct val="120000"/>
              </a:lnSpc>
              <a:buNone/>
            </a:pPr>
            <a:endParaRPr lang="en-GB" sz="9800" dirty="0"/>
          </a:p>
          <a:p>
            <a:pPr marL="457200" lvl="1" indent="0">
              <a:lnSpc>
                <a:spcPct val="120000"/>
              </a:lnSpc>
              <a:buNone/>
            </a:pPr>
            <a:r>
              <a:rPr lang="en-GB" sz="9800" dirty="0"/>
              <a:t>1. The two samples come from the same population (null hypothesis, no true effect) but because sample means fluctuate we happen to have collected two samples that produce different means </a:t>
            </a:r>
          </a:p>
          <a:p>
            <a:pPr marL="457200" lvl="1" indent="0">
              <a:lnSpc>
                <a:spcPct val="120000"/>
              </a:lnSpc>
              <a:buNone/>
            </a:pPr>
            <a:endParaRPr lang="en-GB" sz="9800" dirty="0"/>
          </a:p>
          <a:p>
            <a:pPr marL="457200" lvl="1" indent="0">
              <a:lnSpc>
                <a:spcPct val="120000"/>
              </a:lnSpc>
              <a:buNone/>
            </a:pPr>
            <a:r>
              <a:rPr lang="en-GB" sz="9800" dirty="0"/>
              <a:t>2. The two samples come from different populations. In other words, the null hypothesis is unlikely</a:t>
            </a:r>
          </a:p>
          <a:p>
            <a:pPr marL="0" lvl="0" indent="0">
              <a:buNone/>
            </a:pPr>
            <a:endParaRPr lang="en-GB" dirty="0"/>
          </a:p>
        </p:txBody>
      </p:sp>
    </p:spTree>
    <p:extLst>
      <p:ext uri="{BB962C8B-B14F-4D97-AF65-F5344CB8AC3E}">
        <p14:creationId xmlns:p14="http://schemas.microsoft.com/office/powerpoint/2010/main" val="234815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Assumptions of the </a:t>
            </a:r>
            <a:r>
              <a:rPr lang="en-GB" i="1" dirty="0"/>
              <a:t>t</a:t>
            </a:r>
            <a:r>
              <a:rPr lang="en-GB" dirty="0"/>
              <a:t>-test</a:t>
            </a:r>
          </a:p>
        </p:txBody>
      </p:sp>
      <p:sp>
        <p:nvSpPr>
          <p:cNvPr id="3" name="Content Placeholder 2"/>
          <p:cNvSpPr>
            <a:spLocks noGrp="1"/>
          </p:cNvSpPr>
          <p:nvPr>
            <p:ph idx="1"/>
          </p:nvPr>
        </p:nvSpPr>
        <p:spPr>
          <a:xfrm>
            <a:off x="838200" y="1548752"/>
            <a:ext cx="10515600" cy="4351338"/>
          </a:xfrm>
        </p:spPr>
        <p:txBody>
          <a:bodyPr>
            <a:noAutofit/>
          </a:bodyPr>
          <a:lstStyle/>
          <a:p>
            <a:pPr>
              <a:lnSpc>
                <a:spcPct val="100000"/>
              </a:lnSpc>
            </a:pPr>
            <a:r>
              <a:rPr lang="en-GB" sz="2400" dirty="0"/>
              <a:t>Both the independent </a:t>
            </a:r>
            <a:r>
              <a:rPr lang="en-GB" sz="2400" i="1" dirty="0"/>
              <a:t>t</a:t>
            </a:r>
            <a:r>
              <a:rPr lang="en-GB" sz="2400" dirty="0"/>
              <a:t>-test and the dependent </a:t>
            </a:r>
            <a:r>
              <a:rPr lang="en-GB" sz="2400" i="1" dirty="0"/>
              <a:t>t</a:t>
            </a:r>
            <a:r>
              <a:rPr lang="en-GB" sz="2400" dirty="0"/>
              <a:t>-test are </a:t>
            </a:r>
            <a:r>
              <a:rPr lang="en-GB" sz="2400" i="1" dirty="0"/>
              <a:t>parametric tests</a:t>
            </a:r>
            <a:r>
              <a:rPr lang="en-GB" sz="2400" dirty="0"/>
              <a:t> based on the normal distribution</a:t>
            </a:r>
          </a:p>
          <a:p>
            <a:pPr>
              <a:lnSpc>
                <a:spcPct val="100000"/>
              </a:lnSpc>
            </a:pPr>
            <a:r>
              <a:rPr lang="en-GB" sz="2400" dirty="0"/>
              <a:t>Both are instances of the General Linear Model (GLM), like correlation and linear regression</a:t>
            </a:r>
          </a:p>
          <a:p>
            <a:pPr>
              <a:lnSpc>
                <a:spcPct val="100000"/>
              </a:lnSpc>
            </a:pPr>
            <a:r>
              <a:rPr lang="en-GB" sz="2400" dirty="0"/>
              <a:t>Assumptions:</a:t>
            </a:r>
          </a:p>
          <a:p>
            <a:pPr lvl="1"/>
            <a:endParaRPr lang="en-GB" dirty="0"/>
          </a:p>
          <a:p>
            <a:endParaRPr lang="en-GB" sz="2400" dirty="0"/>
          </a:p>
        </p:txBody>
      </p:sp>
    </p:spTree>
    <p:extLst>
      <p:ext uri="{BB962C8B-B14F-4D97-AF65-F5344CB8AC3E}">
        <p14:creationId xmlns:p14="http://schemas.microsoft.com/office/powerpoint/2010/main" val="424124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dirty="0"/>
              <a:t>GLM Assumptions (a reminder…)</a:t>
            </a:r>
          </a:p>
        </p:txBody>
      </p:sp>
      <p:sp>
        <p:nvSpPr>
          <p:cNvPr id="287747" name="Rectangle 3"/>
          <p:cNvSpPr>
            <a:spLocks noGrp="1" noChangeArrowheads="1"/>
          </p:cNvSpPr>
          <p:nvPr>
            <p:ph idx="1"/>
          </p:nvPr>
        </p:nvSpPr>
        <p:spPr>
          <a:xfrm>
            <a:off x="838200" y="1690688"/>
            <a:ext cx="10515600" cy="4351338"/>
          </a:xfrm>
        </p:spPr>
        <p:txBody>
          <a:bodyPr>
            <a:normAutofit/>
          </a:bodyPr>
          <a:lstStyle/>
          <a:p>
            <a:pPr>
              <a:lnSpc>
                <a:spcPct val="90000"/>
              </a:lnSpc>
            </a:pPr>
            <a:r>
              <a:rPr lang="en-US" sz="2800" dirty="0"/>
              <a:t>Additivity and linearity</a:t>
            </a:r>
          </a:p>
          <a:p>
            <a:r>
              <a:rPr lang="en-US" dirty="0"/>
              <a:t>Homoscedasticity (homogeneity of variance): For each value of the predictors the variance of the error term should be constant</a:t>
            </a:r>
          </a:p>
          <a:p>
            <a:r>
              <a:rPr lang="en-US" dirty="0"/>
              <a:t>Independent </a:t>
            </a:r>
            <a:r>
              <a:rPr lang="en-GB" dirty="0"/>
              <a:t>residuals</a:t>
            </a:r>
            <a:r>
              <a:rPr lang="en-US" dirty="0"/>
              <a:t>: the error terms should be unrelated.</a:t>
            </a:r>
          </a:p>
          <a:p>
            <a:pPr>
              <a:lnSpc>
                <a:spcPct val="90000"/>
              </a:lnSpc>
            </a:pPr>
            <a:r>
              <a:rPr lang="en-US" sz="2800" dirty="0"/>
              <a:t>Normally-distributed residuals</a:t>
            </a:r>
          </a:p>
        </p:txBody>
      </p:sp>
    </p:spTree>
    <p:extLst>
      <p:ext uri="{BB962C8B-B14F-4D97-AF65-F5344CB8AC3E}">
        <p14:creationId xmlns:p14="http://schemas.microsoft.com/office/powerpoint/2010/main" val="82595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7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DE8A6-30CE-BA6E-DB69-EB1134B82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207E46-E1D0-C2C1-423E-7DC051733A78}"/>
              </a:ext>
            </a:extLst>
          </p:cNvPr>
          <p:cNvSpPr>
            <a:spLocks noGrp="1"/>
          </p:cNvSpPr>
          <p:nvPr>
            <p:ph type="title"/>
          </p:nvPr>
        </p:nvSpPr>
        <p:spPr>
          <a:xfrm>
            <a:off x="838200" y="0"/>
            <a:ext cx="10515600" cy="1325563"/>
          </a:xfrm>
        </p:spPr>
        <p:txBody>
          <a:bodyPr/>
          <a:lstStyle/>
          <a:p>
            <a:r>
              <a:rPr lang="en-GB" dirty="0"/>
              <a:t>GLM Assumptions applied to the </a:t>
            </a:r>
            <a:r>
              <a:rPr lang="en-GB" i="1" dirty="0"/>
              <a:t>t</a:t>
            </a:r>
            <a:r>
              <a:rPr lang="en-GB" dirty="0"/>
              <a:t>-test</a:t>
            </a:r>
          </a:p>
        </p:txBody>
      </p:sp>
      <p:sp>
        <p:nvSpPr>
          <p:cNvPr id="3" name="Content Placeholder 2">
            <a:extLst>
              <a:ext uri="{FF2B5EF4-FFF2-40B4-BE49-F238E27FC236}">
                <a16:creationId xmlns:a16="http://schemas.microsoft.com/office/drawing/2014/main" id="{8DC902E5-C945-7217-C827-839511DC939D}"/>
              </a:ext>
            </a:extLst>
          </p:cNvPr>
          <p:cNvSpPr>
            <a:spLocks noGrp="1"/>
          </p:cNvSpPr>
          <p:nvPr>
            <p:ph idx="1"/>
          </p:nvPr>
        </p:nvSpPr>
        <p:spPr>
          <a:xfrm>
            <a:off x="449451" y="1183627"/>
            <a:ext cx="11422251" cy="4860712"/>
          </a:xfrm>
        </p:spPr>
        <p:txBody>
          <a:bodyPr>
            <a:noAutofit/>
          </a:bodyPr>
          <a:lstStyle/>
          <a:p>
            <a:r>
              <a:rPr lang="en-US" sz="2400" dirty="0"/>
              <a:t>Additivity and linearity – only one predictor (IV group) and 2 levels so these are always satisfied </a:t>
            </a:r>
          </a:p>
          <a:p>
            <a:r>
              <a:rPr lang="en-US" sz="2400" dirty="0"/>
              <a:t>Homogeneity of variance </a:t>
            </a:r>
          </a:p>
          <a:p>
            <a:pPr lvl="1"/>
            <a:r>
              <a:rPr lang="en-US" sz="2000" dirty="0"/>
              <a:t>Independent samples t-test: Variance at each level of the IV should be equal</a:t>
            </a:r>
          </a:p>
          <a:p>
            <a:pPr lvl="1"/>
            <a:r>
              <a:rPr lang="en-US" sz="2000" dirty="0"/>
              <a:t>Dependent samples t-test: always satisfied because we are concerned with variance of the difference between IV levels</a:t>
            </a:r>
          </a:p>
          <a:p>
            <a:r>
              <a:rPr lang="en-US" sz="2400" dirty="0"/>
              <a:t>Independent </a:t>
            </a:r>
            <a:r>
              <a:rPr lang="en-GB" sz="2400" dirty="0"/>
              <a:t>residuals</a:t>
            </a:r>
          </a:p>
          <a:p>
            <a:pPr lvl="1"/>
            <a:r>
              <a:rPr lang="en-US" sz="2000" dirty="0"/>
              <a:t>Independent samples t-test: </a:t>
            </a:r>
            <a:r>
              <a:rPr lang="en-GB" sz="2000" dirty="0"/>
              <a:t>distances of each point from its group mean are unrelated</a:t>
            </a:r>
            <a:endParaRPr lang="en-US" sz="2000" dirty="0"/>
          </a:p>
          <a:p>
            <a:pPr lvl="1"/>
            <a:r>
              <a:rPr lang="en-US" sz="2000" dirty="0"/>
              <a:t>Dependent samples t-test: </a:t>
            </a:r>
            <a:r>
              <a:rPr lang="en-GB" sz="2000" i="1" dirty="0"/>
              <a:t>differences</a:t>
            </a:r>
            <a:r>
              <a:rPr lang="en-GB" sz="2000" dirty="0"/>
              <a:t> between levels for each point are unrelated</a:t>
            </a:r>
          </a:p>
          <a:p>
            <a:r>
              <a:rPr lang="en-GB" sz="2400" dirty="0"/>
              <a:t>Normally distributed residuals </a:t>
            </a:r>
          </a:p>
          <a:p>
            <a:pPr lvl="1">
              <a:lnSpc>
                <a:spcPct val="100000"/>
              </a:lnSpc>
            </a:pPr>
            <a:r>
              <a:rPr lang="en-GB" sz="2000" dirty="0"/>
              <a:t>Independent samples: distances of each point from its group mean are normally distributed</a:t>
            </a:r>
          </a:p>
          <a:p>
            <a:pPr lvl="1">
              <a:lnSpc>
                <a:spcPct val="100000"/>
              </a:lnSpc>
            </a:pPr>
            <a:r>
              <a:rPr lang="en-GB" sz="2000" dirty="0"/>
              <a:t>Dependent samples: </a:t>
            </a:r>
            <a:r>
              <a:rPr lang="en-GB" sz="2000" i="1" dirty="0"/>
              <a:t>differences</a:t>
            </a:r>
            <a:r>
              <a:rPr lang="en-GB" sz="2000" dirty="0"/>
              <a:t> between levels for each point are normally distributed</a:t>
            </a:r>
          </a:p>
          <a:p>
            <a:endParaRPr lang="en-GB" sz="2400" dirty="0"/>
          </a:p>
        </p:txBody>
      </p:sp>
    </p:spTree>
    <p:extLst>
      <p:ext uri="{BB962C8B-B14F-4D97-AF65-F5344CB8AC3E}">
        <p14:creationId xmlns:p14="http://schemas.microsoft.com/office/powerpoint/2010/main" val="31317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396F7-A85F-C804-370D-05A85D06E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5DE49-BD37-9BB3-B6AE-5A243324F887}"/>
              </a:ext>
            </a:extLst>
          </p:cNvPr>
          <p:cNvSpPr>
            <a:spLocks noGrp="1"/>
          </p:cNvSpPr>
          <p:nvPr>
            <p:ph type="title"/>
          </p:nvPr>
        </p:nvSpPr>
        <p:spPr/>
        <p:txBody>
          <a:bodyPr/>
          <a:lstStyle/>
          <a:p>
            <a:r>
              <a:rPr lang="en-GB" dirty="0"/>
              <a:t>Assumptions</a:t>
            </a:r>
          </a:p>
        </p:txBody>
      </p:sp>
      <p:sp>
        <p:nvSpPr>
          <p:cNvPr id="3" name="Content Placeholder 2">
            <a:extLst>
              <a:ext uri="{FF2B5EF4-FFF2-40B4-BE49-F238E27FC236}">
                <a16:creationId xmlns:a16="http://schemas.microsoft.com/office/drawing/2014/main" id="{8A64F4E1-E2C9-6C58-E47D-FD40BBDDA832}"/>
              </a:ext>
            </a:extLst>
          </p:cNvPr>
          <p:cNvSpPr>
            <a:spLocks noGrp="1"/>
          </p:cNvSpPr>
          <p:nvPr>
            <p:ph idx="1"/>
          </p:nvPr>
        </p:nvSpPr>
        <p:spPr>
          <a:xfrm>
            <a:off x="838200" y="1548752"/>
            <a:ext cx="10515600" cy="4351338"/>
          </a:xfrm>
        </p:spPr>
        <p:txBody>
          <a:bodyPr>
            <a:noAutofit/>
          </a:bodyPr>
          <a:lstStyle/>
          <a:p>
            <a:pPr>
              <a:lnSpc>
                <a:spcPct val="100000"/>
              </a:lnSpc>
            </a:pPr>
            <a:r>
              <a:rPr lang="en-GB" dirty="0"/>
              <a:t>The outcome is measured at least at the interval level. For ordinal data, see “Non-parametric tests”</a:t>
            </a:r>
          </a:p>
          <a:p>
            <a:pPr lvl="1"/>
            <a:endParaRPr lang="en-GB" dirty="0"/>
          </a:p>
          <a:p>
            <a:endParaRPr lang="en-GB" sz="2400" dirty="0"/>
          </a:p>
        </p:txBody>
      </p:sp>
    </p:spTree>
    <p:extLst>
      <p:ext uri="{BB962C8B-B14F-4D97-AF65-F5344CB8AC3E}">
        <p14:creationId xmlns:p14="http://schemas.microsoft.com/office/powerpoint/2010/main" val="373464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Non-Parametric Tests</a:t>
            </a:r>
          </a:p>
        </p:txBody>
      </p:sp>
      <p:sp>
        <p:nvSpPr>
          <p:cNvPr id="3" name="Content Placeholder 2"/>
          <p:cNvSpPr>
            <a:spLocks noGrp="1"/>
          </p:cNvSpPr>
          <p:nvPr>
            <p:ph idx="1"/>
          </p:nvPr>
        </p:nvSpPr>
        <p:spPr>
          <a:xfrm>
            <a:off x="838200" y="1586474"/>
            <a:ext cx="10515600" cy="4351338"/>
          </a:xfrm>
        </p:spPr>
        <p:txBody>
          <a:bodyPr>
            <a:normAutofit/>
          </a:bodyPr>
          <a:lstStyle/>
          <a:p>
            <a:r>
              <a:rPr lang="en-GB" sz="3500" dirty="0"/>
              <a:t>Mann-Whitney/Wilcoxon rank-sum Test</a:t>
            </a:r>
          </a:p>
          <a:p>
            <a:pPr lvl="1"/>
            <a:r>
              <a:rPr lang="en-GB" sz="3500" dirty="0"/>
              <a:t>Compares two independent groups of scores</a:t>
            </a:r>
          </a:p>
          <a:p>
            <a:r>
              <a:rPr lang="en-GB" sz="3500" dirty="0"/>
              <a:t>Wilcoxon signed rank Test</a:t>
            </a:r>
          </a:p>
          <a:p>
            <a:pPr lvl="1"/>
            <a:r>
              <a:rPr lang="en-GB" sz="3500" dirty="0"/>
              <a:t>Compares two dependent groups of scores</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29078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Ranking Data</a:t>
            </a:r>
            <a:endParaRPr lang="en-US" dirty="0"/>
          </a:p>
        </p:txBody>
      </p:sp>
      <p:sp>
        <p:nvSpPr>
          <p:cNvPr id="3" name="Content Placeholder 2"/>
          <p:cNvSpPr>
            <a:spLocks noGrp="1"/>
          </p:cNvSpPr>
          <p:nvPr>
            <p:ph idx="1"/>
          </p:nvPr>
        </p:nvSpPr>
        <p:spPr>
          <a:xfrm>
            <a:off x="838199" y="1535339"/>
            <a:ext cx="10700657" cy="4351338"/>
          </a:xfrm>
        </p:spPr>
        <p:txBody>
          <a:bodyPr>
            <a:normAutofit/>
          </a:bodyPr>
          <a:lstStyle/>
          <a:p>
            <a:r>
              <a:rPr lang="en-US" sz="3200" dirty="0"/>
              <a:t>Non-parametric tests work on the principle of ranking the data for each group: </a:t>
            </a:r>
          </a:p>
          <a:p>
            <a:pPr lvl="1"/>
            <a:r>
              <a:rPr lang="en-US" sz="3200" dirty="0"/>
              <a:t>Lowest score = a rank of 1, </a:t>
            </a:r>
          </a:p>
          <a:p>
            <a:pPr lvl="1"/>
            <a:r>
              <a:rPr lang="en-US" sz="3200" dirty="0"/>
              <a:t>Next highest score = a rank of 2, and so on. </a:t>
            </a:r>
          </a:p>
          <a:p>
            <a:pPr lvl="1"/>
            <a:r>
              <a:rPr lang="en-GB" sz="3200" dirty="0"/>
              <a:t>Tied ranks are given the same rank</a:t>
            </a:r>
          </a:p>
          <a:p>
            <a:pPr lvl="1"/>
            <a:endParaRPr lang="en-US" sz="3200" dirty="0"/>
          </a:p>
          <a:p>
            <a:r>
              <a:rPr lang="en-US" sz="3200" dirty="0"/>
              <a:t>The analysis is carried out on the ranks rather than the actual data.</a:t>
            </a:r>
          </a:p>
          <a:p>
            <a:endParaRPr lang="en-US" dirty="0"/>
          </a:p>
        </p:txBody>
      </p:sp>
    </p:spTree>
    <p:extLst>
      <p:ext uri="{BB962C8B-B14F-4D97-AF65-F5344CB8AC3E}">
        <p14:creationId xmlns:p14="http://schemas.microsoft.com/office/powerpoint/2010/main" val="341012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Effect size</a:t>
            </a:r>
            <a:endParaRPr lang="en-US" dirty="0"/>
          </a:p>
        </p:txBody>
      </p:sp>
      <p:sp>
        <p:nvSpPr>
          <p:cNvPr id="4" name="Content Placeholder 3">
            <a:extLst>
              <a:ext uri="{FF2B5EF4-FFF2-40B4-BE49-F238E27FC236}">
                <a16:creationId xmlns:a16="http://schemas.microsoft.com/office/drawing/2014/main" id="{94DEA5E4-E11B-5C83-2C31-677E182AF6F1}"/>
              </a:ext>
            </a:extLst>
          </p:cNvPr>
          <p:cNvSpPr>
            <a:spLocks noGrp="1"/>
          </p:cNvSpPr>
          <p:nvPr>
            <p:ph idx="1"/>
          </p:nvPr>
        </p:nvSpPr>
        <p:spPr/>
        <p:txBody>
          <a:bodyPr/>
          <a:lstStyle/>
          <a:p>
            <a:r>
              <a:rPr lang="en-US" dirty="0"/>
              <a:t>The “strength” of an effect</a:t>
            </a:r>
          </a:p>
          <a:p>
            <a:pPr lvl="1"/>
            <a:r>
              <a:rPr lang="en-US" dirty="0"/>
              <a:t>How different are two means?</a:t>
            </a:r>
          </a:p>
          <a:p>
            <a:pPr lvl="1"/>
            <a:r>
              <a:rPr lang="en-US" dirty="0"/>
              <a:t>How closely associated are two variables?</a:t>
            </a:r>
          </a:p>
          <a:p>
            <a:pPr lvl="1"/>
            <a:r>
              <a:rPr lang="en-US" dirty="0"/>
              <a:t>How much outcome variance do(es) the predictor(s) explain?</a:t>
            </a:r>
          </a:p>
          <a:p>
            <a:r>
              <a:rPr lang="en-US" dirty="0"/>
              <a:t>Not dependent on sample size</a:t>
            </a:r>
          </a:p>
          <a:p>
            <a:pPr lvl="1"/>
            <a:r>
              <a:rPr lang="en-US" dirty="0"/>
              <a:t>t-stat, F-stat, X</a:t>
            </a:r>
            <a:r>
              <a:rPr lang="en-US" baseline="30000" dirty="0"/>
              <a:t>2</a:t>
            </a:r>
            <a:r>
              <a:rPr lang="en-US" dirty="0"/>
              <a:t>, W, U are not effect sizes</a:t>
            </a:r>
          </a:p>
          <a:p>
            <a:pPr lvl="1"/>
            <a:r>
              <a:rPr lang="en-US" dirty="0"/>
              <a:t>Mean difference, covariance, (unstandardized) regression beta coefficients are </a:t>
            </a:r>
            <a:r>
              <a:rPr lang="en-US" b="1" i="1" dirty="0"/>
              <a:t>unstandardized</a:t>
            </a:r>
            <a:r>
              <a:rPr lang="en-US" i="1" dirty="0"/>
              <a:t> </a:t>
            </a:r>
            <a:r>
              <a:rPr lang="en-US" dirty="0"/>
              <a:t>effect size measures</a:t>
            </a:r>
          </a:p>
          <a:p>
            <a:pPr lvl="1"/>
            <a:r>
              <a:rPr lang="en-US" dirty="0"/>
              <a:t>Cohen d, r, 𝜌, r</a:t>
            </a:r>
            <a:r>
              <a:rPr lang="en-US" baseline="30000" dirty="0"/>
              <a:t>2</a:t>
            </a:r>
            <a:r>
              <a:rPr lang="en-US" dirty="0"/>
              <a:t>, η</a:t>
            </a:r>
            <a:r>
              <a:rPr lang="en-US" baseline="30000" dirty="0"/>
              <a:t>2</a:t>
            </a:r>
            <a:r>
              <a:rPr lang="en-US" dirty="0"/>
              <a:t>, Cohen </a:t>
            </a:r>
            <a:r>
              <a:rPr lang="en-US" i="1" dirty="0"/>
              <a:t>f, </a:t>
            </a:r>
            <a:r>
              <a:rPr lang="en-US" dirty="0"/>
              <a:t>Hedge’s</a:t>
            </a:r>
            <a:r>
              <a:rPr lang="en-US" i="1" dirty="0"/>
              <a:t> g, </a:t>
            </a:r>
            <a:r>
              <a:rPr lang="en-US" dirty="0"/>
              <a:t>Glass’s </a:t>
            </a:r>
            <a:r>
              <a:rPr lang="en-US" dirty="0" err="1"/>
              <a:t>Δ</a:t>
            </a:r>
            <a:r>
              <a:rPr lang="en-US" dirty="0"/>
              <a:t> are common </a:t>
            </a:r>
            <a:r>
              <a:rPr lang="en-US" b="1" i="1" dirty="0"/>
              <a:t>standardized</a:t>
            </a:r>
            <a:r>
              <a:rPr lang="en-US" dirty="0"/>
              <a:t> effect size measures</a:t>
            </a:r>
            <a:endParaRPr lang="en-US" i="1" dirty="0"/>
          </a:p>
        </p:txBody>
      </p:sp>
    </p:spTree>
    <p:extLst>
      <p:ext uri="{BB962C8B-B14F-4D97-AF65-F5344CB8AC3E}">
        <p14:creationId xmlns:p14="http://schemas.microsoft.com/office/powerpoint/2010/main" val="2804646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lowchart: Document 1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pPr algn="l"/>
            <a:r>
              <a:rPr lang="en-US" sz="3200" kern="1200">
                <a:solidFill>
                  <a:srgbClr val="FFFFFF"/>
                </a:solidFill>
                <a:latin typeface="+mj-lt"/>
                <a:ea typeface="+mj-ea"/>
                <a:cs typeface="+mj-cs"/>
              </a:rPr>
              <a:t>Effect sizes (Ferguson)</a:t>
            </a:r>
          </a:p>
        </p:txBody>
      </p:sp>
      <p:pic>
        <p:nvPicPr>
          <p:cNvPr id="7" name="Content Placeholder 6" descr="A close-up of a data&#10;&#10;Description automatically generated">
            <a:extLst>
              <a:ext uri="{FF2B5EF4-FFF2-40B4-BE49-F238E27FC236}">
                <a16:creationId xmlns:a16="http://schemas.microsoft.com/office/drawing/2014/main" id="{24B6CC59-0E28-DDD7-4805-CB90A59C1120}"/>
              </a:ext>
            </a:extLst>
          </p:cNvPr>
          <p:cNvPicPr>
            <a:picLocks noGrp="1" noChangeAspect="1"/>
          </p:cNvPicPr>
          <p:nvPr>
            <p:ph idx="1"/>
          </p:nvPr>
        </p:nvPicPr>
        <p:blipFill>
          <a:blip r:embed="rId2"/>
          <a:stretch>
            <a:fillRect/>
          </a:stretch>
        </p:blipFill>
        <p:spPr>
          <a:xfrm>
            <a:off x="494553" y="3314414"/>
            <a:ext cx="11059272" cy="2930708"/>
          </a:xfrm>
          <a:prstGeom prst="rect">
            <a:avLst/>
          </a:prstGeom>
        </p:spPr>
      </p:pic>
    </p:spTree>
    <p:extLst>
      <p:ext uri="{BB962C8B-B14F-4D97-AF65-F5344CB8AC3E}">
        <p14:creationId xmlns:p14="http://schemas.microsoft.com/office/powerpoint/2010/main" val="1164422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pPr algn="l"/>
            <a:r>
              <a:rPr lang="en-US" sz="3200" kern="1200">
                <a:solidFill>
                  <a:srgbClr val="FFFFFF"/>
                </a:solidFill>
                <a:latin typeface="+mj-lt"/>
                <a:ea typeface="+mj-ea"/>
                <a:cs typeface="+mj-cs"/>
              </a:rPr>
              <a:t>Effect sizes (Lakens)</a:t>
            </a:r>
          </a:p>
        </p:txBody>
      </p:sp>
      <p:pic>
        <p:nvPicPr>
          <p:cNvPr id="10" name="Content Placeholder 9" descr="A screenshot of a test&#10;&#10;Description automatically generated">
            <a:extLst>
              <a:ext uri="{FF2B5EF4-FFF2-40B4-BE49-F238E27FC236}">
                <a16:creationId xmlns:a16="http://schemas.microsoft.com/office/drawing/2014/main" id="{F69A4E60-CE9B-E33B-9B20-04C5C1702325}"/>
              </a:ext>
            </a:extLst>
          </p:cNvPr>
          <p:cNvPicPr>
            <a:picLocks noGrp="1" noChangeAspect="1"/>
          </p:cNvPicPr>
          <p:nvPr>
            <p:ph idx="1"/>
          </p:nvPr>
        </p:nvPicPr>
        <p:blipFill>
          <a:blip r:embed="rId2"/>
          <a:stretch>
            <a:fillRect/>
          </a:stretch>
        </p:blipFill>
        <p:spPr>
          <a:xfrm>
            <a:off x="4305993" y="171162"/>
            <a:ext cx="6330248" cy="6410379"/>
          </a:xfrm>
          <a:prstGeom prst="rect">
            <a:avLst/>
          </a:prstGeom>
        </p:spPr>
      </p:pic>
    </p:spTree>
    <p:extLst>
      <p:ext uri="{BB962C8B-B14F-4D97-AF65-F5344CB8AC3E}">
        <p14:creationId xmlns:p14="http://schemas.microsoft.com/office/powerpoint/2010/main" val="3120889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2913</TotalTime>
  <Words>871</Words>
  <Application>Microsoft Macintosh PowerPoint</Application>
  <PresentationFormat>Widescreen</PresentationFormat>
  <Paragraphs>94</Paragraphs>
  <Slides>15</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TimesNewRomanPSMT</vt:lpstr>
      <vt:lpstr>Office Theme</vt:lpstr>
      <vt:lpstr>Comparing Two Groups</vt:lpstr>
      <vt:lpstr>Aims</vt:lpstr>
      <vt:lpstr>Experiments</vt:lpstr>
      <vt:lpstr>T-test</vt:lpstr>
      <vt:lpstr>Rational for the t-test</vt:lpstr>
      <vt:lpstr>Rational for the t-test</vt:lpstr>
      <vt:lpstr>Assumptions of the t-test</vt:lpstr>
      <vt:lpstr>GLM Assumptions (a reminder…)</vt:lpstr>
      <vt:lpstr>GLM Assumptions applied to the t-test</vt:lpstr>
      <vt:lpstr>Assumptions</vt:lpstr>
      <vt:lpstr>Non-Parametric Tests</vt:lpstr>
      <vt:lpstr>Ranking Data</vt:lpstr>
      <vt:lpstr>Effect size</vt:lpstr>
      <vt:lpstr>Effect sizes (Ferguson)</vt:lpstr>
      <vt:lpstr>Effect sizes (Lakens)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119</cp:revision>
  <dcterms:created xsi:type="dcterms:W3CDTF">2021-01-14T20:20:19Z</dcterms:created>
  <dcterms:modified xsi:type="dcterms:W3CDTF">2025-10-21T02:01:56Z</dcterms:modified>
</cp:coreProperties>
</file>