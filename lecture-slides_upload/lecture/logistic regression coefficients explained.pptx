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1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624"/>
    <p:restoredTop sz="94672"/>
  </p:normalViewPr>
  <p:slideViewPr>
    <p:cSldViewPr snapToGrid="0">
      <p:cViewPr>
        <p:scale>
          <a:sx n="191" d="100"/>
          <a:sy n="191" d="100"/>
        </p:scale>
        <p:origin x="-1072" y="-6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E4E08-BE19-4840-84FE-EC87BFD404D1}" type="datetimeFigureOut">
              <a:rPr lang="en-US" smtClean="0"/>
              <a:t>3/12/23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AE4CC-80F0-E746-9F8D-7E927782E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44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AE4CC-80F0-E746-9F8D-7E927782EE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8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247E0-D807-E04D-A919-346B7754DEC4}" type="datetimeFigureOut">
              <a:rPr lang="en-US" smtClean="0"/>
              <a:t>3/12/23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99AC-8BBA-2C4D-8612-4F0978E08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247E0-D807-E04D-A919-346B7754DEC4}" type="datetimeFigureOut">
              <a:rPr lang="en-US" smtClean="0"/>
              <a:t>3/12/23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99AC-8BBA-2C4D-8612-4F0978E08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4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247E0-D807-E04D-A919-346B7754DEC4}" type="datetimeFigureOut">
              <a:rPr lang="en-US" smtClean="0"/>
              <a:t>3/12/23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99AC-8BBA-2C4D-8612-4F0978E08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59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247E0-D807-E04D-A919-346B7754DEC4}" type="datetimeFigureOut">
              <a:rPr lang="en-US" smtClean="0"/>
              <a:t>3/12/23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99AC-8BBA-2C4D-8612-4F0978E08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9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247E0-D807-E04D-A919-346B7754DEC4}" type="datetimeFigureOut">
              <a:rPr lang="en-US" smtClean="0"/>
              <a:t>3/12/23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99AC-8BBA-2C4D-8612-4F0978E08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29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247E0-D807-E04D-A919-346B7754DEC4}" type="datetimeFigureOut">
              <a:rPr lang="en-US" smtClean="0"/>
              <a:t>3/12/23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99AC-8BBA-2C4D-8612-4F0978E08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0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247E0-D807-E04D-A919-346B7754DEC4}" type="datetimeFigureOut">
              <a:rPr lang="en-US" smtClean="0"/>
              <a:t>3/12/23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99AC-8BBA-2C4D-8612-4F0978E08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42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247E0-D807-E04D-A919-346B7754DEC4}" type="datetimeFigureOut">
              <a:rPr lang="en-US" smtClean="0"/>
              <a:t>3/12/23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99AC-8BBA-2C4D-8612-4F0978E08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4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247E0-D807-E04D-A919-346B7754DEC4}" type="datetimeFigureOut">
              <a:rPr lang="en-US" smtClean="0"/>
              <a:t>3/12/23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99AC-8BBA-2C4D-8612-4F0978E08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3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247E0-D807-E04D-A919-346B7754DEC4}" type="datetimeFigureOut">
              <a:rPr lang="en-US" smtClean="0"/>
              <a:t>3/12/23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99AC-8BBA-2C4D-8612-4F0978E08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3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247E0-D807-E04D-A919-346B7754DEC4}" type="datetimeFigureOut">
              <a:rPr lang="en-US" smtClean="0"/>
              <a:t>3/12/23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99AC-8BBA-2C4D-8612-4F0978E08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247E0-D807-E04D-A919-346B7754DEC4}" type="datetimeFigureOut">
              <a:rPr lang="en-US" smtClean="0"/>
              <a:t>3/12/23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199AC-8BBA-2C4D-8612-4F0978E08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6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hyperlink" Target="http://creativecommons.org/licenses/by-sa/4.0/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hyperlink" Target="https://workforce.rice.edu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hyperlink" Target="mailto:foswald@rice.edu" TargetMode="External"/><Relationship Id="rId5" Type="http://schemas.openxmlformats.org/officeDocument/2006/relationships/image" Target="../media/image3.jpeg"/><Relationship Id="rId15" Type="http://schemas.openxmlformats.org/officeDocument/2006/relationships/image" Target="../media/image9.pn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hyperlink" Target="https://tinyurl.com/BYSA4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icture 203">
            <a:extLst>
              <a:ext uri="{FF2B5EF4-FFF2-40B4-BE49-F238E27FC236}">
                <a16:creationId xmlns:a16="http://schemas.microsoft.com/office/drawing/2014/main" id="{CBAC0A8E-075C-7A23-E3C3-FC55A5C66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780" y="2949054"/>
            <a:ext cx="3696219" cy="2985408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CFD1CB02-A679-622C-A991-6C1B02106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3000" y="5971100"/>
            <a:ext cx="3731970" cy="3014283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3FAB59D2-A40B-5196-F377-FC02DCB27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887" y="-455"/>
            <a:ext cx="3660680" cy="2956703"/>
          </a:xfrm>
          <a:prstGeom prst="rect">
            <a:avLst/>
          </a:prstGeom>
        </p:spPr>
      </p:pic>
      <p:sp>
        <p:nvSpPr>
          <p:cNvPr id="23" name="Left Arrow 22">
            <a:extLst>
              <a:ext uri="{FF2B5EF4-FFF2-40B4-BE49-F238E27FC236}">
                <a16:creationId xmlns:a16="http://schemas.microsoft.com/office/drawing/2014/main" id="{D4868AFA-E1ED-C120-E472-A483F3B235CE}"/>
              </a:ext>
            </a:extLst>
          </p:cNvPr>
          <p:cNvSpPr/>
          <p:nvPr/>
        </p:nvSpPr>
        <p:spPr>
          <a:xfrm rot="10800000">
            <a:off x="2809269" y="1453303"/>
            <a:ext cx="343565" cy="26060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89C687-3320-C31A-EBFC-E004311F0791}"/>
              </a:ext>
            </a:extLst>
          </p:cNvPr>
          <p:cNvSpPr/>
          <p:nvPr/>
        </p:nvSpPr>
        <p:spPr>
          <a:xfrm>
            <a:off x="387743" y="62573"/>
            <a:ext cx="3283371" cy="4710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accent5">
                    <a:lumMod val="75000"/>
                  </a:schemeClr>
                </a:solidFill>
              </a:rPr>
              <a:t>Logistic Regression Coefficients Explained</a:t>
            </a:r>
            <a:br>
              <a:rPr lang="en-US" sz="1350" b="1" dirty="0">
                <a:solidFill>
                  <a:schemeClr val="tx1"/>
                </a:solidFill>
              </a:rPr>
            </a:br>
            <a:r>
              <a:rPr lang="en-US" sz="1350" b="1" dirty="0">
                <a:solidFill>
                  <a:schemeClr val="tx1"/>
                </a:solidFill>
              </a:rPr>
              <a:t>Hours of Study Predicting Pass/Fail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35612B3-4F6D-666C-8102-FAF9148F8228}"/>
                  </a:ext>
                </a:extLst>
              </p:cNvPr>
              <p:cNvSpPr/>
              <p:nvPr/>
            </p:nvSpPr>
            <p:spPr>
              <a:xfrm>
                <a:off x="3214155" y="1304559"/>
                <a:ext cx="1800404" cy="55809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50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5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=−6.3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5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1.86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35612B3-4F6D-666C-8102-FAF9148F82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155" y="1304559"/>
                <a:ext cx="1800404" cy="5580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06A867B8-637A-69A8-58A9-2C8DA25094FF}"/>
              </a:ext>
            </a:extLst>
          </p:cNvPr>
          <p:cNvSpPr/>
          <p:nvPr/>
        </p:nvSpPr>
        <p:spPr>
          <a:xfrm>
            <a:off x="3069850" y="1076916"/>
            <a:ext cx="526111" cy="1934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dirty="0">
                <a:solidFill>
                  <a:schemeClr val="tx1"/>
                </a:solidFill>
              </a:rPr>
              <a:t>log odds</a:t>
            </a:r>
          </a:p>
        </p:txBody>
      </p:sp>
      <p:sp>
        <p:nvSpPr>
          <p:cNvPr id="42" name="Left Arrow 41">
            <a:extLst>
              <a:ext uri="{FF2B5EF4-FFF2-40B4-BE49-F238E27FC236}">
                <a16:creationId xmlns:a16="http://schemas.microsoft.com/office/drawing/2014/main" id="{3FA487F3-2287-6251-0C37-BED09A287384}"/>
              </a:ext>
            </a:extLst>
          </p:cNvPr>
          <p:cNvSpPr/>
          <p:nvPr/>
        </p:nvSpPr>
        <p:spPr>
          <a:xfrm rot="16200000">
            <a:off x="3277691" y="1261074"/>
            <a:ext cx="148745" cy="137504"/>
          </a:xfrm>
          <a:prstGeom prst="leftArrow">
            <a:avLst/>
          </a:prstGeom>
          <a:solidFill>
            <a:srgbClr val="E3F1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E5BA60-2838-16A5-0C69-F50615728D49}"/>
              </a:ext>
            </a:extLst>
          </p:cNvPr>
          <p:cNvCxnSpPr>
            <a:cxnSpLocks/>
          </p:cNvCxnSpPr>
          <p:nvPr/>
        </p:nvCxnSpPr>
        <p:spPr>
          <a:xfrm>
            <a:off x="6459850" y="674362"/>
            <a:ext cx="0" cy="1768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0CF1570-7253-436C-4C93-E7DB16FF57BC}"/>
              </a:ext>
            </a:extLst>
          </p:cNvPr>
          <p:cNvCxnSpPr>
            <a:cxnSpLocks/>
          </p:cNvCxnSpPr>
          <p:nvPr/>
        </p:nvCxnSpPr>
        <p:spPr>
          <a:xfrm>
            <a:off x="7402815" y="866466"/>
            <a:ext cx="0" cy="1576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7D6E1B2-1A5C-161D-5CC7-6917F9D24286}"/>
              </a:ext>
            </a:extLst>
          </p:cNvPr>
          <p:cNvSpPr/>
          <p:nvPr/>
        </p:nvSpPr>
        <p:spPr>
          <a:xfrm>
            <a:off x="5873649" y="414298"/>
            <a:ext cx="1885169" cy="619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3838" algn="l"/>
              </a:tabLst>
            </a:pPr>
            <a:r>
              <a:rPr lang="en-US" sz="800" dirty="0">
                <a:solidFill>
                  <a:schemeClr val="tx1"/>
                </a:solidFill>
              </a:rPr>
              <a:t>A 1-hour change in x </a:t>
            </a:r>
          </a:p>
          <a:p>
            <a:pPr algn="ctr">
              <a:tabLst>
                <a:tab pos="223838" algn="l"/>
              </a:tabLst>
            </a:pPr>
            <a:r>
              <a:rPr lang="en-US" sz="800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sz="800" dirty="0">
                <a:solidFill>
                  <a:schemeClr val="tx1"/>
                </a:solidFill>
              </a:rPr>
              <a:t> </a:t>
            </a:r>
            <a:r>
              <a:rPr lang="en-US" sz="800" b="1" dirty="0">
                <a:solidFill>
                  <a:schemeClr val="accent6">
                    <a:lumMod val="50000"/>
                  </a:schemeClr>
                </a:solidFill>
              </a:rPr>
              <a:t>same</a:t>
            </a:r>
            <a:r>
              <a:rPr lang="en-US" sz="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800" b="1" u="sng" dirty="0">
                <a:solidFill>
                  <a:schemeClr val="accent6">
                    <a:lumMod val="50000"/>
                  </a:schemeClr>
                </a:solidFill>
              </a:rPr>
              <a:t>difference</a:t>
            </a:r>
            <a:r>
              <a:rPr lang="en-US" sz="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800" dirty="0">
                <a:solidFill>
                  <a:schemeClr val="tx1"/>
                </a:solidFill>
              </a:rPr>
              <a:t>in log odds (LO):</a:t>
            </a:r>
          </a:p>
          <a:p>
            <a:pPr>
              <a:tabLst>
                <a:tab pos="223838" algn="l"/>
              </a:tabLst>
            </a:pPr>
            <a:r>
              <a:rPr lang="en-US" sz="800" dirty="0">
                <a:solidFill>
                  <a:schemeClr val="tx1"/>
                </a:solidFill>
              </a:rPr>
              <a:t>	4.5 - 3.5hrs = 1.99 - .13 =  1.86 LO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</a:rPr>
              <a:t>	3.5 - 2.5hrs = .13 - (-1.73) = 1.86 LO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AF49E2B-4859-648F-CB11-19760E79B7D0}"/>
              </a:ext>
            </a:extLst>
          </p:cNvPr>
          <p:cNvCxnSpPr>
            <a:cxnSpLocks/>
          </p:cNvCxnSpPr>
          <p:nvPr/>
        </p:nvCxnSpPr>
        <p:spPr>
          <a:xfrm>
            <a:off x="8347397" y="429288"/>
            <a:ext cx="0" cy="2028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95507AE-623A-D889-F418-DE1C2B345F8A}"/>
              </a:ext>
            </a:extLst>
          </p:cNvPr>
          <p:cNvCxnSpPr>
            <a:cxnSpLocks/>
          </p:cNvCxnSpPr>
          <p:nvPr/>
        </p:nvCxnSpPr>
        <p:spPr>
          <a:xfrm>
            <a:off x="6441643" y="6859270"/>
            <a:ext cx="0" cy="1580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27479D0-AFD3-B38A-B631-95C65369A195}"/>
              </a:ext>
            </a:extLst>
          </p:cNvPr>
          <p:cNvCxnSpPr>
            <a:cxnSpLocks/>
          </p:cNvCxnSpPr>
          <p:nvPr/>
        </p:nvCxnSpPr>
        <p:spPr>
          <a:xfrm flipH="1">
            <a:off x="7392963" y="6402411"/>
            <a:ext cx="7837" cy="205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0B07C18-74C8-BE92-27BE-5A8F82DEFD69}"/>
              </a:ext>
            </a:extLst>
          </p:cNvPr>
          <p:cNvCxnSpPr>
            <a:cxnSpLocks/>
          </p:cNvCxnSpPr>
          <p:nvPr/>
        </p:nvCxnSpPr>
        <p:spPr>
          <a:xfrm flipH="1">
            <a:off x="8351055" y="6402411"/>
            <a:ext cx="7512" cy="205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16E0F7CE-3DFE-1D66-E82B-33EE42F4E2B6}"/>
              </a:ext>
            </a:extLst>
          </p:cNvPr>
          <p:cNvSpPr/>
          <p:nvPr/>
        </p:nvSpPr>
        <p:spPr>
          <a:xfrm>
            <a:off x="5809812" y="6389623"/>
            <a:ext cx="1557751" cy="7081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 1-hour change in x 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sz="800" dirty="0">
                <a:solidFill>
                  <a:schemeClr val="tx1"/>
                </a:solidFill>
              </a:rPr>
              <a:t> </a:t>
            </a:r>
            <a:r>
              <a:rPr lang="en-US" sz="800" b="1" dirty="0">
                <a:solidFill>
                  <a:srgbClr val="FF0000"/>
                </a:solidFill>
              </a:rPr>
              <a:t>logistic-curve (nonlinear) change </a:t>
            </a:r>
            <a:r>
              <a:rPr lang="en-US" sz="800" dirty="0">
                <a:solidFill>
                  <a:schemeClr val="tx1"/>
                </a:solidFill>
              </a:rPr>
              <a:t>in probability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</a:rPr>
              <a:t>4.5 - 3.5hrs </a:t>
            </a:r>
            <a:r>
              <a:rPr lang="en-US" sz="800" dirty="0">
                <a:solidFill>
                  <a:schemeClr val="tx1"/>
                </a:solidFill>
                <a:sym typeface="Wingdings" pitchFamily="2" charset="2"/>
              </a:rPr>
              <a:t> .881 - .533 = .347</a:t>
            </a:r>
            <a:endParaRPr lang="en-US" sz="800" dirty="0">
              <a:solidFill>
                <a:schemeClr val="tx1"/>
              </a:solidFill>
            </a:endParaRP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3.5 - 2.5hrs </a:t>
            </a:r>
            <a:r>
              <a:rPr lang="en-US" sz="800">
                <a:solidFill>
                  <a:schemeClr val="tx1"/>
                </a:solidFill>
                <a:sym typeface="Wingdings" pitchFamily="2" charset="2"/>
              </a:rPr>
              <a:t> .533 </a:t>
            </a:r>
            <a:r>
              <a:rPr lang="en-US" sz="800" dirty="0">
                <a:solidFill>
                  <a:schemeClr val="tx1"/>
                </a:solidFill>
                <a:sym typeface="Wingdings" pitchFamily="2" charset="2"/>
              </a:rPr>
              <a:t>- .150 </a:t>
            </a:r>
            <a:r>
              <a:rPr lang="en-US" sz="800">
                <a:solidFill>
                  <a:schemeClr val="tx1"/>
                </a:solidFill>
                <a:sym typeface="Wingdings" pitchFamily="2" charset="2"/>
              </a:rPr>
              <a:t>= .383</a:t>
            </a:r>
            <a:endParaRPr lang="en-US" sz="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F8EB8626-64AC-D41E-5219-F20AA8D86E82}"/>
                  </a:ext>
                </a:extLst>
              </p:cNvPr>
              <p:cNvSpPr/>
              <p:nvPr/>
            </p:nvSpPr>
            <p:spPr>
              <a:xfrm>
                <a:off x="3199284" y="7124083"/>
                <a:ext cx="1760141" cy="6085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35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−(−</m:t>
                            </m:r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6.3</m:t>
                            </m:r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 +</m:t>
                            </m:r>
                            <m:r>
                              <a:rPr lang="en-US" sz="14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1.86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1350" dirty="0"/>
              </a:p>
            </p:txBody>
          </p:sp>
        </mc:Choice>
        <mc:Fallback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F8EB8626-64AC-D41E-5219-F20AA8D86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284" y="7124083"/>
                <a:ext cx="1760141" cy="6085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Up-Down Arrow 91">
            <a:extLst>
              <a:ext uri="{FF2B5EF4-FFF2-40B4-BE49-F238E27FC236}">
                <a16:creationId xmlns:a16="http://schemas.microsoft.com/office/drawing/2014/main" id="{EFA9F71D-CFE7-4338-D3FE-98F9FE808992}"/>
              </a:ext>
            </a:extLst>
          </p:cNvPr>
          <p:cNvSpPr/>
          <p:nvPr/>
        </p:nvSpPr>
        <p:spPr>
          <a:xfrm>
            <a:off x="3994372" y="1997783"/>
            <a:ext cx="360091" cy="1905170"/>
          </a:xfrm>
          <a:prstGeom prst="up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3" name="Left Arrow 92">
            <a:extLst>
              <a:ext uri="{FF2B5EF4-FFF2-40B4-BE49-F238E27FC236}">
                <a16:creationId xmlns:a16="http://schemas.microsoft.com/office/drawing/2014/main" id="{7E993DBE-4B23-F3D9-D3A3-4A22B92D80CB}"/>
              </a:ext>
            </a:extLst>
          </p:cNvPr>
          <p:cNvSpPr/>
          <p:nvPr/>
        </p:nvSpPr>
        <p:spPr>
          <a:xfrm rot="10800000">
            <a:off x="5088668" y="1455520"/>
            <a:ext cx="343565" cy="26060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4" name="Left Arrow 93">
            <a:extLst>
              <a:ext uri="{FF2B5EF4-FFF2-40B4-BE49-F238E27FC236}">
                <a16:creationId xmlns:a16="http://schemas.microsoft.com/office/drawing/2014/main" id="{A14D41BC-2503-C5DB-0D29-197D8941860F}"/>
              </a:ext>
            </a:extLst>
          </p:cNvPr>
          <p:cNvSpPr/>
          <p:nvPr/>
        </p:nvSpPr>
        <p:spPr>
          <a:xfrm rot="3289794">
            <a:off x="2045676" y="4814118"/>
            <a:ext cx="343565" cy="260603"/>
          </a:xfrm>
          <a:prstGeom prst="lef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12B1D1A-F3C5-7948-8FB4-0380155D9D30}"/>
              </a:ext>
            </a:extLst>
          </p:cNvPr>
          <p:cNvSpPr/>
          <p:nvPr/>
        </p:nvSpPr>
        <p:spPr>
          <a:xfrm>
            <a:off x="2173414" y="5159897"/>
            <a:ext cx="396424" cy="1934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dirty="0">
                <a:solidFill>
                  <a:schemeClr val="tx1"/>
                </a:solidFill>
              </a:rPr>
              <a:t>data</a:t>
            </a:r>
            <a:endParaRPr lang="en-US" sz="525" dirty="0">
              <a:solidFill>
                <a:schemeClr val="tx1"/>
              </a:solidFill>
            </a:endParaRPr>
          </a:p>
        </p:txBody>
      </p:sp>
      <p:sp>
        <p:nvSpPr>
          <p:cNvPr id="96" name="Left Arrow 95">
            <a:extLst>
              <a:ext uri="{FF2B5EF4-FFF2-40B4-BE49-F238E27FC236}">
                <a16:creationId xmlns:a16="http://schemas.microsoft.com/office/drawing/2014/main" id="{E7CA14CC-C5CD-A7AA-6206-8B4334E34E2D}"/>
              </a:ext>
            </a:extLst>
          </p:cNvPr>
          <p:cNvSpPr/>
          <p:nvPr/>
        </p:nvSpPr>
        <p:spPr>
          <a:xfrm rot="10800000">
            <a:off x="5088668" y="7297335"/>
            <a:ext cx="343565" cy="26060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82E96DB2-616A-9B95-C09B-94448A8BDB3E}"/>
                  </a:ext>
                </a:extLst>
              </p:cNvPr>
              <p:cNvSpPr/>
              <p:nvPr/>
            </p:nvSpPr>
            <p:spPr>
              <a:xfrm>
                <a:off x="3158459" y="4103616"/>
                <a:ext cx="1846409" cy="55809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ar-AE" sz="1400" dirty="0"/>
                  <a:t> </a:t>
                </a:r>
                <a:r>
                  <a:rPr lang="en-US" sz="14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6.3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86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1400" dirty="0"/>
                  <a:t> </a:t>
                </a:r>
                <a:endParaRPr lang="en-US" sz="1350" dirty="0"/>
              </a:p>
            </p:txBody>
          </p:sp>
        </mc:Choice>
        <mc:Fallback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82E96DB2-616A-9B95-C09B-94448A8BDB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459" y="4103616"/>
                <a:ext cx="1846409" cy="5580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Left Arrow 134">
            <a:extLst>
              <a:ext uri="{FF2B5EF4-FFF2-40B4-BE49-F238E27FC236}">
                <a16:creationId xmlns:a16="http://schemas.microsoft.com/office/drawing/2014/main" id="{AEAA3B81-062E-5A6C-8B67-684C11A9DE7C}"/>
              </a:ext>
            </a:extLst>
          </p:cNvPr>
          <p:cNvSpPr/>
          <p:nvPr/>
        </p:nvSpPr>
        <p:spPr>
          <a:xfrm rot="10800000">
            <a:off x="5088668" y="4282429"/>
            <a:ext cx="343565" cy="26060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943A8AB-B840-9172-12F8-BB21147EE689}"/>
              </a:ext>
            </a:extLst>
          </p:cNvPr>
          <p:cNvCxnSpPr>
            <a:cxnSpLocks/>
          </p:cNvCxnSpPr>
          <p:nvPr/>
        </p:nvCxnSpPr>
        <p:spPr>
          <a:xfrm>
            <a:off x="6459850" y="3889819"/>
            <a:ext cx="0" cy="1536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3F7AA7B-8C76-58CD-8F41-E950857324A6}"/>
              </a:ext>
            </a:extLst>
          </p:cNvPr>
          <p:cNvCxnSpPr>
            <a:cxnSpLocks/>
          </p:cNvCxnSpPr>
          <p:nvPr/>
        </p:nvCxnSpPr>
        <p:spPr>
          <a:xfrm flipH="1">
            <a:off x="7400800" y="3508959"/>
            <a:ext cx="2015" cy="1904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AD174C-AB06-4A12-E90B-8C794947FE67}"/>
              </a:ext>
            </a:extLst>
          </p:cNvPr>
          <p:cNvCxnSpPr>
            <a:cxnSpLocks/>
          </p:cNvCxnSpPr>
          <p:nvPr/>
        </p:nvCxnSpPr>
        <p:spPr>
          <a:xfrm flipH="1">
            <a:off x="8338088" y="3399285"/>
            <a:ext cx="20479" cy="2026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F673BCF-D94F-652C-A0F5-4CB7533484D9}"/>
              </a:ext>
            </a:extLst>
          </p:cNvPr>
          <p:cNvSpPr/>
          <p:nvPr/>
        </p:nvSpPr>
        <p:spPr>
          <a:xfrm>
            <a:off x="5849419" y="3363085"/>
            <a:ext cx="1703237" cy="6199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 1-hour change in x 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sz="800" dirty="0">
                <a:solidFill>
                  <a:schemeClr val="tx1"/>
                </a:solidFill>
              </a:rPr>
              <a:t> </a:t>
            </a:r>
            <a:r>
              <a:rPr lang="en-US" sz="800" b="1" dirty="0">
                <a:solidFill>
                  <a:schemeClr val="accent6">
                    <a:lumMod val="50000"/>
                  </a:schemeClr>
                </a:solidFill>
              </a:rPr>
              <a:t>same </a:t>
            </a:r>
            <a:r>
              <a:rPr lang="en-US" sz="800" b="1" u="sng" dirty="0">
                <a:solidFill>
                  <a:schemeClr val="accent6">
                    <a:lumMod val="50000"/>
                  </a:schemeClr>
                </a:solidFill>
              </a:rPr>
              <a:t>ratio</a:t>
            </a:r>
            <a:r>
              <a:rPr lang="en-US" sz="800" b="1" dirty="0">
                <a:solidFill>
                  <a:schemeClr val="accent6">
                    <a:lumMod val="50000"/>
                  </a:schemeClr>
                </a:solidFill>
              </a:rPr>
              <a:t> in odds</a:t>
            </a:r>
            <a:r>
              <a:rPr lang="en-US" sz="800" dirty="0">
                <a:solidFill>
                  <a:schemeClr val="tx1"/>
                </a:solidFill>
              </a:rPr>
              <a:t>: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</a:rPr>
              <a:t>4.5hrs/3.5hrs = 7.37/1.14 = 6.45 OR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</a:rPr>
              <a:t>3.5hrs/2.5hrs = 1.14/.17 = 6.45 OR</a:t>
            </a:r>
            <a:endParaRPr lang="en-US" sz="800" u="sng" dirty="0">
              <a:solidFill>
                <a:schemeClr val="tx1"/>
              </a:solidFill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3745BF1D-5706-E293-B53F-5E466DE5D7E7}"/>
              </a:ext>
            </a:extLst>
          </p:cNvPr>
          <p:cNvSpPr/>
          <p:nvPr/>
        </p:nvSpPr>
        <p:spPr>
          <a:xfrm>
            <a:off x="6436091" y="2036867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5BB4380-B9B9-6E6D-2073-CF2B9E55800E}"/>
              </a:ext>
            </a:extLst>
          </p:cNvPr>
          <p:cNvSpPr/>
          <p:nvPr/>
        </p:nvSpPr>
        <p:spPr>
          <a:xfrm>
            <a:off x="7383085" y="141016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CA859043-186D-E3F1-908F-33D1D928E3FF}"/>
              </a:ext>
            </a:extLst>
          </p:cNvPr>
          <p:cNvSpPr/>
          <p:nvPr/>
        </p:nvSpPr>
        <p:spPr>
          <a:xfrm>
            <a:off x="8323821" y="784535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374551F7-D225-64F7-1122-59D83F16D4B0}"/>
              </a:ext>
            </a:extLst>
          </p:cNvPr>
          <p:cNvSpPr/>
          <p:nvPr/>
        </p:nvSpPr>
        <p:spPr>
          <a:xfrm>
            <a:off x="6436325" y="5291768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B297A89A-0BDF-229A-664C-AAF87BF2AA08}"/>
              </a:ext>
            </a:extLst>
          </p:cNvPr>
          <p:cNvSpPr/>
          <p:nvPr/>
        </p:nvSpPr>
        <p:spPr>
          <a:xfrm>
            <a:off x="7377509" y="5192777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3A3559FF-5F5C-5F85-2142-990B955048C4}"/>
              </a:ext>
            </a:extLst>
          </p:cNvPr>
          <p:cNvSpPr/>
          <p:nvPr/>
        </p:nvSpPr>
        <p:spPr>
          <a:xfrm>
            <a:off x="8327214" y="4550983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C7514478-3AB6-6BBB-252A-261D097EF4BE}"/>
              </a:ext>
            </a:extLst>
          </p:cNvPr>
          <p:cNvSpPr/>
          <p:nvPr/>
        </p:nvSpPr>
        <p:spPr>
          <a:xfrm>
            <a:off x="6421948" y="8166966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11507970-9F5A-D822-3E7E-7664FD6B509E}"/>
              </a:ext>
            </a:extLst>
          </p:cNvPr>
          <p:cNvSpPr/>
          <p:nvPr/>
        </p:nvSpPr>
        <p:spPr>
          <a:xfrm>
            <a:off x="7370086" y="7345214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8D0176ED-F737-CA24-B6D0-5754E51F1C2B}"/>
              </a:ext>
            </a:extLst>
          </p:cNvPr>
          <p:cNvSpPr/>
          <p:nvPr/>
        </p:nvSpPr>
        <p:spPr>
          <a:xfrm>
            <a:off x="8339792" y="659830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9" name="Picture 198">
            <a:extLst>
              <a:ext uri="{FF2B5EF4-FFF2-40B4-BE49-F238E27FC236}">
                <a16:creationId xmlns:a16="http://schemas.microsoft.com/office/drawing/2014/main" id="{5A75ADC9-5C72-50C1-3F37-F28B6A2EC0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803" y="2861247"/>
            <a:ext cx="2291553" cy="1850870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3092F094-6DA3-1407-2626-D783DB5EDB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386" y="645271"/>
            <a:ext cx="2280951" cy="2118026"/>
          </a:xfrm>
          <a:prstGeom prst="rect">
            <a:avLst/>
          </a:prstGeom>
        </p:spPr>
      </p:pic>
      <p:sp>
        <p:nvSpPr>
          <p:cNvPr id="211" name="Up-Down Arrow 210">
            <a:extLst>
              <a:ext uri="{FF2B5EF4-FFF2-40B4-BE49-F238E27FC236}">
                <a16:creationId xmlns:a16="http://schemas.microsoft.com/office/drawing/2014/main" id="{9546AF48-21CA-7550-09A7-E501D09BC6EA}"/>
              </a:ext>
            </a:extLst>
          </p:cNvPr>
          <p:cNvSpPr/>
          <p:nvPr/>
        </p:nvSpPr>
        <p:spPr>
          <a:xfrm>
            <a:off x="3974893" y="4944419"/>
            <a:ext cx="360091" cy="1905170"/>
          </a:xfrm>
          <a:prstGeom prst="up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E26D5694-071D-33D6-AFE2-13D8795AF756}"/>
              </a:ext>
            </a:extLst>
          </p:cNvPr>
          <p:cNvSpPr/>
          <p:nvPr/>
        </p:nvSpPr>
        <p:spPr>
          <a:xfrm>
            <a:off x="3069850" y="3876842"/>
            <a:ext cx="526111" cy="1934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dirty="0">
                <a:solidFill>
                  <a:schemeClr val="tx1"/>
                </a:solidFill>
              </a:rPr>
              <a:t>odds</a:t>
            </a:r>
          </a:p>
        </p:txBody>
      </p:sp>
      <p:sp>
        <p:nvSpPr>
          <p:cNvPr id="213" name="Left Arrow 212">
            <a:extLst>
              <a:ext uri="{FF2B5EF4-FFF2-40B4-BE49-F238E27FC236}">
                <a16:creationId xmlns:a16="http://schemas.microsoft.com/office/drawing/2014/main" id="{E810188C-669F-B966-CDF8-E741E0B255FA}"/>
              </a:ext>
            </a:extLst>
          </p:cNvPr>
          <p:cNvSpPr/>
          <p:nvPr/>
        </p:nvSpPr>
        <p:spPr>
          <a:xfrm rot="16200000">
            <a:off x="3277691" y="4061000"/>
            <a:ext cx="148745" cy="137504"/>
          </a:xfrm>
          <a:prstGeom prst="leftArrow">
            <a:avLst/>
          </a:prstGeom>
          <a:solidFill>
            <a:srgbClr val="E3F1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B4B2D48-6786-30F0-4933-9756114BA2F5}"/>
              </a:ext>
            </a:extLst>
          </p:cNvPr>
          <p:cNvSpPr/>
          <p:nvPr/>
        </p:nvSpPr>
        <p:spPr>
          <a:xfrm>
            <a:off x="3072822" y="6902673"/>
            <a:ext cx="648179" cy="1934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dirty="0">
                <a:solidFill>
                  <a:schemeClr val="tx1"/>
                </a:solidFill>
              </a:rPr>
              <a:t>probability</a:t>
            </a:r>
          </a:p>
        </p:txBody>
      </p:sp>
      <p:sp>
        <p:nvSpPr>
          <p:cNvPr id="217" name="Left Arrow 216">
            <a:extLst>
              <a:ext uri="{FF2B5EF4-FFF2-40B4-BE49-F238E27FC236}">
                <a16:creationId xmlns:a16="http://schemas.microsoft.com/office/drawing/2014/main" id="{16865590-7344-32CC-BB8F-EDCA66666BE2}"/>
              </a:ext>
            </a:extLst>
          </p:cNvPr>
          <p:cNvSpPr/>
          <p:nvPr/>
        </p:nvSpPr>
        <p:spPr>
          <a:xfrm rot="16200000">
            <a:off x="3280663" y="7086831"/>
            <a:ext cx="148745" cy="137504"/>
          </a:xfrm>
          <a:prstGeom prst="leftArrow">
            <a:avLst/>
          </a:prstGeom>
          <a:solidFill>
            <a:srgbClr val="E3F1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53F325E-59C0-DDBF-5A72-08EFEF10DCF4}"/>
              </a:ext>
            </a:extLst>
          </p:cNvPr>
          <p:cNvSpPr txBox="1"/>
          <p:nvPr/>
        </p:nvSpPr>
        <p:spPr>
          <a:xfrm>
            <a:off x="-15005" y="7875983"/>
            <a:ext cx="2291553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3/12/23 - Feedback welcome! 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Fred Oswald, 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  <a:hlinkClick r:id="rId11"/>
              </a:rPr>
              <a:t>foswald@rice.edu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  <a:hlinkClick r:id="rId12"/>
              </a:rPr>
              <a:t>https://workforce.rice.edu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2DDC13DF-4B5F-6A8B-0466-D6D58661EA8F}"/>
              </a:ext>
            </a:extLst>
          </p:cNvPr>
          <p:cNvSpPr/>
          <p:nvPr/>
        </p:nvSpPr>
        <p:spPr>
          <a:xfrm>
            <a:off x="0" y="8498729"/>
            <a:ext cx="459074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64646"/>
                </a:solidFill>
                <a:latin typeface="source sans pro" panose="020B0503030403020204" pitchFamily="34" charset="0"/>
              </a:rPr>
              <a:t>	    This work is licensed under a </a:t>
            </a:r>
          </a:p>
          <a:p>
            <a:r>
              <a:rPr lang="en-US" sz="1200" dirty="0">
                <a:solidFill>
                  <a:srgbClr val="049CCF"/>
                </a:solidFill>
                <a:latin typeface="source sans pro" panose="020B0503030403020204" pitchFamily="34" charset="0"/>
                <a:hlinkClick r:id="rId13"/>
              </a:rPr>
              <a:t>Creative Commons Attribution-ShareAlike 4.0 International License</a:t>
            </a:r>
            <a:endParaRPr lang="en-US" sz="1200" dirty="0">
              <a:solidFill>
                <a:srgbClr val="464646"/>
              </a:solidFill>
              <a:latin typeface="source sans pro" panose="020B0503030403020204" pitchFamily="34" charset="0"/>
            </a:endParaRPr>
          </a:p>
          <a:p>
            <a:r>
              <a:rPr lang="en-US" sz="1200" dirty="0">
                <a:solidFill>
                  <a:srgbClr val="464646"/>
                </a:solidFill>
                <a:latin typeface="source sans pro" panose="020B0503030403020204" pitchFamily="34" charset="0"/>
              </a:rPr>
              <a:t>Use/modify with attribution - see </a:t>
            </a:r>
            <a:r>
              <a:rPr lang="en-US" sz="1200" dirty="0">
                <a:solidFill>
                  <a:srgbClr val="464646"/>
                </a:solidFill>
                <a:latin typeface="source sans pro" panose="020B0503030403020204" pitchFamily="34" charset="0"/>
                <a:hlinkClick r:id="rId14"/>
              </a:rPr>
              <a:t>https://tinyurl.com/BYSA40</a:t>
            </a:r>
            <a:r>
              <a:rPr lang="en-US" sz="1200" dirty="0">
                <a:solidFill>
                  <a:srgbClr val="464646"/>
                </a:solidFill>
                <a:latin typeface="source sans pro" panose="020B0503030403020204" pitchFamily="34" charset="0"/>
              </a:rPr>
              <a:t> </a:t>
            </a:r>
            <a:endParaRPr lang="en-US" sz="1200" dirty="0"/>
          </a:p>
        </p:txBody>
      </p:sp>
      <p:pic>
        <p:nvPicPr>
          <p:cNvPr id="219" name="Picture 2" descr="Creative Commons License">
            <a:extLst>
              <a:ext uri="{FF2B5EF4-FFF2-40B4-BE49-F238E27FC236}">
                <a16:creationId xmlns:a16="http://schemas.microsoft.com/office/drawing/2014/main" id="{436BB289-034F-EAE1-3EEC-59563F7AC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22314"/>
            <a:ext cx="611196" cy="215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874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1564</TotalTime>
  <Words>192</Words>
  <Application>Microsoft Macintosh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source sans pro</vt:lpstr>
      <vt:lpstr>source sans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 Oswald</dc:creator>
  <cp:lastModifiedBy>Fred Oswald</cp:lastModifiedBy>
  <cp:revision>19</cp:revision>
  <cp:lastPrinted>2023-03-12T20:43:05Z</cp:lastPrinted>
  <dcterms:created xsi:type="dcterms:W3CDTF">2023-03-11T17:19:47Z</dcterms:created>
  <dcterms:modified xsi:type="dcterms:W3CDTF">2023-03-12T20:43:07Z</dcterms:modified>
</cp:coreProperties>
</file>