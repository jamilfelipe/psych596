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7"/>
  </p:notesMasterIdLst>
  <p:sldIdLst>
    <p:sldId id="257" r:id="rId2"/>
    <p:sldId id="307" r:id="rId3"/>
    <p:sldId id="263" r:id="rId4"/>
    <p:sldId id="267" r:id="rId5"/>
    <p:sldId id="269" r:id="rId6"/>
    <p:sldId id="325" r:id="rId7"/>
    <p:sldId id="271" r:id="rId8"/>
    <p:sldId id="272" r:id="rId9"/>
    <p:sldId id="326" r:id="rId10"/>
    <p:sldId id="294" r:id="rId11"/>
    <p:sldId id="275" r:id="rId12"/>
    <p:sldId id="378" r:id="rId13"/>
    <p:sldId id="379" r:id="rId14"/>
    <p:sldId id="280" r:id="rId15"/>
    <p:sldId id="333" r:id="rId16"/>
    <p:sldId id="380" r:id="rId17"/>
    <p:sldId id="284" r:id="rId18"/>
    <p:sldId id="381" r:id="rId19"/>
    <p:sldId id="382" r:id="rId20"/>
    <p:sldId id="308" r:id="rId21"/>
    <p:sldId id="311" r:id="rId22"/>
    <p:sldId id="312" r:id="rId23"/>
    <p:sldId id="313" r:id="rId24"/>
    <p:sldId id="384" r:id="rId25"/>
    <p:sldId id="369" r:id="rId26"/>
    <p:sldId id="370" r:id="rId27"/>
    <p:sldId id="371" r:id="rId28"/>
    <p:sldId id="314" r:id="rId29"/>
    <p:sldId id="315" r:id="rId30"/>
    <p:sldId id="317" r:id="rId31"/>
    <p:sldId id="320" r:id="rId32"/>
    <p:sldId id="321" r:id="rId33"/>
    <p:sldId id="322" r:id="rId34"/>
    <p:sldId id="332" r:id="rId35"/>
    <p:sldId id="335" r:id="rId36"/>
    <p:sldId id="336" r:id="rId37"/>
    <p:sldId id="337" r:id="rId38"/>
    <p:sldId id="355" r:id="rId39"/>
    <p:sldId id="383" r:id="rId40"/>
    <p:sldId id="356" r:id="rId41"/>
    <p:sldId id="259" r:id="rId42"/>
    <p:sldId id="353" r:id="rId43"/>
    <p:sldId id="352" r:id="rId44"/>
    <p:sldId id="345" r:id="rId45"/>
    <p:sldId id="354" r:id="rId46"/>
    <p:sldId id="349" r:id="rId47"/>
    <p:sldId id="372" r:id="rId48"/>
    <p:sldId id="373" r:id="rId49"/>
    <p:sldId id="375" r:id="rId50"/>
    <p:sldId id="374" r:id="rId51"/>
    <p:sldId id="377" r:id="rId52"/>
    <p:sldId id="376" r:id="rId53"/>
    <p:sldId id="350" r:id="rId54"/>
    <p:sldId id="348" r:id="rId55"/>
    <p:sldId id="347" r:id="rId56"/>
    <p:sldId id="351" r:id="rId57"/>
    <p:sldId id="266" r:id="rId58"/>
    <p:sldId id="273" r:id="rId59"/>
    <p:sldId id="276" r:id="rId60"/>
    <p:sldId id="357" r:id="rId61"/>
    <p:sldId id="358" r:id="rId62"/>
    <p:sldId id="278" r:id="rId63"/>
    <p:sldId id="283" r:id="rId64"/>
    <p:sldId id="359" r:id="rId65"/>
    <p:sldId id="285" r:id="rId66"/>
    <p:sldId id="295" r:id="rId67"/>
    <p:sldId id="360" r:id="rId68"/>
    <p:sldId id="361" r:id="rId69"/>
    <p:sldId id="296" r:id="rId70"/>
    <p:sldId id="299" r:id="rId71"/>
    <p:sldId id="301" r:id="rId72"/>
    <p:sldId id="303" r:id="rId73"/>
    <p:sldId id="363" r:id="rId74"/>
    <p:sldId id="364" r:id="rId75"/>
    <p:sldId id="362" r:id="rId76"/>
    <p:sldId id="343" r:id="rId77"/>
    <p:sldId id="365" r:id="rId78"/>
    <p:sldId id="262" r:id="rId79"/>
    <p:sldId id="367" r:id="rId80"/>
    <p:sldId id="368" r:id="rId81"/>
    <p:sldId id="260" r:id="rId82"/>
    <p:sldId id="261" r:id="rId83"/>
    <p:sldId id="341" r:id="rId84"/>
    <p:sldId id="342" r:id="rId85"/>
    <p:sldId id="366"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202"/>
    <p:restoredTop sz="72762"/>
  </p:normalViewPr>
  <p:slideViewPr>
    <p:cSldViewPr snapToGrid="0" snapToObjects="1">
      <p:cViewPr varScale="1">
        <p:scale>
          <a:sx n="79" d="100"/>
          <a:sy n="79" d="100"/>
        </p:scale>
        <p:origin x="60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4B1ABF-BAF2-0E4B-88A8-8F2BBF0074AC}" type="datetimeFigureOut">
              <a:rPr lang="en-US" smtClean="0"/>
              <a:t>9/23/25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610047-E131-0346-ABBC-77645D001C55}" type="slidenum">
              <a:rPr lang="en-US" smtClean="0"/>
              <a:t>‹#›</a:t>
            </a:fld>
            <a:endParaRPr lang="en-US"/>
          </a:p>
        </p:txBody>
      </p:sp>
    </p:spTree>
    <p:extLst>
      <p:ext uri="{BB962C8B-B14F-4D97-AF65-F5344CB8AC3E}">
        <p14:creationId xmlns:p14="http://schemas.microsoft.com/office/powerpoint/2010/main" val="2177246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en.wikipedia.org/wiki/Degrees_of_freedom_(statistics)#cite_note-1"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a:t>
            </a:fld>
            <a:endParaRPr lang="en-US"/>
          </a:p>
        </p:txBody>
      </p:sp>
    </p:spTree>
    <p:extLst>
      <p:ext uri="{BB962C8B-B14F-4D97-AF65-F5344CB8AC3E}">
        <p14:creationId xmlns:p14="http://schemas.microsoft.com/office/powerpoint/2010/main" val="305624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8C147C-1FDF-4FE6-987D-154FB7B5DFF7}" type="slidenum">
              <a:rPr lang="en-US"/>
              <a:pPr/>
              <a:t>3</a:t>
            </a:fld>
            <a:endParaRPr lang="en-US"/>
          </a:p>
        </p:txBody>
      </p:sp>
      <p:sp>
        <p:nvSpPr>
          <p:cNvPr id="153602" name="Rectangle 2"/>
          <p:cNvSpPr>
            <a:spLocks noGrp="1" noRot="1" noChangeAspect="1" noChangeArrowheads="1" noTextEdit="1"/>
          </p:cNvSpPr>
          <p:nvPr>
            <p:ph type="sldImg"/>
          </p:nvPr>
        </p:nvSpPr>
        <p:spPr>
          <a:xfrm>
            <a:off x="381000" y="685800"/>
            <a:ext cx="6096000" cy="3429000"/>
          </a:xfrm>
          <a:ln/>
        </p:spPr>
      </p:sp>
      <p:sp>
        <p:nvSpPr>
          <p:cNvPr id="153603" name="Rectangle 3"/>
          <p:cNvSpPr>
            <a:spLocks noGrp="1" noChangeArrowheads="1"/>
          </p:cNvSpPr>
          <p:nvPr>
            <p:ph type="body" idx="1"/>
          </p:nvPr>
        </p:nvSpPr>
        <p:spPr>
          <a:xfrm>
            <a:off x="914400" y="4343400"/>
            <a:ext cx="5029200" cy="4114800"/>
          </a:xfrm>
        </p:spPr>
        <p:txBody>
          <a:bodyPr/>
          <a:lstStyle/>
          <a:p>
            <a:r>
              <a:rPr lang="en-GB" dirty="0"/>
              <a:t>One of the simplest models we use in statistics is the mean. Some of you may have trouble thinking of the mean as a model, but in fact it is because it represents a summary of data. The mean is a hypothetical value that can be calculated for any data set, it doesn’t have to be a value that is actually observed in the data set. For example, if we took five statistics lecturers and measured the number of friends that they had, we might find the following data: 1, 3, 4, 3, 2. If we take the mean number of friends, this can be calculated by adding the values we obtained, and dividing by the number of values measured:. Now, we know that it is impossible to have 2.6 friends (unless you chop someone up with a chainsaw and befriend part of their remains, which in practice has proved disturbing) so the mean value is a </a:t>
            </a:r>
            <a:r>
              <a:rPr lang="en-GB" i="1" dirty="0"/>
              <a:t>hypothetical</a:t>
            </a:r>
            <a:r>
              <a:rPr lang="en-GB" dirty="0"/>
              <a:t> value. As such, the mean is a model that we create to summarise our data.</a:t>
            </a:r>
          </a:p>
        </p:txBody>
      </p:sp>
    </p:spTree>
    <p:extLst>
      <p:ext uri="{BB962C8B-B14F-4D97-AF65-F5344CB8AC3E}">
        <p14:creationId xmlns:p14="http://schemas.microsoft.com/office/powerpoint/2010/main" val="268488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BE6995-FEC7-4B20-A23D-939F708BE84D}" type="slidenum">
              <a:rPr lang="en-US"/>
              <a:pPr/>
              <a:t>5</a:t>
            </a:fld>
            <a:endParaRPr lang="en-US"/>
          </a:p>
        </p:txBody>
      </p:sp>
      <p:sp>
        <p:nvSpPr>
          <p:cNvPr id="126978" name="Rectangle 2"/>
          <p:cNvSpPr>
            <a:spLocks noGrp="1" noRot="1" noChangeAspect="1" noChangeArrowheads="1" noTextEdit="1"/>
          </p:cNvSpPr>
          <p:nvPr>
            <p:ph type="sldImg"/>
          </p:nvPr>
        </p:nvSpPr>
        <p:spPr>
          <a:xfrm>
            <a:off x="381000" y="685800"/>
            <a:ext cx="6096000" cy="3429000"/>
          </a:xfrm>
          <a:ln/>
        </p:spPr>
      </p:sp>
      <p:sp>
        <p:nvSpPr>
          <p:cNvPr id="126979" name="Rectangle 3"/>
          <p:cNvSpPr>
            <a:spLocks noGrp="1" noChangeArrowheads="1"/>
          </p:cNvSpPr>
          <p:nvPr>
            <p:ph type="body" idx="1"/>
          </p:nvPr>
        </p:nvSpPr>
        <p:spPr>
          <a:xfrm>
            <a:off x="914400" y="4343400"/>
            <a:ext cx="5029200" cy="4114800"/>
          </a:xfrm>
        </p:spPr>
        <p:txBody>
          <a:bodyPr/>
          <a:lstStyle/>
          <a:p>
            <a:endParaRPr lang="en-GB" dirty="0"/>
          </a:p>
        </p:txBody>
      </p:sp>
    </p:spTree>
    <p:extLst>
      <p:ext uri="{BB962C8B-B14F-4D97-AF65-F5344CB8AC3E}">
        <p14:creationId xmlns:p14="http://schemas.microsoft.com/office/powerpoint/2010/main" val="2490943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6</a:t>
            </a:fld>
            <a:endParaRPr lang="en-US"/>
          </a:p>
        </p:txBody>
      </p:sp>
    </p:spTree>
    <p:extLst>
      <p:ext uri="{BB962C8B-B14F-4D97-AF65-F5344CB8AC3E}">
        <p14:creationId xmlns:p14="http://schemas.microsoft.com/office/powerpoint/2010/main" val="39195528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640584-D0AF-49F2-8C41-D217A6620F7C}" type="slidenum">
              <a:rPr lang="en-US"/>
              <a:pPr/>
              <a:t>8</a:t>
            </a:fld>
            <a:endParaRPr lang="en-US"/>
          </a:p>
        </p:txBody>
      </p:sp>
      <p:sp>
        <p:nvSpPr>
          <p:cNvPr id="131074" name="Rectangle 2"/>
          <p:cNvSpPr>
            <a:spLocks noGrp="1" noRot="1" noChangeAspect="1" noChangeArrowheads="1" noTextEdit="1"/>
          </p:cNvSpPr>
          <p:nvPr>
            <p:ph type="sldImg"/>
          </p:nvPr>
        </p:nvSpPr>
        <p:spPr>
          <a:xfrm>
            <a:off x="381000" y="685800"/>
            <a:ext cx="6096000" cy="3429000"/>
          </a:xfrm>
          <a:ln/>
        </p:spPr>
      </p:sp>
      <p:sp>
        <p:nvSpPr>
          <p:cNvPr id="131075" name="Rectangle 3"/>
          <p:cNvSpPr>
            <a:spLocks noGrp="1" noChangeArrowheads="1"/>
          </p:cNvSpPr>
          <p:nvPr>
            <p:ph type="body" idx="1"/>
          </p:nvPr>
        </p:nvSpPr>
        <p:spPr>
          <a:xfrm>
            <a:off x="914400" y="4343400"/>
            <a:ext cx="5029200" cy="4114800"/>
          </a:xfrm>
        </p:spPr>
        <p:txBody>
          <a:bodyPr/>
          <a:lstStyle/>
          <a:p>
            <a:endParaRPr lang="en-GB" dirty="0"/>
          </a:p>
        </p:txBody>
      </p:sp>
    </p:spTree>
    <p:extLst>
      <p:ext uri="{BB962C8B-B14F-4D97-AF65-F5344CB8AC3E}">
        <p14:creationId xmlns:p14="http://schemas.microsoft.com/office/powerpoint/2010/main" val="1258808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n-1 instead of n because it gives us a better estimate of the population error. n-1 is the degrees of freedom. </a:t>
            </a:r>
          </a:p>
        </p:txBody>
      </p:sp>
      <p:sp>
        <p:nvSpPr>
          <p:cNvPr id="4" name="Slide Number Placeholder 3"/>
          <p:cNvSpPr>
            <a:spLocks noGrp="1"/>
          </p:cNvSpPr>
          <p:nvPr>
            <p:ph type="sldNum" sz="quarter" idx="5"/>
          </p:nvPr>
        </p:nvSpPr>
        <p:spPr/>
        <p:txBody>
          <a:bodyPr/>
          <a:lstStyle/>
          <a:p>
            <a:fld id="{66610047-E131-0346-ABBC-77645D001C55}" type="slidenum">
              <a:rPr lang="en-US" smtClean="0"/>
              <a:t>10</a:t>
            </a:fld>
            <a:endParaRPr lang="en-US"/>
          </a:p>
        </p:txBody>
      </p:sp>
    </p:spTree>
    <p:extLst>
      <p:ext uri="{BB962C8B-B14F-4D97-AF65-F5344CB8AC3E}">
        <p14:creationId xmlns:p14="http://schemas.microsoft.com/office/powerpoint/2010/main" val="1595457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you solve one parameter, what are the combinations of parameters are left</a:t>
            </a:r>
          </a:p>
          <a:p>
            <a:endParaRPr lang="en-US" dirty="0"/>
          </a:p>
          <a:p>
            <a:r>
              <a:rPr lang="en-US" sz="1200" b="0" i="0" kern="1200" dirty="0">
                <a:solidFill>
                  <a:schemeClr val="tx1"/>
                </a:solidFill>
                <a:effectLst/>
                <a:latin typeface="+mn-lt"/>
                <a:ea typeface="+mn-ea"/>
                <a:cs typeface="+mn-cs"/>
              </a:rPr>
              <a:t>The number of </a:t>
            </a:r>
            <a:r>
              <a:rPr lang="en-US" sz="1200" b="1" i="0" kern="1200" dirty="0">
                <a:solidFill>
                  <a:schemeClr val="tx1"/>
                </a:solidFill>
                <a:effectLst/>
                <a:latin typeface="+mn-lt"/>
                <a:ea typeface="+mn-ea"/>
                <a:cs typeface="+mn-cs"/>
              </a:rPr>
              <a:t>degrees of freedom</a:t>
            </a:r>
            <a:r>
              <a:rPr lang="en-US" sz="1200" b="0" i="0" kern="1200" dirty="0">
                <a:solidFill>
                  <a:schemeClr val="tx1"/>
                </a:solidFill>
                <a:effectLst/>
                <a:latin typeface="+mn-lt"/>
                <a:ea typeface="+mn-ea"/>
                <a:cs typeface="+mn-cs"/>
              </a:rPr>
              <a:t> is the number of values in the final calculation that are free to vary.</a:t>
            </a:r>
            <a:r>
              <a:rPr lang="en-US" sz="1200" b="0" i="0" u="none" strike="noStrike" kern="1200" baseline="30000" dirty="0">
                <a:solidFill>
                  <a:schemeClr val="tx1"/>
                </a:solidFill>
                <a:effectLst/>
                <a:latin typeface="+mn-lt"/>
                <a:ea typeface="+mn-ea"/>
                <a:cs typeface="+mn-cs"/>
                <a:hlinkClick r:id="rId3"/>
              </a:rPr>
              <a:t>[</a:t>
            </a:r>
            <a:endParaRPr lang="en-US" sz="1200" b="0" i="0" kern="1200" dirty="0">
              <a:solidFill>
                <a:schemeClr val="tx1"/>
              </a:solidFill>
              <a:effectLst/>
              <a:latin typeface="+mn-lt"/>
              <a:ea typeface="+mn-ea"/>
              <a:cs typeface="+mn-cs"/>
            </a:endParaRPr>
          </a:p>
          <a:p>
            <a:br>
              <a:rPr lang="en-US" dirty="0"/>
            </a:br>
            <a:r>
              <a:rPr lang="en-US" sz="1200" kern="1200" dirty="0">
                <a:solidFill>
                  <a:schemeClr val="tx1"/>
                </a:solidFill>
                <a:effectLst/>
                <a:latin typeface="+mn-lt"/>
                <a:ea typeface="+mn-ea"/>
                <a:cs typeface="+mn-cs"/>
              </a:rPr>
              <a:t>Let’s say</a:t>
            </a:r>
          </a:p>
          <a:p>
            <a:r>
              <a:rPr lang="en-US" sz="1200" kern="1200" dirty="0">
                <a:solidFill>
                  <a:schemeClr val="tx1"/>
                </a:solidFill>
                <a:effectLst/>
                <a:latin typeface="+mn-lt"/>
                <a:ea typeface="+mn-ea"/>
                <a:cs typeface="+mn-cs"/>
              </a:rPr>
              <a:t>that the mean of the sample was 10 and, therefore, we estimate</a:t>
            </a:r>
          </a:p>
          <a:p>
            <a:r>
              <a:rPr lang="en-US" sz="1200" kern="1200" dirty="0">
                <a:solidFill>
                  <a:schemeClr val="tx1"/>
                </a:solidFill>
                <a:effectLst/>
                <a:latin typeface="+mn-lt"/>
                <a:ea typeface="+mn-ea"/>
                <a:cs typeface="+mn-cs"/>
              </a:rPr>
              <a:t>that the population mean is also 10. The value of this parameter</a:t>
            </a:r>
          </a:p>
          <a:p>
            <a:r>
              <a:rPr lang="en-US" sz="1200" kern="1200" dirty="0">
                <a:solidFill>
                  <a:schemeClr val="tx1"/>
                </a:solidFill>
                <a:effectLst/>
                <a:latin typeface="+mn-lt"/>
                <a:ea typeface="+mn-ea"/>
                <a:cs typeface="+mn-cs"/>
              </a:rPr>
              <a:t>is now fixed: we have held one parameter constant.</a:t>
            </a:r>
          </a:p>
          <a:p>
            <a:r>
              <a:rPr lang="en-US" sz="1200" kern="1200" dirty="0">
                <a:solidFill>
                  <a:schemeClr val="tx1"/>
                </a:solidFill>
                <a:effectLst/>
                <a:latin typeface="+mn-lt"/>
                <a:ea typeface="+mn-ea"/>
                <a:cs typeface="+mn-cs"/>
              </a:rPr>
              <a:t>Imagine we now want to use this sample of four observations to estimate the</a:t>
            </a:r>
          </a:p>
          <a:p>
            <a:r>
              <a:rPr lang="en-US" sz="1200" kern="1200" dirty="0">
                <a:solidFill>
                  <a:schemeClr val="tx1"/>
                </a:solidFill>
                <a:effectLst/>
                <a:latin typeface="+mn-lt"/>
                <a:ea typeface="+mn-ea"/>
                <a:cs typeface="+mn-cs"/>
              </a:rPr>
              <a:t>mean squared error in the population. To do this, we need to use</a:t>
            </a:r>
          </a:p>
          <a:p>
            <a:r>
              <a:rPr lang="en-US" sz="1200" kern="1200" dirty="0">
                <a:solidFill>
                  <a:schemeClr val="tx1"/>
                </a:solidFill>
                <a:effectLst/>
                <a:latin typeface="+mn-lt"/>
                <a:ea typeface="+mn-ea"/>
                <a:cs typeface="+mn-cs"/>
              </a:rPr>
              <a:t>the value of the population mean, which we estimated to be the</a:t>
            </a:r>
          </a:p>
          <a:p>
            <a:r>
              <a:rPr lang="en-US" sz="1200" kern="1200" dirty="0">
                <a:solidFill>
                  <a:schemeClr val="tx1"/>
                </a:solidFill>
                <a:effectLst/>
                <a:latin typeface="+mn-lt"/>
                <a:ea typeface="+mn-ea"/>
                <a:cs typeface="+mn-cs"/>
              </a:rPr>
              <a:t>fixed value of 10. With the mean fixed, are all four scores in our</a:t>
            </a:r>
          </a:p>
          <a:p>
            <a:r>
              <a:rPr lang="en-US" sz="1200" kern="1200" dirty="0">
                <a:solidFill>
                  <a:schemeClr val="tx1"/>
                </a:solidFill>
                <a:effectLst/>
                <a:latin typeface="+mn-lt"/>
                <a:ea typeface="+mn-ea"/>
                <a:cs typeface="+mn-cs"/>
              </a:rPr>
              <a:t>sample free to be sampled? The answer is no, because to ensure</a:t>
            </a:r>
          </a:p>
          <a:p>
            <a:r>
              <a:rPr lang="en-US" sz="1200" kern="1200" dirty="0">
                <a:solidFill>
                  <a:schemeClr val="tx1"/>
                </a:solidFill>
                <a:effectLst/>
                <a:latin typeface="+mn-lt"/>
                <a:ea typeface="+mn-ea"/>
                <a:cs typeface="+mn-cs"/>
              </a:rPr>
              <a:t>that the population mean is 10 only three values are free to vary.</a:t>
            </a:r>
          </a:p>
          <a:p>
            <a:r>
              <a:rPr lang="en-US" sz="1200" kern="1200" dirty="0">
                <a:solidFill>
                  <a:schemeClr val="tx1"/>
                </a:solidFill>
                <a:effectLst/>
                <a:latin typeface="+mn-lt"/>
                <a:ea typeface="+mn-ea"/>
                <a:cs typeface="+mn-cs"/>
              </a:rPr>
              <a:t>For example, if the values in the sample we collected were 8, 9,</a:t>
            </a:r>
          </a:p>
          <a:p>
            <a:r>
              <a:rPr lang="en-US" sz="1200" kern="1200" dirty="0">
                <a:solidFill>
                  <a:schemeClr val="tx1"/>
                </a:solidFill>
                <a:effectLst/>
                <a:latin typeface="+mn-lt"/>
                <a:ea typeface="+mn-ea"/>
                <a:cs typeface="+mn-cs"/>
              </a:rPr>
              <a:t>11, 12 (mean = 10) then the first value sampled could be any</a:t>
            </a:r>
          </a:p>
          <a:p>
            <a:r>
              <a:rPr lang="en-US" sz="1200" kern="1200" dirty="0">
                <a:solidFill>
                  <a:schemeClr val="tx1"/>
                </a:solidFill>
                <a:effectLst/>
                <a:latin typeface="+mn-lt"/>
                <a:ea typeface="+mn-ea"/>
                <a:cs typeface="+mn-cs"/>
              </a:rPr>
              <a:t>value from the population, say 9. The second value can also be</a:t>
            </a:r>
          </a:p>
          <a:p>
            <a:r>
              <a:rPr lang="en-US" sz="1200" kern="1200" dirty="0">
                <a:solidFill>
                  <a:schemeClr val="tx1"/>
                </a:solidFill>
                <a:effectLst/>
                <a:latin typeface="+mn-lt"/>
                <a:ea typeface="+mn-ea"/>
                <a:cs typeface="+mn-cs"/>
              </a:rPr>
              <a:t>any value from the population, say 12. Like our football team,</a:t>
            </a:r>
          </a:p>
          <a:p>
            <a:r>
              <a:rPr lang="en-US" sz="1200" kern="1200" dirty="0">
                <a:solidFill>
                  <a:schemeClr val="tx1"/>
                </a:solidFill>
                <a:effectLst/>
                <a:latin typeface="+mn-lt"/>
                <a:ea typeface="+mn-ea"/>
                <a:cs typeface="+mn-cs"/>
              </a:rPr>
              <a:t>the third value sampled can also be any value from the</a:t>
            </a:r>
          </a:p>
          <a:p>
            <a:r>
              <a:rPr lang="en-US" sz="1200" kern="1200" dirty="0">
                <a:solidFill>
                  <a:schemeClr val="tx1"/>
                </a:solidFill>
                <a:effectLst/>
                <a:latin typeface="+mn-lt"/>
                <a:ea typeface="+mn-ea"/>
                <a:cs typeface="+mn-cs"/>
              </a:rPr>
              <a:t>population, say 8. We now have values of 8, 9 and 12 in the</a:t>
            </a:r>
          </a:p>
          <a:p>
            <a:r>
              <a:rPr lang="en-US" sz="1200" kern="1200" dirty="0">
                <a:solidFill>
                  <a:schemeClr val="tx1"/>
                </a:solidFill>
                <a:effectLst/>
                <a:latin typeface="+mn-lt"/>
                <a:ea typeface="+mn-ea"/>
                <a:cs typeface="+mn-cs"/>
              </a:rPr>
              <a:t>sample. The final value we sample, the final player to turn up to</a:t>
            </a:r>
          </a:p>
          <a:p>
            <a:r>
              <a:rPr lang="en-US" sz="1200" kern="1200" dirty="0">
                <a:solidFill>
                  <a:schemeClr val="tx1"/>
                </a:solidFill>
                <a:effectLst/>
                <a:latin typeface="+mn-lt"/>
                <a:ea typeface="+mn-ea"/>
                <a:cs typeface="+mn-cs"/>
              </a:rPr>
              <a:t>the soccer game, cannot be any value in the population, it has to</a:t>
            </a:r>
          </a:p>
          <a:p>
            <a:r>
              <a:rPr lang="en-US" sz="1200" kern="1200" dirty="0">
                <a:solidFill>
                  <a:schemeClr val="tx1"/>
                </a:solidFill>
                <a:effectLst/>
                <a:latin typeface="+mn-lt"/>
                <a:ea typeface="+mn-ea"/>
                <a:cs typeface="+mn-cs"/>
              </a:rPr>
              <a:t>be 11 because this is the value that makes the mean of the</a:t>
            </a:r>
          </a:p>
          <a:p>
            <a:r>
              <a:rPr lang="en-US" sz="1200" kern="1200" dirty="0">
                <a:solidFill>
                  <a:schemeClr val="tx1"/>
                </a:solidFill>
                <a:effectLst/>
                <a:latin typeface="+mn-lt"/>
                <a:ea typeface="+mn-ea"/>
                <a:cs typeface="+mn-cs"/>
              </a:rPr>
              <a:t>sample equal to 10 (the population parameter that we have held</a:t>
            </a:r>
          </a:p>
          <a:p>
            <a:r>
              <a:rPr lang="en-US" sz="1200" kern="1200" dirty="0">
                <a:solidFill>
                  <a:schemeClr val="tx1"/>
                </a:solidFill>
                <a:effectLst/>
                <a:latin typeface="+mn-lt"/>
                <a:ea typeface="+mn-ea"/>
                <a:cs typeface="+mn-cs"/>
              </a:rPr>
              <a:t>constant). Therefore, if we hold one parameter constant, then</a:t>
            </a:r>
          </a:p>
          <a:p>
            <a:r>
              <a:rPr lang="en-US" sz="1200" kern="1200" dirty="0">
                <a:solidFill>
                  <a:schemeClr val="tx1"/>
                </a:solidFill>
                <a:effectLst/>
                <a:latin typeface="+mn-lt"/>
                <a:ea typeface="+mn-ea"/>
                <a:cs typeface="+mn-cs"/>
              </a:rPr>
              <a:t>the degrees of freedom must be one fewer than the number of</a:t>
            </a:r>
          </a:p>
          <a:p>
            <a:r>
              <a:rPr lang="en-US" sz="1200" kern="1200" dirty="0">
                <a:solidFill>
                  <a:schemeClr val="tx1"/>
                </a:solidFill>
                <a:effectLst/>
                <a:latin typeface="+mn-lt"/>
                <a:ea typeface="+mn-ea"/>
                <a:cs typeface="+mn-cs"/>
              </a:rPr>
              <a:t>scores used to calculate that parameter. This fact explains why</a:t>
            </a:r>
          </a:p>
          <a:p>
            <a:r>
              <a:rPr lang="en-US" sz="1200" kern="1200" dirty="0">
                <a:solidFill>
                  <a:schemeClr val="tx1"/>
                </a:solidFill>
                <a:effectLst/>
                <a:latin typeface="+mn-lt"/>
                <a:ea typeface="+mn-ea"/>
                <a:cs typeface="+mn-cs"/>
              </a:rPr>
              <a:t>when we use a sample to estimate the mean squared error (or</a:t>
            </a:r>
          </a:p>
          <a:p>
            <a:r>
              <a:rPr lang="en-US" sz="1200" kern="1200" dirty="0">
                <a:solidFill>
                  <a:schemeClr val="tx1"/>
                </a:solidFill>
                <a:effectLst/>
                <a:latin typeface="+mn-lt"/>
                <a:ea typeface="+mn-ea"/>
                <a:cs typeface="+mn-cs"/>
              </a:rPr>
              <a:t>indeed the standard deviation) of a population, we divide the</a:t>
            </a:r>
          </a:p>
          <a:p>
            <a:r>
              <a:rPr lang="en-US" sz="1200" kern="1200" dirty="0">
                <a:solidFill>
                  <a:schemeClr val="tx1"/>
                </a:solidFill>
                <a:effectLst/>
                <a:latin typeface="+mn-lt"/>
                <a:ea typeface="+mn-ea"/>
                <a:cs typeface="+mn-cs"/>
              </a:rPr>
              <a:t>sums of squares by N − 1 rather than N alone. There is a</a:t>
            </a:r>
          </a:p>
          <a:p>
            <a:r>
              <a:rPr lang="en-US" sz="1200" kern="1200" dirty="0">
                <a:solidFill>
                  <a:schemeClr val="tx1"/>
                </a:solidFill>
                <a:effectLst/>
                <a:latin typeface="+mn-lt"/>
                <a:ea typeface="+mn-ea"/>
                <a:cs typeface="+mn-cs"/>
              </a:rPr>
              <a:t>lengthier explanation in one of my other books</a:t>
            </a:r>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11</a:t>
            </a:fld>
            <a:endParaRPr lang="en-US"/>
          </a:p>
        </p:txBody>
      </p:sp>
    </p:spTree>
    <p:extLst>
      <p:ext uri="{BB962C8B-B14F-4D97-AF65-F5344CB8AC3E}">
        <p14:creationId xmlns:p14="http://schemas.microsoft.com/office/powerpoint/2010/main" val="243562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12</a:t>
            </a:fld>
            <a:endParaRPr lang="en-US"/>
          </a:p>
        </p:txBody>
      </p:sp>
    </p:spTree>
    <p:extLst>
      <p:ext uri="{BB962C8B-B14F-4D97-AF65-F5344CB8AC3E}">
        <p14:creationId xmlns:p14="http://schemas.microsoft.com/office/powerpoint/2010/main" val="1141090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13</a:t>
            </a:fld>
            <a:endParaRPr lang="en-US"/>
          </a:p>
        </p:txBody>
      </p:sp>
    </p:spTree>
    <p:extLst>
      <p:ext uri="{BB962C8B-B14F-4D97-AF65-F5344CB8AC3E}">
        <p14:creationId xmlns:p14="http://schemas.microsoft.com/office/powerpoint/2010/main" val="27331487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582C0A-9BF3-4465-B8F6-13CEABCEE757}" type="slidenum">
              <a:rPr lang="en-US"/>
              <a:pPr/>
              <a:t>14</a:t>
            </a:fld>
            <a:endParaRPr lang="en-US"/>
          </a:p>
        </p:txBody>
      </p:sp>
      <p:sp>
        <p:nvSpPr>
          <p:cNvPr id="143362" name="Rectangle 2"/>
          <p:cNvSpPr>
            <a:spLocks noGrp="1" noRot="1" noChangeAspect="1" noChangeArrowheads="1" noTextEdit="1"/>
          </p:cNvSpPr>
          <p:nvPr>
            <p:ph type="sldImg"/>
          </p:nvPr>
        </p:nvSpPr>
        <p:spPr>
          <a:xfrm>
            <a:off x="381000" y="685800"/>
            <a:ext cx="6096000" cy="3429000"/>
          </a:xfrm>
          <a:ln/>
        </p:spPr>
      </p:sp>
      <p:sp>
        <p:nvSpPr>
          <p:cNvPr id="143363" name="Rectangle 3"/>
          <p:cNvSpPr>
            <a:spLocks noGrp="1" noChangeArrowheads="1"/>
          </p:cNvSpPr>
          <p:nvPr>
            <p:ph type="body" idx="1"/>
          </p:nvPr>
        </p:nvSpPr>
        <p:spPr>
          <a:xfrm>
            <a:off x="914400" y="4343400"/>
            <a:ext cx="5029200" cy="4114800"/>
          </a:xfrm>
        </p:spPr>
        <p:txBody>
          <a:bodyPr/>
          <a:lstStyle/>
          <a:p>
            <a:pPr algn="just">
              <a:spcAft>
                <a:spcPts val="1000"/>
              </a:spcAft>
            </a:pPr>
            <a:endParaRPr lang="en-GB" dirty="0"/>
          </a:p>
        </p:txBody>
      </p:sp>
    </p:spTree>
    <p:extLst>
      <p:ext uri="{BB962C8B-B14F-4D97-AF65-F5344CB8AC3E}">
        <p14:creationId xmlns:p14="http://schemas.microsoft.com/office/powerpoint/2010/main" val="29730689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standard deviation</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SD</a:t>
            </a:r>
            <a:r>
              <a:rPr lang="en-US" sz="1200" b="0" i="0" kern="1200" dirty="0">
                <a:solidFill>
                  <a:schemeClr val="tx1"/>
                </a:solidFill>
                <a:effectLst/>
                <a:latin typeface="+mn-lt"/>
                <a:ea typeface="+mn-ea"/>
                <a:cs typeface="+mn-cs"/>
              </a:rPr>
              <a:t>) measures the amount of variability, or dispersion, from the individual data values to the mean, while the </a:t>
            </a:r>
            <a:r>
              <a:rPr lang="en-US" sz="1200" b="1" i="0" kern="1200" dirty="0">
                <a:solidFill>
                  <a:schemeClr val="tx1"/>
                </a:solidFill>
                <a:effectLst/>
                <a:latin typeface="+mn-lt"/>
                <a:ea typeface="+mn-ea"/>
                <a:cs typeface="+mn-cs"/>
              </a:rPr>
              <a:t>standard error</a:t>
            </a:r>
            <a:r>
              <a:rPr lang="en-US" sz="1200" b="0" i="0" kern="1200" dirty="0">
                <a:solidFill>
                  <a:schemeClr val="tx1"/>
                </a:solidFill>
                <a:effectLst/>
                <a:latin typeface="+mn-lt"/>
                <a:ea typeface="+mn-ea"/>
                <a:cs typeface="+mn-cs"/>
              </a:rPr>
              <a:t> of the mean (SEM) measures how far the sample mean (average) of the data is likely to be from the true population mean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standard error is the SD over the square root of the sample. The SE gets smaller as your sample gets bigger.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makes sense, because the mean of a large sample is likely to be closer to the true population mean </a:t>
            </a:r>
            <a:r>
              <a:rPr lang="en-US" sz="1200" b="1" i="0" kern="1200" dirty="0">
                <a:solidFill>
                  <a:schemeClr val="tx1"/>
                </a:solidFill>
                <a:effectLst/>
                <a:latin typeface="+mn-lt"/>
                <a:ea typeface="+mn-ea"/>
                <a:cs typeface="+mn-cs"/>
              </a:rPr>
              <a:t>than</a:t>
            </a:r>
            <a:r>
              <a:rPr lang="en-US" sz="1200" b="0" i="0" kern="1200" dirty="0">
                <a:solidFill>
                  <a:schemeClr val="tx1"/>
                </a:solidFill>
                <a:effectLst/>
                <a:latin typeface="+mn-lt"/>
                <a:ea typeface="+mn-ea"/>
                <a:cs typeface="+mn-cs"/>
              </a:rPr>
              <a:t> is the mean of a small sample. ... The </a:t>
            </a:r>
            <a:r>
              <a:rPr lang="en-US" sz="1200" b="1" i="0" kern="1200" dirty="0">
                <a:solidFill>
                  <a:schemeClr val="tx1"/>
                </a:solidFill>
                <a:effectLst/>
                <a:latin typeface="+mn-lt"/>
                <a:ea typeface="+mn-ea"/>
                <a:cs typeface="+mn-cs"/>
              </a:rPr>
              <a:t>SD</a:t>
            </a:r>
            <a:r>
              <a:rPr lang="en-US" sz="1200" b="0" i="0" kern="1200" dirty="0">
                <a:solidFill>
                  <a:schemeClr val="tx1"/>
                </a:solidFill>
                <a:effectLst/>
                <a:latin typeface="+mn-lt"/>
                <a:ea typeface="+mn-ea"/>
                <a:cs typeface="+mn-cs"/>
              </a:rPr>
              <a:t> does not change predictably as you acquire more data.</a:t>
            </a:r>
            <a:endParaRPr lang="en-US" dirty="0"/>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15</a:t>
            </a:fld>
            <a:endParaRPr lang="en-US"/>
          </a:p>
        </p:txBody>
      </p:sp>
    </p:spTree>
    <p:extLst>
      <p:ext uri="{BB962C8B-B14F-4D97-AF65-F5344CB8AC3E}">
        <p14:creationId xmlns:p14="http://schemas.microsoft.com/office/powerpoint/2010/main" val="3397941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test statistic is a random variable that is calculated from sample data and used in a hypothesis test. You can use test statistics to determine whether to reject the null hypothesis. The test statistic compares your data with what is expected under the null hypothesis. The test statistic is used to calculate the p-value.</a:t>
            </a:r>
          </a:p>
          <a:p>
            <a:br>
              <a:rPr lang="en-US" dirty="0"/>
            </a:br>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17</a:t>
            </a:fld>
            <a:endParaRPr lang="en-US"/>
          </a:p>
        </p:txBody>
      </p:sp>
    </p:spTree>
    <p:extLst>
      <p:ext uri="{BB962C8B-B14F-4D97-AF65-F5344CB8AC3E}">
        <p14:creationId xmlns:p14="http://schemas.microsoft.com/office/powerpoint/2010/main" val="11509716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C8256-2ECF-99AB-E42C-7649D598D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13A5DB-5E96-D2ED-6642-66F39844AA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51562-C22A-5F3E-DDA0-BF4A09443F6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 test statistic is a random variable that is calculated from sample data and used in a hypothesis test. You can use test statistics to determine whether to reject the null hypothesis. The test statistic compares your data with what is expected under the null hypothesis. The test statistic is used to calculate the p-value.</a:t>
            </a:r>
          </a:p>
          <a:p>
            <a:br>
              <a:rPr lang="en-US" dirty="0"/>
            </a:br>
            <a:endParaRPr lang="en-US" dirty="0"/>
          </a:p>
        </p:txBody>
      </p:sp>
      <p:sp>
        <p:nvSpPr>
          <p:cNvPr id="4" name="Slide Number Placeholder 3">
            <a:extLst>
              <a:ext uri="{FF2B5EF4-FFF2-40B4-BE49-F238E27FC236}">
                <a16:creationId xmlns:a16="http://schemas.microsoft.com/office/drawing/2014/main" id="{68881CE2-223C-51DD-1C95-7471D843A408}"/>
              </a:ext>
            </a:extLst>
          </p:cNvPr>
          <p:cNvSpPr>
            <a:spLocks noGrp="1"/>
          </p:cNvSpPr>
          <p:nvPr>
            <p:ph type="sldNum" sz="quarter" idx="5"/>
          </p:nvPr>
        </p:nvSpPr>
        <p:spPr/>
        <p:txBody>
          <a:bodyPr/>
          <a:lstStyle/>
          <a:p>
            <a:fld id="{66610047-E131-0346-ABBC-77645D001C55}" type="slidenum">
              <a:rPr lang="en-US" smtClean="0"/>
              <a:t>18</a:t>
            </a:fld>
            <a:endParaRPr lang="en-US"/>
          </a:p>
        </p:txBody>
      </p:sp>
    </p:spTree>
    <p:extLst>
      <p:ext uri="{BB962C8B-B14F-4D97-AF65-F5344CB8AC3E}">
        <p14:creationId xmlns:p14="http://schemas.microsoft.com/office/powerpoint/2010/main" val="26140419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AFFAF-938A-9ED2-33C7-05FE937F5D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F7289C-BFEC-E17C-DDC2-0E27840153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5A3D0-F1C3-C1F1-F150-384240E9AFF9}"/>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 test statistic is a random variable that is calculated from sample data and used in a hypothesis test. You can use test statistics to determine whether to reject the null hypothesis. The test statistic compares your data with what is expected under the null hypothesis. The test statistic is used to calculate the p-value.</a:t>
            </a:r>
          </a:p>
          <a:p>
            <a:br>
              <a:rPr lang="en-US" dirty="0"/>
            </a:br>
            <a:endParaRPr lang="en-US" dirty="0"/>
          </a:p>
        </p:txBody>
      </p:sp>
      <p:sp>
        <p:nvSpPr>
          <p:cNvPr id="4" name="Slide Number Placeholder 3">
            <a:extLst>
              <a:ext uri="{FF2B5EF4-FFF2-40B4-BE49-F238E27FC236}">
                <a16:creationId xmlns:a16="http://schemas.microsoft.com/office/drawing/2014/main" id="{6BB8638A-C20B-9A42-219D-02C97CACCFB3}"/>
              </a:ext>
            </a:extLst>
          </p:cNvPr>
          <p:cNvSpPr>
            <a:spLocks noGrp="1"/>
          </p:cNvSpPr>
          <p:nvPr>
            <p:ph type="sldNum" sz="quarter" idx="5"/>
          </p:nvPr>
        </p:nvSpPr>
        <p:spPr/>
        <p:txBody>
          <a:bodyPr/>
          <a:lstStyle/>
          <a:p>
            <a:fld id="{66610047-E131-0346-ABBC-77645D001C55}" type="slidenum">
              <a:rPr lang="en-US" smtClean="0"/>
              <a:t>19</a:t>
            </a:fld>
            <a:endParaRPr lang="en-US"/>
          </a:p>
        </p:txBody>
      </p:sp>
    </p:spTree>
    <p:extLst>
      <p:ext uri="{BB962C8B-B14F-4D97-AF65-F5344CB8AC3E}">
        <p14:creationId xmlns:p14="http://schemas.microsoft.com/office/powerpoint/2010/main" val="14039553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20</a:t>
            </a:fld>
            <a:endParaRPr lang="en-US"/>
          </a:p>
        </p:txBody>
      </p:sp>
    </p:spTree>
    <p:extLst>
      <p:ext uri="{BB962C8B-B14F-4D97-AF65-F5344CB8AC3E}">
        <p14:creationId xmlns:p14="http://schemas.microsoft.com/office/powerpoint/2010/main" val="38353226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DFA18B-A411-4466-B27F-B6BC6E93E479}" type="slidenum">
              <a:rPr lang="en-US"/>
              <a:pPr/>
              <a:t>30</a:t>
            </a:fld>
            <a:endParaRPr lang="en-US"/>
          </a:p>
        </p:txBody>
      </p:sp>
      <p:sp>
        <p:nvSpPr>
          <p:cNvPr id="207874" name="Rectangle 2"/>
          <p:cNvSpPr>
            <a:spLocks noGrp="1" noRot="1" noChangeAspect="1" noChangeArrowheads="1" noTextEdit="1"/>
          </p:cNvSpPr>
          <p:nvPr>
            <p:ph type="sldImg"/>
          </p:nvPr>
        </p:nvSpPr>
        <p:spPr>
          <a:xfrm>
            <a:off x="381000" y="685800"/>
            <a:ext cx="6096000" cy="3429000"/>
          </a:xfrm>
          <a:ln/>
        </p:spPr>
      </p:sp>
      <p:sp>
        <p:nvSpPr>
          <p:cNvPr id="207875" name="Rectangle 3"/>
          <p:cNvSpPr>
            <a:spLocks noGrp="1" noChangeArrowheads="1"/>
          </p:cNvSpPr>
          <p:nvPr>
            <p:ph type="body" idx="1"/>
          </p:nvPr>
        </p:nvSpPr>
        <p:spPr/>
        <p:txBody>
          <a:bodyPr/>
          <a:lstStyle/>
          <a:p>
            <a:pPr lvl="1"/>
            <a:endParaRPr lang="en-US"/>
          </a:p>
        </p:txBody>
      </p:sp>
    </p:spTree>
    <p:extLst>
      <p:ext uri="{BB962C8B-B14F-4D97-AF65-F5344CB8AC3E}">
        <p14:creationId xmlns:p14="http://schemas.microsoft.com/office/powerpoint/2010/main" val="12135670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592DDC-4DD4-4C89-B29A-06E7F097F8CA}" type="slidenum">
              <a:rPr lang="en-US"/>
              <a:pPr/>
              <a:t>33</a:t>
            </a:fld>
            <a:endParaRPr lang="en-US"/>
          </a:p>
        </p:txBody>
      </p:sp>
      <p:sp>
        <p:nvSpPr>
          <p:cNvPr id="116738" name="Rectangle 2"/>
          <p:cNvSpPr>
            <a:spLocks noGrp="1" noRot="1" noChangeAspect="1" noChangeArrowheads="1" noTextEdit="1"/>
          </p:cNvSpPr>
          <p:nvPr>
            <p:ph type="sldImg"/>
          </p:nvPr>
        </p:nvSpPr>
        <p:spPr>
          <a:xfrm>
            <a:off x="428625" y="708025"/>
            <a:ext cx="6045200" cy="3402013"/>
          </a:xfrm>
          <a:ln/>
        </p:spPr>
      </p:sp>
      <p:sp>
        <p:nvSpPr>
          <p:cNvPr id="116739" name="Rectangle 3"/>
          <p:cNvSpPr>
            <a:spLocks noGrp="1" noChangeArrowheads="1"/>
          </p:cNvSpPr>
          <p:nvPr>
            <p:ph type="body" idx="1"/>
          </p:nvPr>
        </p:nvSpPr>
        <p:spPr>
          <a:xfrm>
            <a:off x="941388" y="4322763"/>
            <a:ext cx="5019675" cy="4111625"/>
          </a:xfrm>
        </p:spPr>
        <p:txBody>
          <a:bodyPr/>
          <a:lstStyle/>
          <a:p>
            <a:endParaRPr lang="en-GB"/>
          </a:p>
        </p:txBody>
      </p:sp>
    </p:spTree>
    <p:extLst>
      <p:ext uri="{BB962C8B-B14F-4D97-AF65-F5344CB8AC3E}">
        <p14:creationId xmlns:p14="http://schemas.microsoft.com/office/powerpoint/2010/main" val="603017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C3D2DD-75C4-40A8-A42C-79185F208207}" type="slidenum">
              <a:rPr lang="en-US"/>
              <a:pPr/>
              <a:t>35</a:t>
            </a:fld>
            <a:endParaRPr lang="en-US"/>
          </a:p>
        </p:txBody>
      </p:sp>
      <p:sp>
        <p:nvSpPr>
          <p:cNvPr id="183298" name="Rectangle 2"/>
          <p:cNvSpPr>
            <a:spLocks noGrp="1" noRot="1" noChangeAspect="1" noChangeArrowheads="1" noTextEdit="1"/>
          </p:cNvSpPr>
          <p:nvPr>
            <p:ph type="sldImg"/>
          </p:nvPr>
        </p:nvSpPr>
        <p:spPr>
          <a:xfrm>
            <a:off x="381000" y="685800"/>
            <a:ext cx="6096000" cy="3429000"/>
          </a:xfrm>
          <a:ln/>
        </p:spPr>
      </p:sp>
      <p:sp>
        <p:nvSpPr>
          <p:cNvPr id="183299" name="Rectangle 3"/>
          <p:cNvSpPr>
            <a:spLocks noGrp="1" noChangeArrowheads="1"/>
          </p:cNvSpPr>
          <p:nvPr>
            <p:ph type="body" idx="1"/>
          </p:nvPr>
        </p:nvSpPr>
        <p:spPr/>
        <p:txBody>
          <a:bodyPr/>
          <a:lstStyle/>
          <a:p>
            <a:pPr lvl="1"/>
            <a:endParaRPr lang="en-US"/>
          </a:p>
        </p:txBody>
      </p:sp>
    </p:spTree>
    <p:extLst>
      <p:ext uri="{BB962C8B-B14F-4D97-AF65-F5344CB8AC3E}">
        <p14:creationId xmlns:p14="http://schemas.microsoft.com/office/powerpoint/2010/main" val="5488597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36</a:t>
            </a:fld>
            <a:endParaRPr lang="en-US"/>
          </a:p>
        </p:txBody>
      </p:sp>
    </p:spTree>
    <p:extLst>
      <p:ext uri="{BB962C8B-B14F-4D97-AF65-F5344CB8AC3E}">
        <p14:creationId xmlns:p14="http://schemas.microsoft.com/office/powerpoint/2010/main" val="39445327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38</a:t>
            </a:fld>
            <a:endParaRPr lang="en-US"/>
          </a:p>
        </p:txBody>
      </p:sp>
    </p:spTree>
    <p:extLst>
      <p:ext uri="{BB962C8B-B14F-4D97-AF65-F5344CB8AC3E}">
        <p14:creationId xmlns:p14="http://schemas.microsoft.com/office/powerpoint/2010/main" val="22150525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42</a:t>
            </a:fld>
            <a:endParaRPr lang="en-US"/>
          </a:p>
        </p:txBody>
      </p:sp>
    </p:spTree>
    <p:extLst>
      <p:ext uri="{BB962C8B-B14F-4D97-AF65-F5344CB8AC3E}">
        <p14:creationId xmlns:p14="http://schemas.microsoft.com/office/powerpoint/2010/main" val="30199460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Meaningless 3</a:t>
            </a:r>
            <a:r>
              <a:rPr lang="en-US" baseline="30000" dirty="0"/>
              <a:t>rd</a:t>
            </a:r>
            <a:r>
              <a:rPr lang="en-US" dirty="0"/>
              <a:t> dimension!</a:t>
            </a:r>
          </a:p>
        </p:txBody>
      </p:sp>
      <p:sp>
        <p:nvSpPr>
          <p:cNvPr id="4" name="Slide Number Placeholder 3"/>
          <p:cNvSpPr>
            <a:spLocks noGrp="1"/>
          </p:cNvSpPr>
          <p:nvPr>
            <p:ph type="sldNum" sz="quarter" idx="5"/>
          </p:nvPr>
        </p:nvSpPr>
        <p:spPr/>
        <p:txBody>
          <a:bodyPr/>
          <a:lstStyle/>
          <a:p>
            <a:fld id="{66610047-E131-0346-ABBC-77645D001C55}" type="slidenum">
              <a:rPr lang="en-US" smtClean="0"/>
              <a:t>43</a:t>
            </a:fld>
            <a:endParaRPr lang="en-US"/>
          </a:p>
        </p:txBody>
      </p:sp>
    </p:spTree>
    <p:extLst>
      <p:ext uri="{BB962C8B-B14F-4D97-AF65-F5344CB8AC3E}">
        <p14:creationId xmlns:p14="http://schemas.microsoft.com/office/powerpoint/2010/main" val="30974123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SCALE!!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USA today is notorious for fussy graphs that have too much information and mislead. This graph makes our welfare problem look like it’s spiraling out of control. But note where the y-axis starts…at 94 million!</a:t>
            </a:r>
            <a:br>
              <a:rPr lang="en-US" dirty="0"/>
            </a:br>
            <a:endParaRPr lang="en-US" dirty="0"/>
          </a:p>
          <a:p>
            <a:endParaRPr lang="en-US" dirty="0"/>
          </a:p>
          <a:p>
            <a:pPr fontAlgn="base"/>
            <a:r>
              <a:rPr lang="en-US" sz="1200" b="0" i="0" kern="1200" dirty="0">
                <a:solidFill>
                  <a:schemeClr val="tx1"/>
                </a:solidFill>
                <a:effectLst/>
                <a:latin typeface="+mn-lt"/>
                <a:ea typeface="+mn-ea"/>
                <a:cs typeface="+mn-cs"/>
              </a:rPr>
              <a:t>Fox News showed this chart of what would happen if the Bush tax cuts expired. Disastrous, right? Again, check the scale (it starts at 34). All is not what it seems.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br>
              <a:rPr lang="en-US" dirty="0"/>
            </a:br>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44</a:t>
            </a:fld>
            <a:endParaRPr lang="en-US"/>
          </a:p>
        </p:txBody>
      </p:sp>
    </p:spTree>
    <p:extLst>
      <p:ext uri="{BB962C8B-B14F-4D97-AF65-F5344CB8AC3E}">
        <p14:creationId xmlns:p14="http://schemas.microsoft.com/office/powerpoint/2010/main" val="26113136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Fox News showed this chart of what would happen if the Bush tax cuts expired. Disastrous, right? Again, check the scale (it starts at 34). All is not what it seems.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45</a:t>
            </a:fld>
            <a:endParaRPr lang="en-US"/>
          </a:p>
        </p:txBody>
      </p:sp>
    </p:spTree>
    <p:extLst>
      <p:ext uri="{BB962C8B-B14F-4D97-AF65-F5344CB8AC3E}">
        <p14:creationId xmlns:p14="http://schemas.microsoft.com/office/powerpoint/2010/main" val="27839332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I never thought it was possible but I actually understand soccer less after looking at this chart.</a:t>
            </a:r>
          </a:p>
          <a:p>
            <a:br>
              <a:rPr lang="en-US" dirty="0"/>
            </a:br>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46</a:t>
            </a:fld>
            <a:endParaRPr lang="en-US"/>
          </a:p>
        </p:txBody>
      </p:sp>
    </p:spTree>
    <p:extLst>
      <p:ext uri="{BB962C8B-B14F-4D97-AF65-F5344CB8AC3E}">
        <p14:creationId xmlns:p14="http://schemas.microsoft.com/office/powerpoint/2010/main" val="7380158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need a graph for this. Only 3 provinces are different.</a:t>
            </a:r>
          </a:p>
        </p:txBody>
      </p:sp>
      <p:sp>
        <p:nvSpPr>
          <p:cNvPr id="4" name="Slide Number Placeholder 3"/>
          <p:cNvSpPr>
            <a:spLocks noGrp="1"/>
          </p:cNvSpPr>
          <p:nvPr>
            <p:ph type="sldNum" sz="quarter" idx="5"/>
          </p:nvPr>
        </p:nvSpPr>
        <p:spPr/>
        <p:txBody>
          <a:bodyPr/>
          <a:lstStyle/>
          <a:p>
            <a:fld id="{66610047-E131-0346-ABBC-77645D001C55}" type="slidenum">
              <a:rPr lang="en-US" smtClean="0"/>
              <a:t>53</a:t>
            </a:fld>
            <a:endParaRPr lang="en-US"/>
          </a:p>
        </p:txBody>
      </p:sp>
    </p:spTree>
    <p:extLst>
      <p:ext uri="{BB962C8B-B14F-4D97-AF65-F5344CB8AC3E}">
        <p14:creationId xmlns:p14="http://schemas.microsoft.com/office/powerpoint/2010/main" val="41958585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don’t add up!</a:t>
            </a:r>
          </a:p>
        </p:txBody>
      </p:sp>
      <p:sp>
        <p:nvSpPr>
          <p:cNvPr id="4" name="Slide Number Placeholder 3"/>
          <p:cNvSpPr>
            <a:spLocks noGrp="1"/>
          </p:cNvSpPr>
          <p:nvPr>
            <p:ph type="sldNum" sz="quarter" idx="5"/>
          </p:nvPr>
        </p:nvSpPr>
        <p:spPr/>
        <p:txBody>
          <a:bodyPr/>
          <a:lstStyle/>
          <a:p>
            <a:fld id="{66610047-E131-0346-ABBC-77645D001C55}" type="slidenum">
              <a:rPr lang="en-US" smtClean="0"/>
              <a:t>54</a:t>
            </a:fld>
            <a:endParaRPr lang="en-US"/>
          </a:p>
        </p:txBody>
      </p:sp>
    </p:spTree>
    <p:extLst>
      <p:ext uri="{BB962C8B-B14F-4D97-AF65-F5344CB8AC3E}">
        <p14:creationId xmlns:p14="http://schemas.microsoft.com/office/powerpoint/2010/main" val="3556539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data labels! It tells us nothing!</a:t>
            </a:r>
          </a:p>
        </p:txBody>
      </p:sp>
      <p:sp>
        <p:nvSpPr>
          <p:cNvPr id="4" name="Slide Number Placeholder 3"/>
          <p:cNvSpPr>
            <a:spLocks noGrp="1"/>
          </p:cNvSpPr>
          <p:nvPr>
            <p:ph type="sldNum" sz="quarter" idx="5"/>
          </p:nvPr>
        </p:nvSpPr>
        <p:spPr/>
        <p:txBody>
          <a:bodyPr/>
          <a:lstStyle/>
          <a:p>
            <a:fld id="{66610047-E131-0346-ABBC-77645D001C55}" type="slidenum">
              <a:rPr lang="en-US" smtClean="0"/>
              <a:t>55</a:t>
            </a:fld>
            <a:endParaRPr lang="en-US"/>
          </a:p>
        </p:txBody>
      </p:sp>
    </p:spTree>
    <p:extLst>
      <p:ext uri="{BB962C8B-B14F-4D97-AF65-F5344CB8AC3E}">
        <p14:creationId xmlns:p14="http://schemas.microsoft.com/office/powerpoint/2010/main" val="30629700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so much.</a:t>
            </a:r>
          </a:p>
          <a:p>
            <a:endParaRPr lang="en-US" dirty="0"/>
          </a:p>
          <a:p>
            <a:r>
              <a:rPr lang="en-US" sz="1200" b="1" i="0" kern="1200" dirty="0">
                <a:solidFill>
                  <a:schemeClr val="tx1"/>
                </a:solidFill>
                <a:effectLst/>
                <a:latin typeface="+mn-lt"/>
                <a:ea typeface="+mn-ea"/>
                <a:cs typeface="+mn-cs"/>
              </a:rPr>
              <a:t>Edward Tufte — the guy who invented the word "</a:t>
            </a:r>
            <a:r>
              <a:rPr lang="en-US" sz="1200" b="1" i="0" kern="1200" dirty="0" err="1">
                <a:solidFill>
                  <a:schemeClr val="tx1"/>
                </a:solidFill>
                <a:effectLst/>
                <a:latin typeface="+mn-lt"/>
                <a:ea typeface="+mn-ea"/>
                <a:cs typeface="+mn-cs"/>
              </a:rPr>
              <a:t>chartjunk</a:t>
            </a:r>
            <a:r>
              <a:rPr lang="en-US" sz="1200" b="1" i="0" kern="1200" dirty="0">
                <a:solidFill>
                  <a:schemeClr val="tx1"/>
                </a:solidFill>
                <a:effectLst/>
                <a:latin typeface="+mn-lt"/>
                <a:ea typeface="+mn-ea"/>
                <a:cs typeface="+mn-cs"/>
              </a:rPr>
              <a:t>" — personally held this up as the worst chart ever. Why? The colors may induce ocular bleeding, it's in three dimensions for no reason, the Y-axis is broken twice, The chart only communicates five numbers — it's showing the breakdown of students under 25 and over 25 over 5 years — and the top section is inexplicably inverted.</a:t>
            </a:r>
          </a:p>
          <a:p>
            <a:br>
              <a:rPr lang="en-US" dirty="0"/>
            </a:br>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56</a:t>
            </a:fld>
            <a:endParaRPr lang="en-US"/>
          </a:p>
        </p:txBody>
      </p:sp>
    </p:spTree>
    <p:extLst>
      <p:ext uri="{BB962C8B-B14F-4D97-AF65-F5344CB8AC3E}">
        <p14:creationId xmlns:p14="http://schemas.microsoft.com/office/powerpoint/2010/main" val="30754625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59</a:t>
            </a:fld>
            <a:endParaRPr lang="en-US"/>
          </a:p>
        </p:txBody>
      </p:sp>
    </p:spTree>
    <p:extLst>
      <p:ext uri="{BB962C8B-B14F-4D97-AF65-F5344CB8AC3E}">
        <p14:creationId xmlns:p14="http://schemas.microsoft.com/office/powerpoint/2010/main" val="8821289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62</a:t>
            </a:fld>
            <a:endParaRPr lang="en-US"/>
          </a:p>
        </p:txBody>
      </p:sp>
    </p:spTree>
    <p:extLst>
      <p:ext uri="{BB962C8B-B14F-4D97-AF65-F5344CB8AC3E}">
        <p14:creationId xmlns:p14="http://schemas.microsoft.com/office/powerpoint/2010/main" val="20692619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my own data</a:t>
            </a:r>
          </a:p>
        </p:txBody>
      </p:sp>
      <p:sp>
        <p:nvSpPr>
          <p:cNvPr id="4" name="Slide Number Placeholder 3"/>
          <p:cNvSpPr>
            <a:spLocks noGrp="1"/>
          </p:cNvSpPr>
          <p:nvPr>
            <p:ph type="sldNum" sz="quarter" idx="5"/>
          </p:nvPr>
        </p:nvSpPr>
        <p:spPr/>
        <p:txBody>
          <a:bodyPr/>
          <a:lstStyle/>
          <a:p>
            <a:fld id="{66610047-E131-0346-ABBC-77645D001C55}" type="slidenum">
              <a:rPr lang="en-US" smtClean="0"/>
              <a:t>68</a:t>
            </a:fld>
            <a:endParaRPr lang="en-US"/>
          </a:p>
        </p:txBody>
      </p:sp>
    </p:spTree>
    <p:extLst>
      <p:ext uri="{BB962C8B-B14F-4D97-AF65-F5344CB8AC3E}">
        <p14:creationId xmlns:p14="http://schemas.microsoft.com/office/powerpoint/2010/main" val="7305295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73</a:t>
            </a:fld>
            <a:endParaRPr lang="en-US"/>
          </a:p>
        </p:txBody>
      </p:sp>
    </p:spTree>
    <p:extLst>
      <p:ext uri="{BB962C8B-B14F-4D97-AF65-F5344CB8AC3E}">
        <p14:creationId xmlns:p14="http://schemas.microsoft.com/office/powerpoint/2010/main" val="22868520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74</a:t>
            </a:fld>
            <a:endParaRPr lang="en-US"/>
          </a:p>
        </p:txBody>
      </p:sp>
    </p:spTree>
    <p:extLst>
      <p:ext uri="{BB962C8B-B14F-4D97-AF65-F5344CB8AC3E}">
        <p14:creationId xmlns:p14="http://schemas.microsoft.com/office/powerpoint/2010/main" val="36804828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75</a:t>
            </a:fld>
            <a:endParaRPr lang="en-US"/>
          </a:p>
        </p:txBody>
      </p:sp>
    </p:spTree>
    <p:extLst>
      <p:ext uri="{BB962C8B-B14F-4D97-AF65-F5344CB8AC3E}">
        <p14:creationId xmlns:p14="http://schemas.microsoft.com/office/powerpoint/2010/main" val="28146681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76</a:t>
            </a:fld>
            <a:endParaRPr lang="en-US"/>
          </a:p>
        </p:txBody>
      </p:sp>
    </p:spTree>
    <p:extLst>
      <p:ext uri="{BB962C8B-B14F-4D97-AF65-F5344CB8AC3E}">
        <p14:creationId xmlns:p14="http://schemas.microsoft.com/office/powerpoint/2010/main" val="9023062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77</a:t>
            </a:fld>
            <a:endParaRPr lang="en-US"/>
          </a:p>
        </p:txBody>
      </p:sp>
    </p:spTree>
    <p:extLst>
      <p:ext uri="{BB962C8B-B14F-4D97-AF65-F5344CB8AC3E}">
        <p14:creationId xmlns:p14="http://schemas.microsoft.com/office/powerpoint/2010/main" val="41791110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should have the max that you can measure.</a:t>
            </a:r>
          </a:p>
        </p:txBody>
      </p:sp>
      <p:sp>
        <p:nvSpPr>
          <p:cNvPr id="4" name="Slide Number Placeholder 3"/>
          <p:cNvSpPr>
            <a:spLocks noGrp="1"/>
          </p:cNvSpPr>
          <p:nvPr>
            <p:ph type="sldNum" sz="quarter" idx="5"/>
          </p:nvPr>
        </p:nvSpPr>
        <p:spPr/>
        <p:txBody>
          <a:bodyPr/>
          <a:lstStyle/>
          <a:p>
            <a:fld id="{66610047-E131-0346-ABBC-77645D001C55}" type="slidenum">
              <a:rPr lang="en-US" smtClean="0"/>
              <a:t>78</a:t>
            </a:fld>
            <a:endParaRPr lang="en-US"/>
          </a:p>
        </p:txBody>
      </p:sp>
    </p:spTree>
    <p:extLst>
      <p:ext uri="{BB962C8B-B14F-4D97-AF65-F5344CB8AC3E}">
        <p14:creationId xmlns:p14="http://schemas.microsoft.com/office/powerpoint/2010/main" val="16100238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data labels! It tells us nothing!</a:t>
            </a:r>
          </a:p>
        </p:txBody>
      </p:sp>
      <p:sp>
        <p:nvSpPr>
          <p:cNvPr id="4" name="Slide Number Placeholder 3"/>
          <p:cNvSpPr>
            <a:spLocks noGrp="1"/>
          </p:cNvSpPr>
          <p:nvPr>
            <p:ph type="sldNum" sz="quarter" idx="5"/>
          </p:nvPr>
        </p:nvSpPr>
        <p:spPr/>
        <p:txBody>
          <a:bodyPr/>
          <a:lstStyle/>
          <a:p>
            <a:fld id="{66610047-E131-0346-ABBC-77645D001C55}" type="slidenum">
              <a:rPr lang="en-US" smtClean="0"/>
              <a:t>79</a:t>
            </a:fld>
            <a:endParaRPr lang="en-US"/>
          </a:p>
        </p:txBody>
      </p:sp>
    </p:spTree>
    <p:extLst>
      <p:ext uri="{BB962C8B-B14F-4D97-AF65-F5344CB8AC3E}">
        <p14:creationId xmlns:p14="http://schemas.microsoft.com/office/powerpoint/2010/main" val="26192757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80</a:t>
            </a:fld>
            <a:endParaRPr lang="en-US"/>
          </a:p>
        </p:txBody>
      </p:sp>
    </p:spTree>
    <p:extLst>
      <p:ext uri="{BB962C8B-B14F-4D97-AF65-F5344CB8AC3E}">
        <p14:creationId xmlns:p14="http://schemas.microsoft.com/office/powerpoint/2010/main" val="20781214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from the book</a:t>
            </a:r>
          </a:p>
        </p:txBody>
      </p:sp>
      <p:sp>
        <p:nvSpPr>
          <p:cNvPr id="4" name="Slide Number Placeholder 3"/>
          <p:cNvSpPr>
            <a:spLocks noGrp="1"/>
          </p:cNvSpPr>
          <p:nvPr>
            <p:ph type="sldNum" sz="quarter" idx="5"/>
          </p:nvPr>
        </p:nvSpPr>
        <p:spPr/>
        <p:txBody>
          <a:bodyPr/>
          <a:lstStyle/>
          <a:p>
            <a:fld id="{66610047-E131-0346-ABBC-77645D001C55}" type="slidenum">
              <a:rPr lang="en-US" smtClean="0"/>
              <a:t>81</a:t>
            </a:fld>
            <a:endParaRPr lang="en-US"/>
          </a:p>
        </p:txBody>
      </p:sp>
    </p:spTree>
    <p:extLst>
      <p:ext uri="{BB962C8B-B14F-4D97-AF65-F5344CB8AC3E}">
        <p14:creationId xmlns:p14="http://schemas.microsoft.com/office/powerpoint/2010/main" val="2291858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85</a:t>
            </a:fld>
            <a:endParaRPr lang="en-US"/>
          </a:p>
        </p:txBody>
      </p:sp>
    </p:spTree>
    <p:extLst>
      <p:ext uri="{BB962C8B-B14F-4D97-AF65-F5344CB8AC3E}">
        <p14:creationId xmlns:p14="http://schemas.microsoft.com/office/powerpoint/2010/main" val="391414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D1CAB-AB50-454B-B04D-E06D056642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2DF1B7-E36E-6D4C-92F5-EFE2BEAFC5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5ECD7F-BEA5-4D4D-BE8A-03D4AE9DEBC7}"/>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5" name="Footer Placeholder 4">
            <a:extLst>
              <a:ext uri="{FF2B5EF4-FFF2-40B4-BE49-F238E27FC236}">
                <a16:creationId xmlns:a16="http://schemas.microsoft.com/office/drawing/2014/main" id="{5F388066-452A-8245-8511-94BFE62FC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1A180D-DD45-F346-BE9B-3E8AF1BD6ABB}"/>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4253115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689C8-E319-A140-81ED-8DC64C3BEE59}"/>
              </a:ext>
            </a:extLst>
          </p:cNvPr>
          <p:cNvSpPr>
            <a:spLocks noGrp="1"/>
          </p:cNvSpPr>
          <p:nvPr>
            <p:ph type="title"/>
          </p:nvPr>
        </p:nvSpPr>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461AA9F8-7BF4-3649-A3FA-F82572D370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009B26-5D8A-9D40-BB52-E4E2136A219F}"/>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5" name="Footer Placeholder 4">
            <a:extLst>
              <a:ext uri="{FF2B5EF4-FFF2-40B4-BE49-F238E27FC236}">
                <a16:creationId xmlns:a16="http://schemas.microsoft.com/office/drawing/2014/main" id="{07119CF7-10D8-E940-9A76-756E34A7C0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FA0CD-3811-3C41-B371-D9F541386BE2}"/>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115638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17C31-3AE3-B44B-B806-C9F7646E11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FC74CB-1E9D-EB47-8273-E824D634B8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5BB330-9C49-E846-B60B-26EFB104483D}"/>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5" name="Footer Placeholder 4">
            <a:extLst>
              <a:ext uri="{FF2B5EF4-FFF2-40B4-BE49-F238E27FC236}">
                <a16:creationId xmlns:a16="http://schemas.microsoft.com/office/drawing/2014/main" id="{240F3F64-CB85-5540-85B6-11151A6F0F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9ABE2C-7E2E-0044-8A23-C847A87F887F}"/>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743929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DC9C6-7794-4045-9C4D-F389DF84787E}"/>
              </a:ext>
            </a:extLst>
          </p:cNvPr>
          <p:cNvSpPr>
            <a:spLocks noGrp="1"/>
          </p:cNvSpPr>
          <p:nvPr>
            <p:ph type="title"/>
          </p:nvPr>
        </p:nvSpPr>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F681D370-B4F7-274E-98C3-09FFAD98BF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FBAC88-D941-6147-9BC6-F33ABF1BE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8BC82D-C44F-134E-B602-6D1762D7416F}"/>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6" name="Footer Placeholder 5">
            <a:extLst>
              <a:ext uri="{FF2B5EF4-FFF2-40B4-BE49-F238E27FC236}">
                <a16:creationId xmlns:a16="http://schemas.microsoft.com/office/drawing/2014/main" id="{2C1A3F2C-46AC-2D48-BDEA-4E97468C17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205A3C-80D0-A34A-84B9-73C7AAA7722B}"/>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826684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1B601-30AA-864B-8CAE-D7462F472E51}"/>
              </a:ext>
            </a:extLst>
          </p:cNvPr>
          <p:cNvSpPr>
            <a:spLocks noGrp="1"/>
          </p:cNvSpPr>
          <p:nvPr>
            <p:ph type="title"/>
          </p:nvPr>
        </p:nvSpPr>
        <p:spPr>
          <a:xfrm>
            <a:off x="839788" y="365125"/>
            <a:ext cx="10515600" cy="1325563"/>
          </a:xfrm>
        </p:spPr>
        <p:txBody>
          <a:bodyPr/>
          <a:lstStyle>
            <a:lvl1pPr algn="ctr">
              <a:defRPr/>
            </a:lvl1pPr>
          </a:lstStyle>
          <a:p>
            <a:r>
              <a:rPr lang="en-US" dirty="0"/>
              <a:t>Click to edit Master title style</a:t>
            </a:r>
          </a:p>
        </p:txBody>
      </p:sp>
      <p:sp>
        <p:nvSpPr>
          <p:cNvPr id="3" name="Text Placeholder 2">
            <a:extLst>
              <a:ext uri="{FF2B5EF4-FFF2-40B4-BE49-F238E27FC236}">
                <a16:creationId xmlns:a16="http://schemas.microsoft.com/office/drawing/2014/main" id="{2CCEE3AF-3CA2-544A-B58C-238A02761B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EF6DCA-044C-9749-984C-1F786319E5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B7EDD4-FD70-F84D-8856-EAA12A6793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A30E22-29DF-6244-A34F-F79E5EED9F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99684B-46CD-D144-AD76-83D9E3F6ED87}"/>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8" name="Footer Placeholder 7">
            <a:extLst>
              <a:ext uri="{FF2B5EF4-FFF2-40B4-BE49-F238E27FC236}">
                <a16:creationId xmlns:a16="http://schemas.microsoft.com/office/drawing/2014/main" id="{618DBBD2-1778-114E-9148-5913A78D3B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F1E1B6-2DCB-7E4C-92CF-3A6FD26BA9A8}"/>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258992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01768-18F4-944D-8B40-29B5C7AC0786}"/>
              </a:ext>
            </a:extLst>
          </p:cNvPr>
          <p:cNvSpPr>
            <a:spLocks noGrp="1"/>
          </p:cNvSpPr>
          <p:nvPr>
            <p:ph type="title"/>
          </p:nvPr>
        </p:nvSpPr>
        <p:spPr/>
        <p:txBody>
          <a:bodyPr/>
          <a:lstStyle>
            <a:lvl1pPr algn="ctr">
              <a:defRPr/>
            </a:lvl1pPr>
          </a:lstStyle>
          <a:p>
            <a:r>
              <a:rPr lang="en-US" dirty="0"/>
              <a:t>Click to edit Master title style</a:t>
            </a:r>
          </a:p>
        </p:txBody>
      </p:sp>
      <p:sp>
        <p:nvSpPr>
          <p:cNvPr id="3" name="Date Placeholder 2">
            <a:extLst>
              <a:ext uri="{FF2B5EF4-FFF2-40B4-BE49-F238E27FC236}">
                <a16:creationId xmlns:a16="http://schemas.microsoft.com/office/drawing/2014/main" id="{2663B43E-21A1-7545-9A35-CC87E7747FEB}"/>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4" name="Footer Placeholder 3">
            <a:extLst>
              <a:ext uri="{FF2B5EF4-FFF2-40B4-BE49-F238E27FC236}">
                <a16:creationId xmlns:a16="http://schemas.microsoft.com/office/drawing/2014/main" id="{2B9654D0-04B2-2548-9FBD-5242066802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B61330-9DBE-AB4A-9C30-E72F61C85BF4}"/>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621548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5364A2-06CD-5C40-9B1C-1FF81AF5E478}"/>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3" name="Footer Placeholder 2">
            <a:extLst>
              <a:ext uri="{FF2B5EF4-FFF2-40B4-BE49-F238E27FC236}">
                <a16:creationId xmlns:a16="http://schemas.microsoft.com/office/drawing/2014/main" id="{567D1A39-4A51-624D-AF88-C45CB1B928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510F21-1DE7-B243-BD5D-08AA9D30CC9A}"/>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285683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1C07-986E-D44C-8084-EF23A87A8D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E60D54-D6EE-B444-9F23-1B02E8FE9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F8DD51-C767-5847-A748-1B10D8F52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1E32EC-E8AF-6F43-89E4-0CE93890C950}"/>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6" name="Footer Placeholder 5">
            <a:extLst>
              <a:ext uri="{FF2B5EF4-FFF2-40B4-BE49-F238E27FC236}">
                <a16:creationId xmlns:a16="http://schemas.microsoft.com/office/drawing/2014/main" id="{B34BCBE3-C6BF-E444-A8F7-417155533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72E21D-8539-E647-9CBC-4BB7BC817D13}"/>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956155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3DD87-2747-1E4D-8525-CAB9F080E41E}"/>
              </a:ext>
            </a:extLst>
          </p:cNvPr>
          <p:cNvSpPr>
            <a:spLocks noGrp="1"/>
          </p:cNvSpPr>
          <p:nvPr>
            <p:ph type="title"/>
          </p:nvPr>
        </p:nvSpPr>
        <p:spPr>
          <a:xfrm>
            <a:off x="839788" y="457200"/>
            <a:ext cx="3932237" cy="1600200"/>
          </a:xfrm>
        </p:spPr>
        <p:txBody>
          <a:bodyPr anchor="b"/>
          <a:lstStyle>
            <a:lvl1pPr algn="ct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5BC77A76-802C-774E-B82D-A7FD679370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90B91A-5C3A-AE4D-9E83-3E73662DE4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3249E4-BD91-E94D-8D56-78F34E2E9AD6}"/>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6" name="Footer Placeholder 5">
            <a:extLst>
              <a:ext uri="{FF2B5EF4-FFF2-40B4-BE49-F238E27FC236}">
                <a16:creationId xmlns:a16="http://schemas.microsoft.com/office/drawing/2014/main" id="{E075AB9F-6D7B-7B49-A36C-B2BBCD10D8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8DD4DB-B81E-1446-A526-4F8844BC9B4A}"/>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631153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571B4-4124-0844-9579-981889A163AD}"/>
              </a:ext>
            </a:extLst>
          </p:cNvPr>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63037BA5-B7DB-8244-A55A-020B13A390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661EA8-2460-5340-BE0E-0EEF224DFF4A}"/>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5" name="Footer Placeholder 4">
            <a:extLst>
              <a:ext uri="{FF2B5EF4-FFF2-40B4-BE49-F238E27FC236}">
                <a16:creationId xmlns:a16="http://schemas.microsoft.com/office/drawing/2014/main" id="{66AA5A18-8E9C-134B-83B1-4E06F30D4C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148EE6-42F5-6848-B2CE-7E9DBFD5A442}"/>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1172065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5BDBDF-524C-154B-9900-44A8F819B6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1D9678-B3E4-D940-AE48-EC66DF483E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8946D9-D246-D843-B05D-A5AF81C8AEA6}"/>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5" name="Footer Placeholder 4">
            <a:extLst>
              <a:ext uri="{FF2B5EF4-FFF2-40B4-BE49-F238E27FC236}">
                <a16:creationId xmlns:a16="http://schemas.microsoft.com/office/drawing/2014/main" id="{0EE22E6F-3988-E74E-B293-BD840BD63B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F66EBE-72AA-174F-9968-BF4561A9EE79}"/>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3168695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980386-ACEA-864A-8B44-C8DEA7D4F6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05CBA7B-6DA4-B74E-ACD6-EC151070E9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6E6E3B-4059-8547-9F14-BCA09AE962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BA763BF8-AC66-E249-9CE8-8353EEB16B82}" type="datetimeFigureOut">
              <a:rPr lang="en-US" smtClean="0"/>
              <a:pPr/>
              <a:t>9/23/25</a:t>
            </a:fld>
            <a:endParaRPr lang="en-US"/>
          </a:p>
        </p:txBody>
      </p:sp>
      <p:sp>
        <p:nvSpPr>
          <p:cNvPr id="5" name="Footer Placeholder 4">
            <a:extLst>
              <a:ext uri="{FF2B5EF4-FFF2-40B4-BE49-F238E27FC236}">
                <a16:creationId xmlns:a16="http://schemas.microsoft.com/office/drawing/2014/main" id="{817AE399-81D5-3E44-AA7A-88DFA85719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B2DF6F86-94CE-CF4F-93B3-A2367D4D2B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2D21E121-49A3-D64E-A5F9-356C90050E44}" type="slidenum">
              <a:rPr lang="en-US" smtClean="0"/>
              <a:pPr/>
              <a:t>‹#›</a:t>
            </a:fld>
            <a:endParaRPr lang="en-US"/>
          </a:p>
        </p:txBody>
      </p:sp>
    </p:spTree>
    <p:extLst>
      <p:ext uri="{BB962C8B-B14F-4D97-AF65-F5344CB8AC3E}">
        <p14:creationId xmlns:p14="http://schemas.microsoft.com/office/powerpoint/2010/main" val="3805489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C00000"/>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tif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7.emf"/></Relationships>
</file>

<file path=ppt/slides/_rels/slide82.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9317" y="1122363"/>
            <a:ext cx="10902461" cy="2387600"/>
          </a:xfrm>
        </p:spPr>
        <p:txBody>
          <a:bodyPr>
            <a:normAutofit/>
          </a:bodyPr>
          <a:lstStyle/>
          <a:p>
            <a:r>
              <a:rPr lang="en-GB" dirty="0"/>
              <a:t>Data Visualization and Bias</a:t>
            </a:r>
          </a:p>
        </p:txBody>
      </p:sp>
      <p:sp>
        <p:nvSpPr>
          <p:cNvPr id="3" name="Subtitle 2"/>
          <p:cNvSpPr>
            <a:spLocks noGrp="1"/>
          </p:cNvSpPr>
          <p:nvPr>
            <p:ph type="subTitle" idx="1"/>
          </p:nvPr>
        </p:nvSpPr>
        <p:spPr>
          <a:xfrm>
            <a:off x="1524000" y="3869324"/>
            <a:ext cx="9144000" cy="1655762"/>
          </a:xfrm>
        </p:spPr>
        <p:txBody>
          <a:bodyPr/>
          <a:lstStyle/>
          <a:p>
            <a:r>
              <a:rPr lang="en-GB" dirty="0"/>
              <a:t>Vanessa </a:t>
            </a:r>
            <a:r>
              <a:rPr lang="en-GB" dirty="0" err="1"/>
              <a:t>LoBue</a:t>
            </a:r>
            <a:endParaRPr lang="en-GB" dirty="0"/>
          </a:p>
          <a:p>
            <a:r>
              <a:rPr lang="en-GB" dirty="0"/>
              <a:t>Jamil </a:t>
            </a:r>
            <a:r>
              <a:rPr lang="en-GB" dirty="0" err="1"/>
              <a:t>Bhanji</a:t>
            </a:r>
            <a:endParaRPr lang="en-GB" dirty="0"/>
          </a:p>
          <a:p>
            <a:r>
              <a:rPr lang="en-GB" dirty="0"/>
              <a:t>with a little help from Andy Field</a:t>
            </a:r>
          </a:p>
        </p:txBody>
      </p:sp>
    </p:spTree>
    <p:extLst>
      <p:ext uri="{BB962C8B-B14F-4D97-AF65-F5344CB8AC3E}">
        <p14:creationId xmlns:p14="http://schemas.microsoft.com/office/powerpoint/2010/main" val="907586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GB" dirty="0"/>
              <a:t>Aims</a:t>
            </a:r>
            <a:endParaRPr lang="en-US" dirty="0"/>
          </a:p>
        </p:txBody>
      </p:sp>
      <p:sp>
        <p:nvSpPr>
          <p:cNvPr id="4099" name="Rectangle 3"/>
          <p:cNvSpPr>
            <a:spLocks noGrp="1" noChangeArrowheads="1"/>
          </p:cNvSpPr>
          <p:nvPr>
            <p:ph idx="1"/>
          </p:nvPr>
        </p:nvSpPr>
        <p:spPr>
          <a:xfrm>
            <a:off x="697523" y="1473933"/>
            <a:ext cx="10515600" cy="4351338"/>
          </a:xfrm>
        </p:spPr>
        <p:txBody>
          <a:bodyPr>
            <a:noAutofit/>
          </a:bodyPr>
          <a:lstStyle/>
          <a:p>
            <a:pPr>
              <a:lnSpc>
                <a:spcPct val="90000"/>
              </a:lnSpc>
            </a:pPr>
            <a:r>
              <a:rPr lang="en-GB" sz="3200" dirty="0"/>
              <a:t>What is a statistical model?</a:t>
            </a:r>
          </a:p>
          <a:p>
            <a:pPr>
              <a:lnSpc>
                <a:spcPct val="90000"/>
              </a:lnSpc>
            </a:pPr>
            <a:endParaRPr lang="en-GB" sz="3200" dirty="0"/>
          </a:p>
          <a:p>
            <a:pPr>
              <a:lnSpc>
                <a:spcPct val="90000"/>
              </a:lnSpc>
            </a:pPr>
            <a:r>
              <a:rPr lang="en-GB" sz="3200" dirty="0"/>
              <a:t>Bias, and assumptions of parametric tests based on the normal distribution</a:t>
            </a:r>
          </a:p>
          <a:p>
            <a:pPr>
              <a:lnSpc>
                <a:spcPct val="90000"/>
              </a:lnSpc>
            </a:pPr>
            <a:endParaRPr lang="en-US" sz="3200" dirty="0"/>
          </a:p>
          <a:p>
            <a:pPr>
              <a:lnSpc>
                <a:spcPct val="90000"/>
              </a:lnSpc>
            </a:pPr>
            <a:r>
              <a:rPr lang="en-GB" sz="3200" dirty="0"/>
              <a:t>Know how to handle problems in the data</a:t>
            </a:r>
          </a:p>
          <a:p>
            <a:pPr>
              <a:lnSpc>
                <a:spcPct val="90000"/>
              </a:lnSpc>
            </a:pPr>
            <a:endParaRPr lang="en-GB" sz="3200" dirty="0"/>
          </a:p>
          <a:p>
            <a:pPr>
              <a:lnSpc>
                <a:spcPct val="90000"/>
              </a:lnSpc>
            </a:pPr>
            <a:r>
              <a:rPr lang="en-GB" sz="3200" dirty="0"/>
              <a:t>Data visualization techniques</a:t>
            </a:r>
          </a:p>
        </p:txBody>
      </p:sp>
    </p:spTree>
    <p:extLst>
      <p:ext uri="{BB962C8B-B14F-4D97-AF65-F5344CB8AC3E}">
        <p14:creationId xmlns:p14="http://schemas.microsoft.com/office/powerpoint/2010/main" val="184986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r>
              <a:rPr lang="en-GB" dirty="0"/>
              <a:t>A Simple Statistical Model</a:t>
            </a:r>
          </a:p>
        </p:txBody>
      </p:sp>
      <p:sp>
        <p:nvSpPr>
          <p:cNvPr id="152579" name="Rectangle 3"/>
          <p:cNvSpPr>
            <a:spLocks noGrp="1" noChangeArrowheads="1"/>
          </p:cNvSpPr>
          <p:nvPr>
            <p:ph idx="1"/>
          </p:nvPr>
        </p:nvSpPr>
        <p:spPr/>
        <p:txBody>
          <a:bodyPr>
            <a:noAutofit/>
          </a:bodyPr>
          <a:lstStyle/>
          <a:p>
            <a:pPr>
              <a:spcBef>
                <a:spcPct val="30000"/>
              </a:spcBef>
              <a:spcAft>
                <a:spcPct val="30000"/>
              </a:spcAft>
            </a:pPr>
            <a:r>
              <a:rPr lang="en-GB" sz="3200" dirty="0"/>
              <a:t>In Statistics we fit models to our data (i.e. we use a statistical model to represent what is happening in the real world)</a:t>
            </a:r>
          </a:p>
          <a:p>
            <a:pPr>
              <a:spcBef>
                <a:spcPct val="30000"/>
              </a:spcBef>
              <a:spcAft>
                <a:spcPct val="30000"/>
              </a:spcAft>
            </a:pPr>
            <a:r>
              <a:rPr lang="en-GB" sz="3200" dirty="0"/>
              <a:t>The mean is a hypothetical value (i.e. it doesn’t have to be a value that actually exists in the data set)</a:t>
            </a:r>
          </a:p>
          <a:p>
            <a:pPr>
              <a:spcBef>
                <a:spcPct val="30000"/>
              </a:spcBef>
              <a:spcAft>
                <a:spcPct val="30000"/>
              </a:spcAft>
            </a:pPr>
            <a:endParaRPr lang="en-GB" sz="3200" dirty="0"/>
          </a:p>
          <a:p>
            <a:pPr>
              <a:spcBef>
                <a:spcPct val="30000"/>
              </a:spcBef>
              <a:spcAft>
                <a:spcPct val="30000"/>
              </a:spcAft>
            </a:pPr>
            <a:r>
              <a:rPr lang="en-GB" sz="3200" dirty="0"/>
              <a:t>As such, the mean is simple statistical model</a:t>
            </a:r>
          </a:p>
        </p:txBody>
      </p:sp>
    </p:spTree>
    <p:extLst>
      <p:ext uri="{BB962C8B-B14F-4D97-AF65-F5344CB8AC3E}">
        <p14:creationId xmlns:p14="http://schemas.microsoft.com/office/powerpoint/2010/main" val="2543925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25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25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25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9"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GB" dirty="0"/>
              <a:t>Measuring the ‘fit’ of the model</a:t>
            </a:r>
          </a:p>
        </p:txBody>
      </p:sp>
      <p:sp>
        <p:nvSpPr>
          <p:cNvPr id="123907" name="Rectangle 3"/>
          <p:cNvSpPr>
            <a:spLocks noGrp="1" noChangeArrowheads="1"/>
          </p:cNvSpPr>
          <p:nvPr>
            <p:ph idx="1"/>
          </p:nvPr>
        </p:nvSpPr>
        <p:spPr>
          <a:xfrm>
            <a:off x="1163782" y="1892301"/>
            <a:ext cx="9947563" cy="4233863"/>
          </a:xfrm>
        </p:spPr>
        <p:txBody>
          <a:bodyPr>
            <a:normAutofit/>
          </a:bodyPr>
          <a:lstStyle/>
          <a:p>
            <a:r>
              <a:rPr lang="en-GB" sz="3200" dirty="0"/>
              <a:t>The mean is a </a:t>
            </a:r>
            <a:r>
              <a:rPr lang="en-GB" sz="3200" i="1" dirty="0"/>
              <a:t>model</a:t>
            </a:r>
            <a:r>
              <a:rPr lang="en-GB" sz="3200" dirty="0"/>
              <a:t> of what happens in the real world: the </a:t>
            </a:r>
            <a:r>
              <a:rPr lang="en-GB" sz="3200" i="1" dirty="0"/>
              <a:t>typical</a:t>
            </a:r>
            <a:r>
              <a:rPr lang="en-GB" sz="3200" dirty="0"/>
              <a:t> score</a:t>
            </a:r>
          </a:p>
          <a:p>
            <a:endParaRPr lang="en-GB" sz="3200" dirty="0"/>
          </a:p>
          <a:p>
            <a:r>
              <a:rPr lang="en-GB" sz="3200" dirty="0"/>
              <a:t>It is not a perfect representation of the data</a:t>
            </a:r>
          </a:p>
          <a:p>
            <a:endParaRPr lang="en-GB" sz="3200" dirty="0"/>
          </a:p>
          <a:p>
            <a:r>
              <a:rPr lang="en-GB" sz="3200" dirty="0"/>
              <a:t>How can we assess how well the mean represents reality?</a:t>
            </a:r>
          </a:p>
        </p:txBody>
      </p:sp>
    </p:spTree>
    <p:extLst>
      <p:ext uri="{BB962C8B-B14F-4D97-AF65-F5344CB8AC3E}">
        <p14:creationId xmlns:p14="http://schemas.microsoft.com/office/powerpoint/2010/main" val="1920906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9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39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r>
              <a:rPr lang="en-GB" dirty="0"/>
              <a:t>Calculating ‘Error’</a:t>
            </a:r>
          </a:p>
        </p:txBody>
      </p:sp>
      <p:sp>
        <p:nvSpPr>
          <p:cNvPr id="125955" name="Rectangle 3"/>
          <p:cNvSpPr>
            <a:spLocks noGrp="1" noChangeArrowheads="1"/>
          </p:cNvSpPr>
          <p:nvPr>
            <p:ph idx="1"/>
          </p:nvPr>
        </p:nvSpPr>
        <p:spPr/>
        <p:txBody>
          <a:bodyPr>
            <a:normAutofit/>
          </a:bodyPr>
          <a:lstStyle/>
          <a:p>
            <a:pPr>
              <a:lnSpc>
                <a:spcPct val="90000"/>
              </a:lnSpc>
              <a:spcBef>
                <a:spcPct val="30000"/>
              </a:spcBef>
              <a:spcAft>
                <a:spcPct val="30000"/>
              </a:spcAft>
            </a:pPr>
            <a:r>
              <a:rPr lang="en-GB" sz="3200" dirty="0"/>
              <a:t>A deviation is the difference between the mean and an actual data point.</a:t>
            </a:r>
          </a:p>
          <a:p>
            <a:pPr>
              <a:lnSpc>
                <a:spcPct val="90000"/>
              </a:lnSpc>
              <a:spcBef>
                <a:spcPct val="30000"/>
              </a:spcBef>
              <a:spcAft>
                <a:spcPct val="30000"/>
              </a:spcAft>
            </a:pPr>
            <a:endParaRPr lang="en-GB" sz="3200" dirty="0"/>
          </a:p>
          <a:p>
            <a:pPr>
              <a:lnSpc>
                <a:spcPct val="90000"/>
              </a:lnSpc>
              <a:spcBef>
                <a:spcPct val="30000"/>
              </a:spcBef>
              <a:spcAft>
                <a:spcPct val="30000"/>
              </a:spcAft>
            </a:pPr>
            <a:r>
              <a:rPr lang="en-GB" sz="3200" dirty="0"/>
              <a:t>Deviations can be calculated by taking each score and subtracting the mean from it:</a:t>
            </a:r>
          </a:p>
        </p:txBody>
      </p:sp>
      <p:pic>
        <p:nvPicPr>
          <p:cNvPr id="2" name="Picture 1"/>
          <p:cNvPicPr>
            <a:picLocks noChangeAspect="1"/>
          </p:cNvPicPr>
          <p:nvPr/>
        </p:nvPicPr>
        <p:blipFill>
          <a:blip r:embed="rId3"/>
          <a:stretch>
            <a:fillRect/>
          </a:stretch>
        </p:blipFill>
        <p:spPr>
          <a:xfrm>
            <a:off x="3617191" y="4978977"/>
            <a:ext cx="5257800" cy="762000"/>
          </a:xfrm>
          <a:prstGeom prst="rect">
            <a:avLst/>
          </a:prstGeom>
        </p:spPr>
      </p:pic>
    </p:spTree>
    <p:extLst>
      <p:ext uri="{BB962C8B-B14F-4D97-AF65-F5344CB8AC3E}">
        <p14:creationId xmlns:p14="http://schemas.microsoft.com/office/powerpoint/2010/main" val="241812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9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59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5C015-8802-D74D-A662-45D2BC5056E6}"/>
              </a:ext>
            </a:extLst>
          </p:cNvPr>
          <p:cNvSpPr>
            <a:spLocks noGrp="1"/>
          </p:cNvSpPr>
          <p:nvPr>
            <p:ph type="title"/>
          </p:nvPr>
        </p:nvSpPr>
        <p:spPr/>
        <p:txBody>
          <a:bodyPr/>
          <a:lstStyle/>
          <a:p>
            <a:r>
              <a:rPr lang="en-GB" dirty="0"/>
              <a:t>Calculating ‘Error’</a:t>
            </a:r>
            <a:endParaRPr lang="en-US" dirty="0"/>
          </a:p>
        </p:txBody>
      </p:sp>
      <p:pic>
        <p:nvPicPr>
          <p:cNvPr id="4" name="Picture 3">
            <a:extLst>
              <a:ext uri="{FF2B5EF4-FFF2-40B4-BE49-F238E27FC236}">
                <a16:creationId xmlns:a16="http://schemas.microsoft.com/office/drawing/2014/main" id="{B81B25A4-4361-4F4E-AC2D-B9D06D473E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0219" y="1958753"/>
            <a:ext cx="5932766" cy="4241047"/>
          </a:xfrm>
          <a:prstGeom prst="rect">
            <a:avLst/>
          </a:prstGeom>
        </p:spPr>
      </p:pic>
    </p:spTree>
    <p:extLst>
      <p:ext uri="{BB962C8B-B14F-4D97-AF65-F5344CB8AC3E}">
        <p14:creationId xmlns:p14="http://schemas.microsoft.com/office/powerpoint/2010/main" val="444382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2860675" y="196850"/>
            <a:ext cx="7150100" cy="1143000"/>
          </a:xfrm>
        </p:spPr>
        <p:txBody>
          <a:bodyPr/>
          <a:lstStyle/>
          <a:p>
            <a:pPr eaLnBrk="1" hangingPunct="1"/>
            <a:r>
              <a:rPr lang="en-GB"/>
              <a:t>Use the Total Error?</a:t>
            </a:r>
          </a:p>
        </p:txBody>
      </p:sp>
      <p:sp>
        <p:nvSpPr>
          <p:cNvPr id="129027" name="Rectangle 3"/>
          <p:cNvSpPr>
            <a:spLocks noGrp="1" noChangeArrowheads="1"/>
          </p:cNvSpPr>
          <p:nvPr>
            <p:ph idx="1"/>
          </p:nvPr>
        </p:nvSpPr>
        <p:spPr>
          <a:xfrm>
            <a:off x="1039091" y="1273175"/>
            <a:ext cx="10183091" cy="1238250"/>
          </a:xfrm>
        </p:spPr>
        <p:txBody>
          <a:bodyPr/>
          <a:lstStyle/>
          <a:p>
            <a:pPr eaLnBrk="1" hangingPunct="1"/>
            <a:r>
              <a:rPr lang="en-GB" sz="2800" dirty="0"/>
              <a:t>We could just take the error between the mean and the data and add them.</a:t>
            </a:r>
          </a:p>
        </p:txBody>
      </p:sp>
      <p:graphicFrame>
        <p:nvGraphicFramePr>
          <p:cNvPr id="7" name="Table 6"/>
          <p:cNvGraphicFramePr>
            <a:graphicFrameLocks noGrp="1"/>
          </p:cNvGraphicFramePr>
          <p:nvPr/>
        </p:nvGraphicFramePr>
        <p:xfrm>
          <a:off x="4013200" y="2705101"/>
          <a:ext cx="4476750" cy="3302003"/>
        </p:xfrm>
        <a:graphic>
          <a:graphicData uri="http://schemas.openxmlformats.org/drawingml/2006/table">
            <a:tbl>
              <a:tblPr firstRow="1" bandRow="1">
                <a:tableStyleId>{21E4AEA4-8DFA-4A89-87EB-49C32662AFE0}</a:tableStyleId>
              </a:tblPr>
              <a:tblGrid>
                <a:gridCol w="1492250">
                  <a:extLst>
                    <a:ext uri="{9D8B030D-6E8A-4147-A177-3AD203B41FA5}">
                      <a16:colId xmlns:a16="http://schemas.microsoft.com/office/drawing/2014/main" val="20000"/>
                    </a:ext>
                  </a:extLst>
                </a:gridCol>
                <a:gridCol w="1492250">
                  <a:extLst>
                    <a:ext uri="{9D8B030D-6E8A-4147-A177-3AD203B41FA5}">
                      <a16:colId xmlns:a16="http://schemas.microsoft.com/office/drawing/2014/main" val="20001"/>
                    </a:ext>
                  </a:extLst>
                </a:gridCol>
                <a:gridCol w="1492250">
                  <a:extLst>
                    <a:ext uri="{9D8B030D-6E8A-4147-A177-3AD203B41FA5}">
                      <a16:colId xmlns:a16="http://schemas.microsoft.com/office/drawing/2014/main" val="20002"/>
                    </a:ext>
                  </a:extLst>
                </a:gridCol>
              </a:tblGrid>
              <a:tr h="737681">
                <a:tc>
                  <a:txBody>
                    <a:bodyPr/>
                    <a:lstStyle/>
                    <a:p>
                      <a:pPr algn="ctr"/>
                      <a:r>
                        <a:rPr lang="en-GB" dirty="0"/>
                        <a:t>Score</a:t>
                      </a:r>
                    </a:p>
                  </a:txBody>
                  <a:tcPr anchor="ctr"/>
                </a:tc>
                <a:tc>
                  <a:txBody>
                    <a:bodyPr/>
                    <a:lstStyle/>
                    <a:p>
                      <a:pPr algn="ctr"/>
                      <a:r>
                        <a:rPr lang="en-GB" dirty="0"/>
                        <a:t>Mean </a:t>
                      </a:r>
                    </a:p>
                  </a:txBody>
                  <a:tcPr anchor="ctr"/>
                </a:tc>
                <a:tc>
                  <a:txBody>
                    <a:bodyPr/>
                    <a:lstStyle/>
                    <a:p>
                      <a:pPr algn="ctr"/>
                      <a:r>
                        <a:rPr lang="en-GB" dirty="0"/>
                        <a:t>Deviation</a:t>
                      </a:r>
                    </a:p>
                  </a:txBody>
                  <a:tcPr anchor="ctr"/>
                </a:tc>
                <a:extLst>
                  <a:ext uri="{0D108BD9-81ED-4DB2-BD59-A6C34878D82A}">
                    <a16:rowId xmlns:a16="http://schemas.microsoft.com/office/drawing/2014/main" val="10000"/>
                  </a:ext>
                </a:extLst>
              </a:tr>
              <a:tr h="427387">
                <a:tc>
                  <a:txBody>
                    <a:bodyPr/>
                    <a:lstStyle/>
                    <a:p>
                      <a:pPr algn="ctr"/>
                      <a:r>
                        <a:rPr lang="en-GB" dirty="0"/>
                        <a:t>1</a:t>
                      </a:r>
                    </a:p>
                  </a:txBody>
                  <a:tcPr anchor="ctr"/>
                </a:tc>
                <a:tc>
                  <a:txBody>
                    <a:bodyPr/>
                    <a:lstStyle/>
                    <a:p>
                      <a:pPr algn="ctr"/>
                      <a:r>
                        <a:rPr lang="en-GB" dirty="0"/>
                        <a:t>2.6</a:t>
                      </a:r>
                    </a:p>
                  </a:txBody>
                  <a:tcPr anchor="ctr"/>
                </a:tc>
                <a:tc>
                  <a:txBody>
                    <a:bodyPr/>
                    <a:lstStyle/>
                    <a:p>
                      <a:pPr algn="ctr"/>
                      <a:r>
                        <a:rPr lang="en-GB" dirty="0"/>
                        <a:t>-1.6</a:t>
                      </a:r>
                    </a:p>
                  </a:txBody>
                  <a:tcPr anchor="ctr"/>
                </a:tc>
                <a:extLst>
                  <a:ext uri="{0D108BD9-81ED-4DB2-BD59-A6C34878D82A}">
                    <a16:rowId xmlns:a16="http://schemas.microsoft.com/office/drawing/2014/main" val="10001"/>
                  </a:ext>
                </a:extLst>
              </a:tr>
              <a:tr h="427387">
                <a:tc>
                  <a:txBody>
                    <a:bodyPr/>
                    <a:lstStyle/>
                    <a:p>
                      <a:pPr algn="ctr"/>
                      <a:r>
                        <a:rPr lang="en-GB" dirty="0"/>
                        <a:t>2</a:t>
                      </a:r>
                    </a:p>
                  </a:txBody>
                  <a:tcPr anchor="ctr"/>
                </a:tc>
                <a:tc>
                  <a:txBody>
                    <a:bodyPr/>
                    <a:lstStyle/>
                    <a:p>
                      <a:pPr algn="ctr"/>
                      <a:r>
                        <a:rPr lang="en-GB" dirty="0"/>
                        <a:t>2.6</a:t>
                      </a:r>
                    </a:p>
                  </a:txBody>
                  <a:tcPr anchor="ctr"/>
                </a:tc>
                <a:tc>
                  <a:txBody>
                    <a:bodyPr/>
                    <a:lstStyle/>
                    <a:p>
                      <a:pPr algn="ctr"/>
                      <a:r>
                        <a:rPr lang="en-GB" dirty="0"/>
                        <a:t>-0.6</a:t>
                      </a:r>
                    </a:p>
                  </a:txBody>
                  <a:tcPr anchor="ctr"/>
                </a:tc>
                <a:extLst>
                  <a:ext uri="{0D108BD9-81ED-4DB2-BD59-A6C34878D82A}">
                    <a16:rowId xmlns:a16="http://schemas.microsoft.com/office/drawing/2014/main" val="10002"/>
                  </a:ext>
                </a:extLst>
              </a:tr>
              <a:tr h="427387">
                <a:tc>
                  <a:txBody>
                    <a:bodyPr/>
                    <a:lstStyle/>
                    <a:p>
                      <a:pPr algn="ctr"/>
                      <a:r>
                        <a:rPr lang="en-GB" dirty="0"/>
                        <a:t>3</a:t>
                      </a:r>
                    </a:p>
                  </a:txBody>
                  <a:tcPr anchor="ctr"/>
                </a:tc>
                <a:tc>
                  <a:txBody>
                    <a:bodyPr/>
                    <a:lstStyle/>
                    <a:p>
                      <a:pPr algn="ctr"/>
                      <a:r>
                        <a:rPr lang="en-GB" dirty="0"/>
                        <a:t>2.6</a:t>
                      </a:r>
                    </a:p>
                  </a:txBody>
                  <a:tcPr anchor="ctr"/>
                </a:tc>
                <a:tc>
                  <a:txBody>
                    <a:bodyPr/>
                    <a:lstStyle/>
                    <a:p>
                      <a:pPr algn="ctr"/>
                      <a:r>
                        <a:rPr lang="en-GB" dirty="0"/>
                        <a:t>0.4</a:t>
                      </a:r>
                    </a:p>
                  </a:txBody>
                  <a:tcPr anchor="ctr"/>
                </a:tc>
                <a:extLst>
                  <a:ext uri="{0D108BD9-81ED-4DB2-BD59-A6C34878D82A}">
                    <a16:rowId xmlns:a16="http://schemas.microsoft.com/office/drawing/2014/main" val="10003"/>
                  </a:ext>
                </a:extLst>
              </a:tr>
              <a:tr h="427387">
                <a:tc>
                  <a:txBody>
                    <a:bodyPr/>
                    <a:lstStyle/>
                    <a:p>
                      <a:pPr algn="ctr"/>
                      <a:r>
                        <a:rPr lang="en-GB" dirty="0"/>
                        <a:t>3</a:t>
                      </a:r>
                    </a:p>
                  </a:txBody>
                  <a:tcPr anchor="ctr"/>
                </a:tc>
                <a:tc>
                  <a:txBody>
                    <a:bodyPr/>
                    <a:lstStyle/>
                    <a:p>
                      <a:pPr algn="ctr"/>
                      <a:r>
                        <a:rPr lang="en-GB" dirty="0"/>
                        <a:t>2.6</a:t>
                      </a:r>
                    </a:p>
                  </a:txBody>
                  <a:tcPr anchor="ctr"/>
                </a:tc>
                <a:tc>
                  <a:txBody>
                    <a:bodyPr/>
                    <a:lstStyle/>
                    <a:p>
                      <a:pPr algn="ctr"/>
                      <a:r>
                        <a:rPr lang="en-GB" dirty="0"/>
                        <a:t>0.4</a:t>
                      </a:r>
                    </a:p>
                  </a:txBody>
                  <a:tcPr anchor="ctr"/>
                </a:tc>
                <a:extLst>
                  <a:ext uri="{0D108BD9-81ED-4DB2-BD59-A6C34878D82A}">
                    <a16:rowId xmlns:a16="http://schemas.microsoft.com/office/drawing/2014/main" val="10004"/>
                  </a:ext>
                </a:extLst>
              </a:tr>
              <a:tr h="427387">
                <a:tc>
                  <a:txBody>
                    <a:bodyPr/>
                    <a:lstStyle/>
                    <a:p>
                      <a:pPr algn="ctr"/>
                      <a:r>
                        <a:rPr lang="en-GB" dirty="0"/>
                        <a:t>4</a:t>
                      </a:r>
                    </a:p>
                  </a:txBody>
                  <a:tcPr anchor="ctr"/>
                </a:tc>
                <a:tc>
                  <a:txBody>
                    <a:bodyPr/>
                    <a:lstStyle/>
                    <a:p>
                      <a:pPr algn="ctr"/>
                      <a:r>
                        <a:rPr lang="en-GB" dirty="0"/>
                        <a:t>2.6</a:t>
                      </a:r>
                    </a:p>
                  </a:txBody>
                  <a:tcPr anchor="ctr"/>
                </a:tc>
                <a:tc>
                  <a:txBody>
                    <a:bodyPr/>
                    <a:lstStyle/>
                    <a:p>
                      <a:pPr algn="ctr"/>
                      <a:r>
                        <a:rPr lang="en-GB" dirty="0"/>
                        <a:t>1.4</a:t>
                      </a:r>
                    </a:p>
                  </a:txBody>
                  <a:tcPr anchor="ctr"/>
                </a:tc>
                <a:extLst>
                  <a:ext uri="{0D108BD9-81ED-4DB2-BD59-A6C34878D82A}">
                    <a16:rowId xmlns:a16="http://schemas.microsoft.com/office/drawing/2014/main" val="10005"/>
                  </a:ext>
                </a:extLst>
              </a:tr>
              <a:tr h="427387">
                <a:tc>
                  <a:txBody>
                    <a:bodyPr/>
                    <a:lstStyle/>
                    <a:p>
                      <a:pPr algn="ctr"/>
                      <a:endParaRPr lang="en-GB"/>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dirty="0"/>
                        <a:t>Total =</a:t>
                      </a:r>
                    </a:p>
                  </a:txBody>
                  <a:tcPr anchor="ctr"/>
                </a:tc>
                <a:tc>
                  <a:txBody>
                    <a:bodyPr/>
                    <a:lstStyle/>
                    <a:p>
                      <a:pPr algn="ctr"/>
                      <a:r>
                        <a:rPr lang="en-GB" dirty="0"/>
                        <a:t>0</a:t>
                      </a:r>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47918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902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en-GB" dirty="0"/>
              <a:t>Sum of Squared Errors</a:t>
            </a:r>
          </a:p>
        </p:txBody>
      </p:sp>
      <p:sp>
        <p:nvSpPr>
          <p:cNvPr id="130051" name="Rectangle 3"/>
          <p:cNvSpPr>
            <a:spLocks noGrp="1" noChangeArrowheads="1"/>
          </p:cNvSpPr>
          <p:nvPr>
            <p:ph idx="1"/>
          </p:nvPr>
        </p:nvSpPr>
        <p:spPr>
          <a:xfrm>
            <a:off x="955964" y="1698992"/>
            <a:ext cx="10238509" cy="5204835"/>
          </a:xfrm>
        </p:spPr>
        <p:txBody>
          <a:bodyPr>
            <a:noAutofit/>
          </a:bodyPr>
          <a:lstStyle/>
          <a:p>
            <a:pPr>
              <a:spcBef>
                <a:spcPct val="30000"/>
              </a:spcBef>
              <a:spcAft>
                <a:spcPct val="30000"/>
              </a:spcAft>
            </a:pPr>
            <a:r>
              <a:rPr lang="en-GB" sz="3200" dirty="0"/>
              <a:t>We could add the deviations to find out the total error.</a:t>
            </a:r>
          </a:p>
          <a:p>
            <a:pPr>
              <a:spcBef>
                <a:spcPct val="30000"/>
              </a:spcBef>
              <a:spcAft>
                <a:spcPct val="30000"/>
              </a:spcAft>
            </a:pPr>
            <a:r>
              <a:rPr lang="en-GB" sz="3200" dirty="0"/>
              <a:t>Deviations cancel out because some are positive and others negative. </a:t>
            </a:r>
          </a:p>
          <a:p>
            <a:pPr>
              <a:spcBef>
                <a:spcPct val="30000"/>
              </a:spcBef>
              <a:spcAft>
                <a:spcPct val="30000"/>
              </a:spcAft>
            </a:pPr>
            <a:r>
              <a:rPr lang="en-GB" sz="3200" dirty="0"/>
              <a:t>Therefore, we square each deviation.</a:t>
            </a:r>
          </a:p>
          <a:p>
            <a:pPr>
              <a:spcBef>
                <a:spcPct val="30000"/>
              </a:spcBef>
              <a:spcAft>
                <a:spcPct val="30000"/>
              </a:spcAft>
            </a:pPr>
            <a:endParaRPr lang="en-GB" sz="3200" dirty="0"/>
          </a:p>
          <a:p>
            <a:pPr>
              <a:spcBef>
                <a:spcPct val="30000"/>
              </a:spcBef>
              <a:spcAft>
                <a:spcPct val="30000"/>
              </a:spcAft>
            </a:pPr>
            <a:r>
              <a:rPr lang="en-GB" sz="3200" dirty="0"/>
              <a:t>If we add these squared deviations we get the </a:t>
            </a:r>
            <a:r>
              <a:rPr lang="en-GB" sz="3200" dirty="0">
                <a:solidFill>
                  <a:srgbClr val="333399"/>
                </a:solidFill>
              </a:rPr>
              <a:t>Sum of Squared Errors (</a:t>
            </a:r>
            <a:r>
              <a:rPr lang="en-GB" sz="3200" i="1" dirty="0">
                <a:solidFill>
                  <a:srgbClr val="333399"/>
                </a:solidFill>
              </a:rPr>
              <a:t>SS</a:t>
            </a:r>
            <a:r>
              <a:rPr lang="en-GB" sz="3200" dirty="0">
                <a:solidFill>
                  <a:srgbClr val="333399"/>
                </a:solidFill>
              </a:rPr>
              <a:t>).</a:t>
            </a:r>
          </a:p>
        </p:txBody>
      </p:sp>
    </p:spTree>
    <p:extLst>
      <p:ext uri="{BB962C8B-B14F-4D97-AF65-F5344CB8AC3E}">
        <p14:creationId xmlns:p14="http://schemas.microsoft.com/office/powerpoint/2010/main" val="386643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0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0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0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0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1" grpId="0" uiExpand="1" build="p" bldLvl="2"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442C4-F364-D540-B633-D5C74DA2E746}"/>
              </a:ext>
            </a:extLst>
          </p:cNvPr>
          <p:cNvSpPr>
            <a:spLocks noGrp="1"/>
          </p:cNvSpPr>
          <p:nvPr>
            <p:ph type="title"/>
          </p:nvPr>
        </p:nvSpPr>
        <p:spPr/>
        <p:txBody>
          <a:bodyPr/>
          <a:lstStyle/>
          <a:p>
            <a:r>
              <a:rPr lang="en-GB" dirty="0"/>
              <a:t>Sum of Squared Errors</a:t>
            </a:r>
            <a:endParaRPr lang="en-US" dirty="0"/>
          </a:p>
        </p:txBody>
      </p:sp>
      <p:graphicFrame>
        <p:nvGraphicFramePr>
          <p:cNvPr id="4" name="Object 3">
            <a:extLst>
              <a:ext uri="{FF2B5EF4-FFF2-40B4-BE49-F238E27FC236}">
                <a16:creationId xmlns:a16="http://schemas.microsoft.com/office/drawing/2014/main" id="{DB47B673-3A15-6A4E-BC7C-19716F194390}"/>
              </a:ext>
            </a:extLst>
          </p:cNvPr>
          <p:cNvGraphicFramePr>
            <a:graphicFrameLocks noChangeAspect="1"/>
          </p:cNvGraphicFramePr>
          <p:nvPr/>
        </p:nvGraphicFramePr>
        <p:xfrm>
          <a:off x="4068762" y="5346701"/>
          <a:ext cx="4054475" cy="760413"/>
        </p:xfrm>
        <a:graphic>
          <a:graphicData uri="http://schemas.openxmlformats.org/presentationml/2006/ole">
            <mc:AlternateContent xmlns:mc="http://schemas.openxmlformats.org/markup-compatibility/2006">
              <mc:Choice xmlns:v="urn:schemas-microsoft-com:vml" Requires="v">
                <p:oleObj name="Equation" r:id="rId2" imgW="1346040" imgH="253800" progId="Equation.3">
                  <p:embed/>
                </p:oleObj>
              </mc:Choice>
              <mc:Fallback>
                <p:oleObj name="Equation" r:id="rId2" imgW="1346040" imgH="253800" progId="Equation.3">
                  <p:embed/>
                  <p:pic>
                    <p:nvPicPr>
                      <p:cNvPr id="4" name="Object 3">
                        <a:extLst>
                          <a:ext uri="{FF2B5EF4-FFF2-40B4-BE49-F238E27FC236}">
                            <a16:creationId xmlns:a16="http://schemas.microsoft.com/office/drawing/2014/main" id="{DB47B673-3A15-6A4E-BC7C-19716F1943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762" y="5346701"/>
                        <a:ext cx="4054475" cy="760413"/>
                      </a:xfrm>
                      <a:prstGeom prst="rect">
                        <a:avLst/>
                      </a:prstGeom>
                      <a:solidFill>
                        <a:srgbClr val="FFFF00"/>
                      </a:solidFill>
                      <a:ln w="57150">
                        <a:solidFill>
                          <a:schemeClr val="tx2"/>
                        </a:solidFill>
                        <a:miter lim="800000"/>
                        <a:headEnd/>
                        <a:tailEnd/>
                      </a:ln>
                      <a:effectLst>
                        <a:outerShdw blurRad="63500" dist="143684" dir="2700000" algn="ctr" rotWithShape="0">
                          <a:schemeClr val="tx1">
                            <a:alpha val="74998"/>
                          </a:schemeClr>
                        </a:outerShdw>
                      </a:effectLst>
                    </p:spPr>
                  </p:pic>
                </p:oleObj>
              </mc:Fallback>
            </mc:AlternateContent>
          </a:graphicData>
        </a:graphic>
      </p:graphicFrame>
      <p:graphicFrame>
        <p:nvGraphicFramePr>
          <p:cNvPr id="5" name="Table 4">
            <a:extLst>
              <a:ext uri="{FF2B5EF4-FFF2-40B4-BE49-F238E27FC236}">
                <a16:creationId xmlns:a16="http://schemas.microsoft.com/office/drawing/2014/main" id="{40B43D92-035F-044D-9552-9B1F04219F4D}"/>
              </a:ext>
            </a:extLst>
          </p:cNvPr>
          <p:cNvGraphicFramePr>
            <a:graphicFrameLocks noGrp="1"/>
          </p:cNvGraphicFramePr>
          <p:nvPr/>
        </p:nvGraphicFramePr>
        <p:xfrm>
          <a:off x="3111499" y="1777998"/>
          <a:ext cx="5969000" cy="3302003"/>
        </p:xfrm>
        <a:graphic>
          <a:graphicData uri="http://schemas.openxmlformats.org/drawingml/2006/table">
            <a:tbl>
              <a:tblPr firstRow="1" bandRow="1">
                <a:tableStyleId>{21E4AEA4-8DFA-4A89-87EB-49C32662AFE0}</a:tableStyleId>
              </a:tblPr>
              <a:tblGrid>
                <a:gridCol w="1492250">
                  <a:extLst>
                    <a:ext uri="{9D8B030D-6E8A-4147-A177-3AD203B41FA5}">
                      <a16:colId xmlns:a16="http://schemas.microsoft.com/office/drawing/2014/main" val="20000"/>
                    </a:ext>
                  </a:extLst>
                </a:gridCol>
                <a:gridCol w="1492250">
                  <a:extLst>
                    <a:ext uri="{9D8B030D-6E8A-4147-A177-3AD203B41FA5}">
                      <a16:colId xmlns:a16="http://schemas.microsoft.com/office/drawing/2014/main" val="20001"/>
                    </a:ext>
                  </a:extLst>
                </a:gridCol>
                <a:gridCol w="1492250">
                  <a:extLst>
                    <a:ext uri="{9D8B030D-6E8A-4147-A177-3AD203B41FA5}">
                      <a16:colId xmlns:a16="http://schemas.microsoft.com/office/drawing/2014/main" val="20002"/>
                    </a:ext>
                  </a:extLst>
                </a:gridCol>
                <a:gridCol w="1492250">
                  <a:extLst>
                    <a:ext uri="{9D8B030D-6E8A-4147-A177-3AD203B41FA5}">
                      <a16:colId xmlns:a16="http://schemas.microsoft.com/office/drawing/2014/main" val="20003"/>
                    </a:ext>
                  </a:extLst>
                </a:gridCol>
              </a:tblGrid>
              <a:tr h="737681">
                <a:tc>
                  <a:txBody>
                    <a:bodyPr/>
                    <a:lstStyle/>
                    <a:p>
                      <a:pPr algn="ctr"/>
                      <a:r>
                        <a:rPr lang="en-GB" dirty="0"/>
                        <a:t>Score</a:t>
                      </a:r>
                    </a:p>
                  </a:txBody>
                  <a:tcPr anchor="ctr"/>
                </a:tc>
                <a:tc>
                  <a:txBody>
                    <a:bodyPr/>
                    <a:lstStyle/>
                    <a:p>
                      <a:pPr algn="ctr"/>
                      <a:r>
                        <a:rPr lang="en-GB" dirty="0"/>
                        <a:t>Mean </a:t>
                      </a:r>
                    </a:p>
                  </a:txBody>
                  <a:tcPr anchor="ctr"/>
                </a:tc>
                <a:tc>
                  <a:txBody>
                    <a:bodyPr/>
                    <a:lstStyle/>
                    <a:p>
                      <a:pPr algn="ctr"/>
                      <a:r>
                        <a:rPr lang="en-GB" dirty="0"/>
                        <a:t>Deviation</a:t>
                      </a:r>
                    </a:p>
                  </a:txBody>
                  <a:tcPr anchor="ctr"/>
                </a:tc>
                <a:tc>
                  <a:txBody>
                    <a:bodyPr/>
                    <a:lstStyle/>
                    <a:p>
                      <a:pPr algn="ctr"/>
                      <a:r>
                        <a:rPr lang="en-GB" dirty="0"/>
                        <a:t>Squared Deviation</a:t>
                      </a:r>
                    </a:p>
                  </a:txBody>
                  <a:tcPr anchor="ctr"/>
                </a:tc>
                <a:extLst>
                  <a:ext uri="{0D108BD9-81ED-4DB2-BD59-A6C34878D82A}">
                    <a16:rowId xmlns:a16="http://schemas.microsoft.com/office/drawing/2014/main" val="10000"/>
                  </a:ext>
                </a:extLst>
              </a:tr>
              <a:tr h="427387">
                <a:tc>
                  <a:txBody>
                    <a:bodyPr/>
                    <a:lstStyle/>
                    <a:p>
                      <a:pPr algn="ctr"/>
                      <a:r>
                        <a:rPr lang="en-GB" dirty="0"/>
                        <a:t>1</a:t>
                      </a:r>
                    </a:p>
                  </a:txBody>
                  <a:tcPr anchor="ctr"/>
                </a:tc>
                <a:tc>
                  <a:txBody>
                    <a:bodyPr/>
                    <a:lstStyle/>
                    <a:p>
                      <a:pPr algn="ctr"/>
                      <a:r>
                        <a:rPr lang="en-GB" dirty="0"/>
                        <a:t>2.6</a:t>
                      </a:r>
                    </a:p>
                  </a:txBody>
                  <a:tcPr anchor="ctr"/>
                </a:tc>
                <a:tc>
                  <a:txBody>
                    <a:bodyPr/>
                    <a:lstStyle/>
                    <a:p>
                      <a:pPr algn="ctr"/>
                      <a:r>
                        <a:rPr lang="en-GB" dirty="0"/>
                        <a:t>-1.6</a:t>
                      </a:r>
                    </a:p>
                  </a:txBody>
                  <a:tcPr anchor="ctr"/>
                </a:tc>
                <a:tc>
                  <a:txBody>
                    <a:bodyPr/>
                    <a:lstStyle/>
                    <a:p>
                      <a:pPr algn="ctr"/>
                      <a:r>
                        <a:rPr lang="en-GB" dirty="0"/>
                        <a:t>2.56</a:t>
                      </a:r>
                    </a:p>
                  </a:txBody>
                  <a:tcPr anchor="ctr"/>
                </a:tc>
                <a:extLst>
                  <a:ext uri="{0D108BD9-81ED-4DB2-BD59-A6C34878D82A}">
                    <a16:rowId xmlns:a16="http://schemas.microsoft.com/office/drawing/2014/main" val="10001"/>
                  </a:ext>
                </a:extLst>
              </a:tr>
              <a:tr h="427387">
                <a:tc>
                  <a:txBody>
                    <a:bodyPr/>
                    <a:lstStyle/>
                    <a:p>
                      <a:pPr algn="ctr"/>
                      <a:r>
                        <a:rPr lang="en-GB" dirty="0"/>
                        <a:t>2</a:t>
                      </a:r>
                    </a:p>
                  </a:txBody>
                  <a:tcPr anchor="ctr"/>
                </a:tc>
                <a:tc>
                  <a:txBody>
                    <a:bodyPr/>
                    <a:lstStyle/>
                    <a:p>
                      <a:pPr algn="ctr"/>
                      <a:r>
                        <a:rPr lang="en-GB" dirty="0"/>
                        <a:t>2.6</a:t>
                      </a:r>
                    </a:p>
                  </a:txBody>
                  <a:tcPr anchor="ctr"/>
                </a:tc>
                <a:tc>
                  <a:txBody>
                    <a:bodyPr/>
                    <a:lstStyle/>
                    <a:p>
                      <a:pPr algn="ctr"/>
                      <a:r>
                        <a:rPr lang="en-GB" dirty="0"/>
                        <a:t>-0.6</a:t>
                      </a:r>
                    </a:p>
                  </a:txBody>
                  <a:tcPr anchor="ctr"/>
                </a:tc>
                <a:tc>
                  <a:txBody>
                    <a:bodyPr/>
                    <a:lstStyle/>
                    <a:p>
                      <a:pPr algn="ctr"/>
                      <a:r>
                        <a:rPr lang="en-GB" dirty="0"/>
                        <a:t>0.36</a:t>
                      </a:r>
                    </a:p>
                  </a:txBody>
                  <a:tcPr anchor="ctr"/>
                </a:tc>
                <a:extLst>
                  <a:ext uri="{0D108BD9-81ED-4DB2-BD59-A6C34878D82A}">
                    <a16:rowId xmlns:a16="http://schemas.microsoft.com/office/drawing/2014/main" val="10002"/>
                  </a:ext>
                </a:extLst>
              </a:tr>
              <a:tr h="427387">
                <a:tc>
                  <a:txBody>
                    <a:bodyPr/>
                    <a:lstStyle/>
                    <a:p>
                      <a:pPr algn="ctr"/>
                      <a:r>
                        <a:rPr lang="en-GB" dirty="0"/>
                        <a:t>3</a:t>
                      </a:r>
                    </a:p>
                  </a:txBody>
                  <a:tcPr anchor="ctr"/>
                </a:tc>
                <a:tc>
                  <a:txBody>
                    <a:bodyPr/>
                    <a:lstStyle/>
                    <a:p>
                      <a:pPr algn="ctr"/>
                      <a:r>
                        <a:rPr lang="en-GB" dirty="0"/>
                        <a:t>2.6</a:t>
                      </a:r>
                    </a:p>
                  </a:txBody>
                  <a:tcPr anchor="ctr"/>
                </a:tc>
                <a:tc>
                  <a:txBody>
                    <a:bodyPr/>
                    <a:lstStyle/>
                    <a:p>
                      <a:pPr algn="ctr"/>
                      <a:r>
                        <a:rPr lang="en-GB" dirty="0"/>
                        <a:t>0.4</a:t>
                      </a:r>
                    </a:p>
                  </a:txBody>
                  <a:tcPr anchor="ctr"/>
                </a:tc>
                <a:tc>
                  <a:txBody>
                    <a:bodyPr/>
                    <a:lstStyle/>
                    <a:p>
                      <a:pPr algn="ctr"/>
                      <a:r>
                        <a:rPr lang="en-GB" dirty="0"/>
                        <a:t>0.16</a:t>
                      </a:r>
                    </a:p>
                  </a:txBody>
                  <a:tcPr anchor="ctr"/>
                </a:tc>
                <a:extLst>
                  <a:ext uri="{0D108BD9-81ED-4DB2-BD59-A6C34878D82A}">
                    <a16:rowId xmlns:a16="http://schemas.microsoft.com/office/drawing/2014/main" val="10003"/>
                  </a:ext>
                </a:extLst>
              </a:tr>
              <a:tr h="427387">
                <a:tc>
                  <a:txBody>
                    <a:bodyPr/>
                    <a:lstStyle/>
                    <a:p>
                      <a:pPr algn="ctr"/>
                      <a:r>
                        <a:rPr lang="en-GB" dirty="0"/>
                        <a:t>3</a:t>
                      </a:r>
                    </a:p>
                  </a:txBody>
                  <a:tcPr anchor="ctr"/>
                </a:tc>
                <a:tc>
                  <a:txBody>
                    <a:bodyPr/>
                    <a:lstStyle/>
                    <a:p>
                      <a:pPr algn="ctr"/>
                      <a:r>
                        <a:rPr lang="en-GB" dirty="0"/>
                        <a:t>2.6</a:t>
                      </a:r>
                    </a:p>
                  </a:txBody>
                  <a:tcPr anchor="ctr"/>
                </a:tc>
                <a:tc>
                  <a:txBody>
                    <a:bodyPr/>
                    <a:lstStyle/>
                    <a:p>
                      <a:pPr algn="ctr"/>
                      <a:r>
                        <a:rPr lang="en-GB" dirty="0"/>
                        <a:t>0.4</a:t>
                      </a:r>
                    </a:p>
                  </a:txBody>
                  <a:tcPr anchor="ctr"/>
                </a:tc>
                <a:tc>
                  <a:txBody>
                    <a:bodyPr/>
                    <a:lstStyle/>
                    <a:p>
                      <a:pPr algn="ctr"/>
                      <a:r>
                        <a:rPr lang="en-GB" dirty="0"/>
                        <a:t>0.16</a:t>
                      </a:r>
                    </a:p>
                  </a:txBody>
                  <a:tcPr anchor="ctr"/>
                </a:tc>
                <a:extLst>
                  <a:ext uri="{0D108BD9-81ED-4DB2-BD59-A6C34878D82A}">
                    <a16:rowId xmlns:a16="http://schemas.microsoft.com/office/drawing/2014/main" val="10004"/>
                  </a:ext>
                </a:extLst>
              </a:tr>
              <a:tr h="427387">
                <a:tc>
                  <a:txBody>
                    <a:bodyPr/>
                    <a:lstStyle/>
                    <a:p>
                      <a:pPr algn="ctr"/>
                      <a:r>
                        <a:rPr lang="en-GB" dirty="0"/>
                        <a:t>4</a:t>
                      </a:r>
                    </a:p>
                  </a:txBody>
                  <a:tcPr anchor="ctr"/>
                </a:tc>
                <a:tc>
                  <a:txBody>
                    <a:bodyPr/>
                    <a:lstStyle/>
                    <a:p>
                      <a:pPr algn="ctr"/>
                      <a:r>
                        <a:rPr lang="en-GB" dirty="0"/>
                        <a:t>2.6</a:t>
                      </a:r>
                    </a:p>
                  </a:txBody>
                  <a:tcPr anchor="ctr"/>
                </a:tc>
                <a:tc>
                  <a:txBody>
                    <a:bodyPr/>
                    <a:lstStyle/>
                    <a:p>
                      <a:pPr algn="ctr"/>
                      <a:r>
                        <a:rPr lang="en-GB" dirty="0"/>
                        <a:t>1.4</a:t>
                      </a:r>
                    </a:p>
                  </a:txBody>
                  <a:tcPr anchor="ctr"/>
                </a:tc>
                <a:tc>
                  <a:txBody>
                    <a:bodyPr/>
                    <a:lstStyle/>
                    <a:p>
                      <a:pPr algn="ctr"/>
                      <a:r>
                        <a:rPr lang="en-GB" dirty="0"/>
                        <a:t>1.96</a:t>
                      </a:r>
                    </a:p>
                  </a:txBody>
                  <a:tcPr anchor="ctr"/>
                </a:tc>
                <a:extLst>
                  <a:ext uri="{0D108BD9-81ED-4DB2-BD59-A6C34878D82A}">
                    <a16:rowId xmlns:a16="http://schemas.microsoft.com/office/drawing/2014/main" val="10005"/>
                  </a:ext>
                </a:extLst>
              </a:tr>
              <a:tr h="427387">
                <a:tc>
                  <a:txBody>
                    <a:bodyPr/>
                    <a:lstStyle/>
                    <a:p>
                      <a:pPr algn="ctr"/>
                      <a:endParaRPr lang="en-GB"/>
                    </a:p>
                  </a:txBody>
                  <a:tcPr anchor="ctr"/>
                </a:tc>
                <a:tc>
                  <a:txBody>
                    <a:bodyPr/>
                    <a:lstStyle/>
                    <a:p>
                      <a:pPr algn="ctr"/>
                      <a:endParaRPr lang="en-GB" dirty="0"/>
                    </a:p>
                  </a:txBody>
                  <a:tcPr anchor="ctr"/>
                </a:tc>
                <a:tc>
                  <a:txBody>
                    <a:bodyPr/>
                    <a:lstStyle/>
                    <a:p>
                      <a:pPr algn="ctr"/>
                      <a:r>
                        <a:rPr lang="en-GB" dirty="0"/>
                        <a:t>Total</a:t>
                      </a:r>
                    </a:p>
                  </a:txBody>
                  <a:tcPr anchor="ctr"/>
                </a:tc>
                <a:tc>
                  <a:txBody>
                    <a:bodyPr/>
                    <a:lstStyle/>
                    <a:p>
                      <a:pPr algn="ctr"/>
                      <a:r>
                        <a:rPr lang="en-GB" dirty="0"/>
                        <a:t>5.20</a:t>
                      </a:r>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5934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Mean Squared Error</a:t>
            </a:r>
          </a:p>
        </p:txBody>
      </p:sp>
      <p:sp>
        <p:nvSpPr>
          <p:cNvPr id="6" name="Content Placeholder 5"/>
          <p:cNvSpPr>
            <a:spLocks noGrp="1"/>
          </p:cNvSpPr>
          <p:nvPr>
            <p:ph idx="1"/>
          </p:nvPr>
        </p:nvSpPr>
        <p:spPr/>
        <p:txBody>
          <a:bodyPr>
            <a:normAutofit/>
          </a:bodyPr>
          <a:lstStyle/>
          <a:p>
            <a:r>
              <a:rPr lang="en-US" sz="3200" dirty="0"/>
              <a:t>Although the SS is a good measure of the accuracy of our model, it depends on the amount of data collected. To overcome this problem, we use:</a:t>
            </a:r>
          </a:p>
        </p:txBody>
      </p:sp>
      <p:pic>
        <p:nvPicPr>
          <p:cNvPr id="4" name="Picture 3"/>
          <p:cNvPicPr>
            <a:picLocks noChangeAspect="1"/>
          </p:cNvPicPr>
          <p:nvPr/>
        </p:nvPicPr>
        <p:blipFill>
          <a:blip r:embed="rId3"/>
          <a:stretch>
            <a:fillRect/>
          </a:stretch>
        </p:blipFill>
        <p:spPr>
          <a:xfrm>
            <a:off x="2921000" y="3501232"/>
            <a:ext cx="6350000" cy="1168400"/>
          </a:xfrm>
          <a:prstGeom prst="rect">
            <a:avLst/>
          </a:prstGeom>
        </p:spPr>
      </p:pic>
      <p:pic>
        <p:nvPicPr>
          <p:cNvPr id="7" name="Picture 6"/>
          <p:cNvPicPr>
            <a:picLocks noChangeAspect="1"/>
          </p:cNvPicPr>
          <p:nvPr/>
        </p:nvPicPr>
        <p:blipFill>
          <a:blip r:embed="rId4"/>
          <a:stretch>
            <a:fillRect/>
          </a:stretch>
        </p:blipFill>
        <p:spPr>
          <a:xfrm>
            <a:off x="2794000" y="4915297"/>
            <a:ext cx="6477000" cy="1016000"/>
          </a:xfrm>
          <a:prstGeom prst="rect">
            <a:avLst/>
          </a:prstGeom>
        </p:spPr>
      </p:pic>
    </p:spTree>
    <p:extLst>
      <p:ext uri="{BB962C8B-B14F-4D97-AF65-F5344CB8AC3E}">
        <p14:creationId xmlns:p14="http://schemas.microsoft.com/office/powerpoint/2010/main" val="3575480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Title 34"/>
          <p:cNvSpPr>
            <a:spLocks noGrp="1"/>
          </p:cNvSpPr>
          <p:nvPr>
            <p:ph type="title"/>
          </p:nvPr>
        </p:nvSpPr>
        <p:spPr>
          <a:xfrm>
            <a:off x="720437" y="274638"/>
            <a:ext cx="10778836" cy="1011222"/>
          </a:xfrm>
        </p:spPr>
        <p:txBody>
          <a:bodyPr>
            <a:normAutofit/>
          </a:bodyPr>
          <a:lstStyle/>
          <a:p>
            <a:pPr eaLnBrk="1" hangingPunct="1"/>
            <a:r>
              <a:rPr lang="en-GB" dirty="0"/>
              <a:t>Degrees of Freedom</a:t>
            </a: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0578" y="1095170"/>
            <a:ext cx="8038553" cy="5264686"/>
          </a:xfrm>
          <a:prstGeom prst="rect">
            <a:avLst/>
          </a:prstGeom>
        </p:spPr>
      </p:pic>
    </p:spTree>
    <p:extLst>
      <p:ext uri="{BB962C8B-B14F-4D97-AF65-F5344CB8AC3E}">
        <p14:creationId xmlns:p14="http://schemas.microsoft.com/office/powerpoint/2010/main" val="4275574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Standard Error</a:t>
            </a:r>
          </a:p>
        </p:txBody>
      </p:sp>
      <p:sp>
        <p:nvSpPr>
          <p:cNvPr id="3" name="Content Placeholder 2"/>
          <p:cNvSpPr>
            <a:spLocks noGrp="1"/>
          </p:cNvSpPr>
          <p:nvPr>
            <p:ph idx="1"/>
          </p:nvPr>
        </p:nvSpPr>
        <p:spPr/>
        <p:txBody>
          <a:bodyPr>
            <a:normAutofit/>
          </a:bodyPr>
          <a:lstStyle/>
          <a:p>
            <a:r>
              <a:rPr lang="en-US" sz="3200" dirty="0"/>
              <a:t>SD tells us how well the mean represents the sample data</a:t>
            </a:r>
          </a:p>
          <a:p>
            <a:endParaRPr lang="en-US" sz="3200" dirty="0"/>
          </a:p>
          <a:p>
            <a:r>
              <a:rPr lang="en-US" sz="3200" dirty="0"/>
              <a:t>But, if we want to estimate this parameter in the population, then we need to know how well the mean represents the population</a:t>
            </a:r>
          </a:p>
        </p:txBody>
      </p:sp>
    </p:spTree>
    <p:extLst>
      <p:ext uri="{BB962C8B-B14F-4D97-AF65-F5344CB8AC3E}">
        <p14:creationId xmlns:p14="http://schemas.microsoft.com/office/powerpoint/2010/main" val="4086735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Populations and Samples</a:t>
            </a:r>
          </a:p>
        </p:txBody>
      </p:sp>
      <p:sp>
        <p:nvSpPr>
          <p:cNvPr id="3" name="Content Placeholder 2"/>
          <p:cNvSpPr>
            <a:spLocks noGrp="1"/>
          </p:cNvSpPr>
          <p:nvPr>
            <p:ph idx="1"/>
          </p:nvPr>
        </p:nvSpPr>
        <p:spPr/>
        <p:txBody>
          <a:bodyPr>
            <a:noAutofit/>
          </a:bodyPr>
          <a:lstStyle/>
          <a:p>
            <a:r>
              <a:rPr lang="en-GB" sz="3200" dirty="0"/>
              <a:t>Population</a:t>
            </a:r>
          </a:p>
          <a:p>
            <a:pPr lvl="1"/>
            <a:r>
              <a:rPr lang="en-GB" sz="3200" dirty="0"/>
              <a:t>The collection of units (be they people, plankton, plants, cities, suicidal authors, etc.) to which we want to generalize a set of findings or a statistical model</a:t>
            </a:r>
          </a:p>
          <a:p>
            <a:pPr lvl="1"/>
            <a:endParaRPr lang="en-GB" sz="3200" dirty="0"/>
          </a:p>
          <a:p>
            <a:r>
              <a:rPr lang="en-GB" sz="3200" dirty="0"/>
              <a:t>Sample</a:t>
            </a:r>
          </a:p>
          <a:p>
            <a:pPr lvl="1"/>
            <a:r>
              <a:rPr lang="en-GB" sz="3200" dirty="0"/>
              <a:t>A smaller (but hopefully representative) collection of units from a population used to determine truths about that population</a:t>
            </a:r>
          </a:p>
        </p:txBody>
      </p:sp>
    </p:spTree>
    <p:extLst>
      <p:ext uri="{BB962C8B-B14F-4D97-AF65-F5344CB8AC3E}">
        <p14:creationId xmlns:p14="http://schemas.microsoft.com/office/powerpoint/2010/main" val="1763581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GB" dirty="0"/>
              <a:t>Populations and Samples</a:t>
            </a:r>
          </a:p>
        </p:txBody>
      </p:sp>
      <p:sp>
        <p:nvSpPr>
          <p:cNvPr id="142339" name="Rectangle 3"/>
          <p:cNvSpPr>
            <a:spLocks noGrp="1" noChangeArrowheads="1"/>
          </p:cNvSpPr>
          <p:nvPr>
            <p:ph idx="1"/>
          </p:nvPr>
        </p:nvSpPr>
        <p:spPr>
          <a:xfrm>
            <a:off x="838200" y="1562389"/>
            <a:ext cx="10515600" cy="4930486"/>
          </a:xfrm>
        </p:spPr>
        <p:txBody>
          <a:bodyPr>
            <a:normAutofit fontScale="92500" lnSpcReduction="10000"/>
          </a:bodyPr>
          <a:lstStyle/>
          <a:p>
            <a:pPr>
              <a:lnSpc>
                <a:spcPct val="90000"/>
              </a:lnSpc>
            </a:pPr>
            <a:r>
              <a:rPr lang="en-GB" sz="3200" dirty="0"/>
              <a:t>Sample</a:t>
            </a:r>
          </a:p>
          <a:p>
            <a:pPr lvl="1">
              <a:lnSpc>
                <a:spcPct val="90000"/>
              </a:lnSpc>
            </a:pPr>
            <a:r>
              <a:rPr lang="en-GB" sz="3000" dirty="0"/>
              <a:t>Mean and SD describe only the sample from which they were calculated</a:t>
            </a:r>
          </a:p>
          <a:p>
            <a:pPr lvl="1">
              <a:lnSpc>
                <a:spcPct val="90000"/>
              </a:lnSpc>
            </a:pPr>
            <a:endParaRPr lang="en-GB" sz="2400" dirty="0"/>
          </a:p>
          <a:p>
            <a:pPr>
              <a:lnSpc>
                <a:spcPct val="90000"/>
              </a:lnSpc>
            </a:pPr>
            <a:r>
              <a:rPr lang="en-GB" sz="3200" dirty="0"/>
              <a:t>Population</a:t>
            </a:r>
          </a:p>
          <a:p>
            <a:pPr lvl="1">
              <a:lnSpc>
                <a:spcPct val="90000"/>
              </a:lnSpc>
            </a:pPr>
            <a:r>
              <a:rPr lang="en-GB" sz="3000" dirty="0"/>
              <a:t>Mean and SD are intended to describe the entire population (very rare in Psychology)</a:t>
            </a:r>
          </a:p>
          <a:p>
            <a:pPr lvl="1">
              <a:lnSpc>
                <a:spcPct val="90000"/>
              </a:lnSpc>
            </a:pPr>
            <a:endParaRPr lang="en-GB" sz="2400" dirty="0"/>
          </a:p>
          <a:p>
            <a:pPr>
              <a:lnSpc>
                <a:spcPct val="90000"/>
              </a:lnSpc>
            </a:pPr>
            <a:r>
              <a:rPr lang="en-GB" sz="3200" dirty="0"/>
              <a:t>Sample to population:</a:t>
            </a:r>
          </a:p>
          <a:p>
            <a:pPr lvl="1">
              <a:lnSpc>
                <a:spcPct val="90000"/>
              </a:lnSpc>
            </a:pPr>
            <a:r>
              <a:rPr lang="en-GB" sz="3000" dirty="0"/>
              <a:t>Mean and SD are obtained from a sample, but are used to estimate the mean and SD of the population (very common in psychology)</a:t>
            </a:r>
          </a:p>
        </p:txBody>
      </p:sp>
    </p:spTree>
    <p:extLst>
      <p:ext uri="{BB962C8B-B14F-4D97-AF65-F5344CB8AC3E}">
        <p14:creationId xmlns:p14="http://schemas.microsoft.com/office/powerpoint/2010/main" val="1974654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3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233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233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233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233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uiExpand="1" build="p" bldLvl="2"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Standard Error</a:t>
            </a:r>
          </a:p>
        </p:txBody>
      </p:sp>
      <p:sp>
        <p:nvSpPr>
          <p:cNvPr id="3" name="Content Placeholder 2"/>
          <p:cNvSpPr>
            <a:spLocks noGrp="1"/>
          </p:cNvSpPr>
          <p:nvPr>
            <p:ph idx="1"/>
          </p:nvPr>
        </p:nvSpPr>
        <p:spPr/>
        <p:txBody>
          <a:bodyPr>
            <a:normAutofit/>
          </a:bodyPr>
          <a:lstStyle/>
          <a:p>
            <a:r>
              <a:rPr lang="en-US" sz="3200" dirty="0"/>
              <a:t>SD tells us how well the mean represents the sample data</a:t>
            </a:r>
          </a:p>
          <a:p>
            <a:endParaRPr lang="en-US" sz="3200" dirty="0"/>
          </a:p>
          <a:p>
            <a:r>
              <a:rPr lang="en-US" sz="3200" dirty="0"/>
              <a:t>SE tells us how far the sample mean is likely to be from the true population mean – </a:t>
            </a:r>
            <a:r>
              <a:rPr lang="en-US" sz="3200" i="1" dirty="0"/>
              <a:t>if you collected many samples, the average deviation of those sample means from the grand mean is the SE</a:t>
            </a:r>
            <a:endParaRPr lang="en-US" sz="3200" dirty="0"/>
          </a:p>
        </p:txBody>
      </p:sp>
      <p:pic>
        <p:nvPicPr>
          <p:cNvPr id="4" name="Picture 3">
            <a:extLst>
              <a:ext uri="{FF2B5EF4-FFF2-40B4-BE49-F238E27FC236}">
                <a16:creationId xmlns:a16="http://schemas.microsoft.com/office/drawing/2014/main" id="{4BC6C1E3-64F3-AF4B-A5AE-ABED3628E91E}"/>
              </a:ext>
            </a:extLst>
          </p:cNvPr>
          <p:cNvPicPr>
            <a:picLocks noChangeAspect="1"/>
          </p:cNvPicPr>
          <p:nvPr/>
        </p:nvPicPr>
        <p:blipFill>
          <a:blip r:embed="rId3"/>
          <a:stretch>
            <a:fillRect/>
          </a:stretch>
        </p:blipFill>
        <p:spPr>
          <a:xfrm>
            <a:off x="7619121" y="4711114"/>
            <a:ext cx="2552700" cy="1333500"/>
          </a:xfrm>
          <a:prstGeom prst="rect">
            <a:avLst/>
          </a:prstGeom>
        </p:spPr>
      </p:pic>
    </p:spTree>
    <p:extLst>
      <p:ext uri="{BB962C8B-B14F-4D97-AF65-F5344CB8AC3E}">
        <p14:creationId xmlns:p14="http://schemas.microsoft.com/office/powerpoint/2010/main" val="2958402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Hypothesis Testing</a:t>
            </a:r>
          </a:p>
        </p:txBody>
      </p:sp>
      <p:sp>
        <p:nvSpPr>
          <p:cNvPr id="3" name="Content Placeholder 2"/>
          <p:cNvSpPr>
            <a:spLocks noGrp="1"/>
          </p:cNvSpPr>
          <p:nvPr>
            <p:ph idx="1"/>
          </p:nvPr>
        </p:nvSpPr>
        <p:spPr/>
        <p:txBody>
          <a:bodyPr>
            <a:normAutofit/>
          </a:bodyPr>
          <a:lstStyle/>
          <a:p>
            <a:r>
              <a:rPr lang="en-GB" dirty="0"/>
              <a:t>Null hypothesis, </a:t>
            </a:r>
            <a:r>
              <a:rPr lang="en-GB" i="1" dirty="0"/>
              <a:t>H</a:t>
            </a:r>
            <a:r>
              <a:rPr lang="en-GB" sz="2000" i="1" dirty="0"/>
              <a:t>0</a:t>
            </a:r>
          </a:p>
          <a:p>
            <a:pPr lvl="1"/>
            <a:r>
              <a:rPr lang="en-GB" dirty="0"/>
              <a:t>There is no effect.</a:t>
            </a:r>
          </a:p>
          <a:p>
            <a:pPr lvl="1"/>
            <a:r>
              <a:rPr lang="en-GB" dirty="0"/>
              <a:t>E.g. Big Brother contestants and members of the public will not differ in their scores on personality disorder questionnaires</a:t>
            </a:r>
          </a:p>
          <a:p>
            <a:endParaRPr lang="en-GB" dirty="0"/>
          </a:p>
          <a:p>
            <a:r>
              <a:rPr lang="en-GB" dirty="0"/>
              <a:t>The alternative hypothesis, </a:t>
            </a:r>
            <a:r>
              <a:rPr lang="en-GB" i="1" dirty="0"/>
              <a:t>H</a:t>
            </a:r>
            <a:r>
              <a:rPr lang="en-GB" sz="2000" i="1" dirty="0"/>
              <a:t>1</a:t>
            </a:r>
            <a:endParaRPr lang="en-GB" dirty="0"/>
          </a:p>
          <a:p>
            <a:pPr lvl="1"/>
            <a:r>
              <a:rPr lang="en-GB" dirty="0"/>
              <a:t>AKA the experimental hypothesis</a:t>
            </a:r>
          </a:p>
          <a:p>
            <a:pPr lvl="1"/>
            <a:r>
              <a:rPr lang="en-GB" dirty="0"/>
              <a:t>E.g. Big Brother contestants will score higher on personality disorder questionnaires than members of the public</a:t>
            </a:r>
          </a:p>
        </p:txBody>
      </p:sp>
    </p:spTree>
    <p:extLst>
      <p:ext uri="{BB962C8B-B14F-4D97-AF65-F5344CB8AC3E}">
        <p14:creationId xmlns:p14="http://schemas.microsoft.com/office/powerpoint/2010/main" val="92718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Test Statistics</a:t>
            </a:r>
          </a:p>
        </p:txBody>
      </p:sp>
      <p:sp>
        <p:nvSpPr>
          <p:cNvPr id="3" name="Content Placeholder 2"/>
          <p:cNvSpPr>
            <a:spLocks noGrp="1"/>
          </p:cNvSpPr>
          <p:nvPr>
            <p:ph idx="1"/>
          </p:nvPr>
        </p:nvSpPr>
        <p:spPr>
          <a:xfrm>
            <a:off x="950495" y="1600201"/>
            <a:ext cx="10190747" cy="3282042"/>
          </a:xfrm>
        </p:spPr>
        <p:txBody>
          <a:bodyPr>
            <a:normAutofit lnSpcReduction="10000"/>
          </a:bodyPr>
          <a:lstStyle/>
          <a:p>
            <a:r>
              <a:rPr lang="en-GB" sz="3200" dirty="0"/>
              <a:t>A Statistic for which the frequency (distribution) of values is known </a:t>
            </a:r>
            <a:r>
              <a:rPr lang="en-GB" sz="3200" b="1" dirty="0"/>
              <a:t>(under the null hypothesis).</a:t>
            </a:r>
          </a:p>
          <a:p>
            <a:endParaRPr lang="en-GB" sz="3200" dirty="0"/>
          </a:p>
          <a:p>
            <a:r>
              <a:rPr lang="en-GB" sz="3200" dirty="0"/>
              <a:t>Observed values can be used to test hypotheses. We use the test statistic to calculate the probability of observing a particular test statistic value (or a more extreme value) if the null hypothesis is true</a:t>
            </a:r>
          </a:p>
        </p:txBody>
      </p:sp>
      <p:pic>
        <p:nvPicPr>
          <p:cNvPr id="4" name="Picture 3"/>
          <p:cNvPicPr>
            <a:picLocks noChangeAspect="1"/>
          </p:cNvPicPr>
          <p:nvPr/>
        </p:nvPicPr>
        <p:blipFill>
          <a:blip r:embed="rId3"/>
          <a:stretch>
            <a:fillRect/>
          </a:stretch>
        </p:blipFill>
        <p:spPr>
          <a:xfrm>
            <a:off x="1846943" y="5164143"/>
            <a:ext cx="7899400" cy="812800"/>
          </a:xfrm>
          <a:prstGeom prst="rect">
            <a:avLst/>
          </a:prstGeom>
        </p:spPr>
      </p:pic>
    </p:spTree>
    <p:extLst>
      <p:ext uri="{BB962C8B-B14F-4D97-AF65-F5344CB8AC3E}">
        <p14:creationId xmlns:p14="http://schemas.microsoft.com/office/powerpoint/2010/main" val="2358521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CA597-74A8-E77A-699E-8D47DF482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74E9CB-DCE3-1366-643C-75CBB97E62CF}"/>
              </a:ext>
            </a:extLst>
          </p:cNvPr>
          <p:cNvSpPr>
            <a:spLocks noGrp="1"/>
          </p:cNvSpPr>
          <p:nvPr>
            <p:ph type="title"/>
          </p:nvPr>
        </p:nvSpPr>
        <p:spPr/>
        <p:txBody>
          <a:bodyPr/>
          <a:lstStyle/>
          <a:p>
            <a:r>
              <a:rPr lang="en-GB" dirty="0"/>
              <a:t>P-values</a:t>
            </a:r>
          </a:p>
        </p:txBody>
      </p:sp>
      <p:sp>
        <p:nvSpPr>
          <p:cNvPr id="3" name="Content Placeholder 2">
            <a:extLst>
              <a:ext uri="{FF2B5EF4-FFF2-40B4-BE49-F238E27FC236}">
                <a16:creationId xmlns:a16="http://schemas.microsoft.com/office/drawing/2014/main" id="{6099C35B-BD45-0464-7C57-DD1B6883C3CC}"/>
              </a:ext>
            </a:extLst>
          </p:cNvPr>
          <p:cNvSpPr>
            <a:spLocks noGrp="1"/>
          </p:cNvSpPr>
          <p:nvPr>
            <p:ph idx="1"/>
          </p:nvPr>
        </p:nvSpPr>
        <p:spPr>
          <a:xfrm>
            <a:off x="950495" y="1600201"/>
            <a:ext cx="10190747" cy="3282042"/>
          </a:xfrm>
        </p:spPr>
        <p:txBody>
          <a:bodyPr>
            <a:normAutofit/>
          </a:bodyPr>
          <a:lstStyle/>
          <a:p>
            <a:r>
              <a:rPr lang="en-GB" sz="3200" dirty="0"/>
              <a:t>Which statement best captures the concept of a p-value?</a:t>
            </a:r>
          </a:p>
          <a:p>
            <a:pPr lvl="1"/>
            <a:r>
              <a:rPr lang="en-GB" sz="2800" dirty="0"/>
              <a:t>The probability of the null hypothesis, given the observed test statistic </a:t>
            </a:r>
          </a:p>
          <a:p>
            <a:pPr lvl="1"/>
            <a:r>
              <a:rPr lang="en-GB" sz="2800" dirty="0"/>
              <a:t>The probability of the observed test statistic, given the null hypothesis</a:t>
            </a:r>
          </a:p>
        </p:txBody>
      </p:sp>
    </p:spTree>
    <p:extLst>
      <p:ext uri="{BB962C8B-B14F-4D97-AF65-F5344CB8AC3E}">
        <p14:creationId xmlns:p14="http://schemas.microsoft.com/office/powerpoint/2010/main" val="190650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2A9FF-2F01-E989-D0E6-ECB4CA976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858B21-B08A-3622-9BE2-E4BFE614C2AD}"/>
              </a:ext>
            </a:extLst>
          </p:cNvPr>
          <p:cNvSpPr>
            <a:spLocks noGrp="1"/>
          </p:cNvSpPr>
          <p:nvPr>
            <p:ph type="title"/>
          </p:nvPr>
        </p:nvSpPr>
        <p:spPr/>
        <p:txBody>
          <a:bodyPr/>
          <a:lstStyle/>
          <a:p>
            <a:r>
              <a:rPr lang="en-GB" dirty="0"/>
              <a:t>P-values</a:t>
            </a:r>
          </a:p>
        </p:txBody>
      </p:sp>
      <p:sp>
        <p:nvSpPr>
          <p:cNvPr id="3" name="Content Placeholder 2">
            <a:extLst>
              <a:ext uri="{FF2B5EF4-FFF2-40B4-BE49-F238E27FC236}">
                <a16:creationId xmlns:a16="http://schemas.microsoft.com/office/drawing/2014/main" id="{245DC0F6-DC47-FEAD-7F53-61636DBE572D}"/>
              </a:ext>
            </a:extLst>
          </p:cNvPr>
          <p:cNvSpPr>
            <a:spLocks noGrp="1"/>
          </p:cNvSpPr>
          <p:nvPr>
            <p:ph idx="1"/>
          </p:nvPr>
        </p:nvSpPr>
        <p:spPr>
          <a:xfrm>
            <a:off x="950495" y="1600201"/>
            <a:ext cx="10190747" cy="3282042"/>
          </a:xfrm>
        </p:spPr>
        <p:txBody>
          <a:bodyPr>
            <a:normAutofit/>
          </a:bodyPr>
          <a:lstStyle/>
          <a:p>
            <a:r>
              <a:rPr lang="en-GB" sz="3200" dirty="0"/>
              <a:t>Which statement best captures the concept of a p-value?</a:t>
            </a:r>
          </a:p>
          <a:p>
            <a:pPr lvl="1"/>
            <a:r>
              <a:rPr lang="en-GB" sz="2800" dirty="0"/>
              <a:t>The probability of the null hypothesis</a:t>
            </a:r>
          </a:p>
          <a:p>
            <a:pPr lvl="1"/>
            <a:r>
              <a:rPr lang="en-GB" sz="2800" dirty="0"/>
              <a:t>The probability of the data (assuming the null hypothesis)</a:t>
            </a:r>
          </a:p>
        </p:txBody>
      </p:sp>
    </p:spTree>
    <p:extLst>
      <p:ext uri="{BB962C8B-B14F-4D97-AF65-F5344CB8AC3E}">
        <p14:creationId xmlns:p14="http://schemas.microsoft.com/office/powerpoint/2010/main" val="3670449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Assumptions</a:t>
            </a:r>
          </a:p>
        </p:txBody>
      </p:sp>
      <p:sp>
        <p:nvSpPr>
          <p:cNvPr id="3" name="Content Placeholder 2"/>
          <p:cNvSpPr>
            <a:spLocks noGrp="1"/>
          </p:cNvSpPr>
          <p:nvPr>
            <p:ph idx="1"/>
          </p:nvPr>
        </p:nvSpPr>
        <p:spPr/>
        <p:txBody>
          <a:bodyPr>
            <a:normAutofit fontScale="92500" lnSpcReduction="10000"/>
          </a:bodyPr>
          <a:lstStyle/>
          <a:p>
            <a:r>
              <a:rPr lang="en-GB" sz="3200" dirty="0"/>
              <a:t>Parametric tests based on the normal distribution assume:</a:t>
            </a:r>
          </a:p>
          <a:p>
            <a:endParaRPr lang="en-GB" sz="3200" dirty="0"/>
          </a:p>
          <a:p>
            <a:pPr lvl="1"/>
            <a:r>
              <a:rPr lang="en-GB" sz="3200" dirty="0"/>
              <a:t>Additivity and linearity</a:t>
            </a:r>
          </a:p>
          <a:p>
            <a:pPr lvl="1"/>
            <a:endParaRPr lang="en-GB" sz="3200" dirty="0"/>
          </a:p>
          <a:p>
            <a:pPr lvl="1"/>
            <a:r>
              <a:rPr lang="en-GB" sz="3200" dirty="0"/>
              <a:t>Normality </a:t>
            </a:r>
            <a:r>
              <a:rPr lang="en-GB" sz="3200" dirty="0">
                <a:solidFill>
                  <a:srgbClr val="002060"/>
                </a:solidFill>
              </a:rPr>
              <a:t>(</a:t>
            </a:r>
            <a:r>
              <a:rPr lang="en-GB" sz="3200" dirty="0">
                <a:solidFill>
                  <a:srgbClr val="FF0000"/>
                </a:solidFill>
              </a:rPr>
              <a:t>of what? – </a:t>
            </a:r>
            <a:r>
              <a:rPr lang="en-GB" sz="3200" i="1" dirty="0"/>
              <a:t>distribution of parameters, residuals</a:t>
            </a:r>
            <a:r>
              <a:rPr lang="en-GB" sz="3200" dirty="0">
                <a:solidFill>
                  <a:srgbClr val="002060"/>
                </a:solidFill>
              </a:rPr>
              <a:t>) </a:t>
            </a:r>
          </a:p>
          <a:p>
            <a:pPr lvl="1"/>
            <a:endParaRPr lang="en-GB" sz="3200" dirty="0"/>
          </a:p>
          <a:p>
            <a:pPr lvl="1"/>
            <a:r>
              <a:rPr lang="en-GB" sz="3200" dirty="0"/>
              <a:t>Homogeneity of Variance</a:t>
            </a:r>
          </a:p>
          <a:p>
            <a:pPr lvl="1"/>
            <a:endParaRPr lang="en-GB" sz="3200" dirty="0"/>
          </a:p>
          <a:p>
            <a:pPr lvl="1"/>
            <a:r>
              <a:rPr lang="en-GB" sz="3200" dirty="0"/>
              <a:t>Independence</a:t>
            </a:r>
          </a:p>
        </p:txBody>
      </p:sp>
    </p:spTree>
    <p:extLst>
      <p:ext uri="{BB962C8B-B14F-4D97-AF65-F5344CB8AC3E}">
        <p14:creationId xmlns:p14="http://schemas.microsoft.com/office/powerpoint/2010/main" val="1013065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Additivity and Linearity</a:t>
            </a:r>
          </a:p>
        </p:txBody>
      </p:sp>
      <p:sp>
        <p:nvSpPr>
          <p:cNvPr id="4" name="Content Placeholder 3"/>
          <p:cNvSpPr>
            <a:spLocks noGrp="1"/>
          </p:cNvSpPr>
          <p:nvPr>
            <p:ph idx="1"/>
          </p:nvPr>
        </p:nvSpPr>
        <p:spPr/>
        <p:txBody>
          <a:bodyPr>
            <a:normAutofit/>
          </a:bodyPr>
          <a:lstStyle/>
          <a:p>
            <a:r>
              <a:rPr lang="en-US" sz="3200" dirty="0"/>
              <a:t>The outcome variable is linearly related to any predictors</a:t>
            </a:r>
          </a:p>
          <a:p>
            <a:endParaRPr lang="en-US" sz="3200" dirty="0"/>
          </a:p>
          <a:p>
            <a:r>
              <a:rPr lang="en-US" sz="3200" dirty="0"/>
              <a:t>If you have several predictors then their combined effect is best described by adding their effects together</a:t>
            </a:r>
          </a:p>
          <a:p>
            <a:endParaRPr lang="en-US" sz="3200" dirty="0"/>
          </a:p>
          <a:p>
            <a:r>
              <a:rPr lang="en-US" sz="3200" dirty="0"/>
              <a:t>If this assumption is not met then your model is invalid</a:t>
            </a:r>
          </a:p>
        </p:txBody>
      </p:sp>
    </p:spTree>
    <p:extLst>
      <p:ext uri="{BB962C8B-B14F-4D97-AF65-F5344CB8AC3E}">
        <p14:creationId xmlns:p14="http://schemas.microsoft.com/office/powerpoint/2010/main" val="1450390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Normally Distributed</a:t>
            </a:r>
          </a:p>
        </p:txBody>
      </p:sp>
      <p:sp>
        <p:nvSpPr>
          <p:cNvPr id="3" name="Content Placeholder 2"/>
          <p:cNvSpPr>
            <a:spLocks noGrp="1"/>
          </p:cNvSpPr>
          <p:nvPr>
            <p:ph idx="1"/>
          </p:nvPr>
        </p:nvSpPr>
        <p:spPr/>
        <p:txBody>
          <a:bodyPr>
            <a:normAutofit/>
          </a:bodyPr>
          <a:lstStyle/>
          <a:p>
            <a:r>
              <a:rPr lang="en-US" sz="3200" dirty="0"/>
              <a:t>The normal distribution is relevant to:</a:t>
            </a:r>
          </a:p>
          <a:p>
            <a:pPr lvl="1"/>
            <a:r>
              <a:rPr lang="en-US" sz="3200" dirty="0"/>
              <a:t>Parameters</a:t>
            </a:r>
          </a:p>
          <a:p>
            <a:pPr lvl="1"/>
            <a:endParaRPr lang="en-US" sz="3200" dirty="0"/>
          </a:p>
          <a:p>
            <a:pPr lvl="1"/>
            <a:r>
              <a:rPr lang="en-US" sz="3200" dirty="0"/>
              <a:t>Confidence intervals around a parameter</a:t>
            </a:r>
          </a:p>
          <a:p>
            <a:pPr lvl="1"/>
            <a:endParaRPr lang="en-US" sz="3200" dirty="0"/>
          </a:p>
          <a:p>
            <a:pPr lvl="1"/>
            <a:r>
              <a:rPr lang="en-US" sz="3200" dirty="0"/>
              <a:t>Null hypothesis significance testing</a:t>
            </a:r>
          </a:p>
          <a:p>
            <a:pPr lvl="1"/>
            <a:endParaRPr lang="en-US" sz="3200" dirty="0"/>
          </a:p>
          <a:p>
            <a:pPr lvl="1"/>
            <a:endParaRPr lang="en-US" sz="3200" dirty="0"/>
          </a:p>
          <a:p>
            <a:pPr lvl="1"/>
            <a:endParaRPr lang="en-US" sz="3200" dirty="0"/>
          </a:p>
        </p:txBody>
      </p:sp>
    </p:spTree>
    <p:extLst>
      <p:ext uri="{BB962C8B-B14F-4D97-AF65-F5344CB8AC3E}">
        <p14:creationId xmlns:p14="http://schemas.microsoft.com/office/powerpoint/2010/main" val="2113967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92" y="365125"/>
            <a:ext cx="11619914" cy="1325563"/>
          </a:xfrm>
        </p:spPr>
        <p:txBody>
          <a:bodyPr>
            <a:normAutofit/>
          </a:bodyPr>
          <a:lstStyle/>
          <a:p>
            <a:r>
              <a:rPr lang="en-US" dirty="0"/>
              <a:t>When does the assumption of normality matter?</a:t>
            </a:r>
          </a:p>
        </p:txBody>
      </p:sp>
      <p:sp>
        <p:nvSpPr>
          <p:cNvPr id="3" name="Content Placeholder 2"/>
          <p:cNvSpPr>
            <a:spLocks noGrp="1"/>
          </p:cNvSpPr>
          <p:nvPr>
            <p:ph idx="1"/>
          </p:nvPr>
        </p:nvSpPr>
        <p:spPr>
          <a:xfrm>
            <a:off x="838200" y="1403594"/>
            <a:ext cx="10515600" cy="4351338"/>
          </a:xfrm>
        </p:spPr>
        <p:txBody>
          <a:bodyPr>
            <a:normAutofit fontScale="85000" lnSpcReduction="10000"/>
          </a:bodyPr>
          <a:lstStyle/>
          <a:p>
            <a:endParaRPr lang="en-US" sz="3200" dirty="0"/>
          </a:p>
          <a:p>
            <a:r>
              <a:rPr lang="en-US" sz="3200" dirty="0"/>
              <a:t>In small samples</a:t>
            </a:r>
          </a:p>
          <a:p>
            <a:pPr lvl="1"/>
            <a:r>
              <a:rPr lang="en-US" sz="3200" dirty="0"/>
              <a:t> The central limit theorem allows us to forget about this assumption in larger samples</a:t>
            </a:r>
          </a:p>
          <a:p>
            <a:pPr lvl="1"/>
            <a:endParaRPr lang="en-US" sz="3200" dirty="0"/>
          </a:p>
          <a:p>
            <a:r>
              <a:rPr lang="en-US" sz="3200" dirty="0"/>
              <a:t>In practical terms, as long as your sample is fairly large (&gt; N = 30), outliers (non-linearity &amp; heterogeneity) are a much more pressing concern than normality</a:t>
            </a:r>
          </a:p>
          <a:p>
            <a:endParaRPr lang="en-US" sz="3200" dirty="0"/>
          </a:p>
          <a:p>
            <a:r>
              <a:rPr lang="en-US" sz="3200" dirty="0"/>
              <a:t>However, non-normal residuals may occur along with (they may indicate) violations of linearity and or homogeneity of variance …</a:t>
            </a:r>
          </a:p>
        </p:txBody>
      </p:sp>
    </p:spTree>
    <p:extLst>
      <p:ext uri="{BB962C8B-B14F-4D97-AF65-F5344CB8AC3E}">
        <p14:creationId xmlns:p14="http://schemas.microsoft.com/office/powerpoint/2010/main" val="716780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525C6-F744-483B-8C8E-BC2F677D7D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DE8882-56AE-A281-5A56-DEDC5A48315E}"/>
              </a:ext>
            </a:extLst>
          </p:cNvPr>
          <p:cNvSpPr>
            <a:spLocks noGrp="1"/>
          </p:cNvSpPr>
          <p:nvPr>
            <p:ph type="title"/>
          </p:nvPr>
        </p:nvSpPr>
        <p:spPr>
          <a:xfrm>
            <a:off x="351692" y="365125"/>
            <a:ext cx="11619914" cy="1325563"/>
          </a:xfrm>
        </p:spPr>
        <p:txBody>
          <a:bodyPr>
            <a:normAutofit/>
          </a:bodyPr>
          <a:lstStyle/>
          <a:p>
            <a:r>
              <a:rPr lang="en-US" dirty="0"/>
              <a:t>assumption of normality</a:t>
            </a:r>
          </a:p>
        </p:txBody>
      </p:sp>
      <p:pic>
        <p:nvPicPr>
          <p:cNvPr id="7" name="Picture 6" descr="A comparison of a normal distribution&#10;&#10;AI-generated content may be incorrect.">
            <a:extLst>
              <a:ext uri="{FF2B5EF4-FFF2-40B4-BE49-F238E27FC236}">
                <a16:creationId xmlns:a16="http://schemas.microsoft.com/office/drawing/2014/main" id="{0B822467-6FD4-F9B9-0492-9B1E72533AC2}"/>
              </a:ext>
            </a:extLst>
          </p:cNvPr>
          <p:cNvPicPr>
            <a:picLocks noChangeAspect="1"/>
          </p:cNvPicPr>
          <p:nvPr/>
        </p:nvPicPr>
        <p:blipFill>
          <a:blip r:embed="rId2"/>
          <a:stretch>
            <a:fillRect/>
          </a:stretch>
        </p:blipFill>
        <p:spPr>
          <a:xfrm>
            <a:off x="2730500" y="2538180"/>
            <a:ext cx="6731000" cy="3683000"/>
          </a:xfrm>
          <a:prstGeom prst="rect">
            <a:avLst/>
          </a:prstGeom>
        </p:spPr>
      </p:pic>
      <p:sp>
        <p:nvSpPr>
          <p:cNvPr id="8" name="TextBox 7">
            <a:extLst>
              <a:ext uri="{FF2B5EF4-FFF2-40B4-BE49-F238E27FC236}">
                <a16:creationId xmlns:a16="http://schemas.microsoft.com/office/drawing/2014/main" id="{C0BBFF8E-9F81-2E3D-80BD-EEFD6CB1243D}"/>
              </a:ext>
            </a:extLst>
          </p:cNvPr>
          <p:cNvSpPr txBox="1"/>
          <p:nvPr/>
        </p:nvSpPr>
        <p:spPr>
          <a:xfrm>
            <a:off x="1427356" y="1690688"/>
            <a:ext cx="5109604" cy="461665"/>
          </a:xfrm>
          <a:prstGeom prst="rect">
            <a:avLst/>
          </a:prstGeom>
          <a:noFill/>
        </p:spPr>
        <p:txBody>
          <a:bodyPr wrap="none" rtlCol="0">
            <a:spAutoFit/>
          </a:bodyPr>
          <a:lstStyle/>
          <a:p>
            <a:r>
              <a:rPr lang="en-US" sz="2400" dirty="0"/>
              <a:t>Not about the data, about the residuals</a:t>
            </a:r>
          </a:p>
        </p:txBody>
      </p:sp>
    </p:spTree>
    <p:extLst>
      <p:ext uri="{BB962C8B-B14F-4D97-AF65-F5344CB8AC3E}">
        <p14:creationId xmlns:p14="http://schemas.microsoft.com/office/powerpoint/2010/main" val="22518427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03B8C-A72A-ED0E-77A8-E2FF6A799E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BC6B34-817D-9CF8-3EB1-0D33D75E65E1}"/>
              </a:ext>
            </a:extLst>
          </p:cNvPr>
          <p:cNvSpPr>
            <a:spLocks noGrp="1"/>
          </p:cNvSpPr>
          <p:nvPr>
            <p:ph type="title"/>
          </p:nvPr>
        </p:nvSpPr>
        <p:spPr/>
        <p:txBody>
          <a:bodyPr/>
          <a:lstStyle/>
          <a:p>
            <a:r>
              <a:rPr lang="en-US" dirty="0"/>
              <a:t>A well-known nonlinear association</a:t>
            </a:r>
          </a:p>
        </p:txBody>
      </p:sp>
      <p:pic>
        <p:nvPicPr>
          <p:cNvPr id="6" name="Picture 5">
            <a:extLst>
              <a:ext uri="{FF2B5EF4-FFF2-40B4-BE49-F238E27FC236}">
                <a16:creationId xmlns:a16="http://schemas.microsoft.com/office/drawing/2014/main" id="{B5575889-394E-EA46-2C71-057642B0FAA2}"/>
              </a:ext>
            </a:extLst>
          </p:cNvPr>
          <p:cNvPicPr>
            <a:picLocks noChangeAspect="1"/>
          </p:cNvPicPr>
          <p:nvPr/>
        </p:nvPicPr>
        <p:blipFill>
          <a:blip r:embed="rId2"/>
          <a:stretch>
            <a:fillRect/>
          </a:stretch>
        </p:blipFill>
        <p:spPr>
          <a:xfrm>
            <a:off x="1369473" y="1959392"/>
            <a:ext cx="4429748" cy="3865813"/>
          </a:xfrm>
          <a:prstGeom prst="rect">
            <a:avLst/>
          </a:prstGeom>
        </p:spPr>
      </p:pic>
      <p:pic>
        <p:nvPicPr>
          <p:cNvPr id="5" name="Picture 4">
            <a:extLst>
              <a:ext uri="{FF2B5EF4-FFF2-40B4-BE49-F238E27FC236}">
                <a16:creationId xmlns:a16="http://schemas.microsoft.com/office/drawing/2014/main" id="{6DBEFA5D-F05B-9440-7DDE-2AF96E3B5D68}"/>
              </a:ext>
            </a:extLst>
          </p:cNvPr>
          <p:cNvPicPr>
            <a:picLocks noChangeAspect="1"/>
          </p:cNvPicPr>
          <p:nvPr/>
        </p:nvPicPr>
        <p:blipFill>
          <a:blip r:embed="rId3"/>
          <a:stretch>
            <a:fillRect/>
          </a:stretch>
        </p:blipFill>
        <p:spPr>
          <a:xfrm>
            <a:off x="6096000" y="1959392"/>
            <a:ext cx="4429748" cy="3865814"/>
          </a:xfrm>
          <a:prstGeom prst="rect">
            <a:avLst/>
          </a:prstGeom>
        </p:spPr>
      </p:pic>
    </p:spTree>
    <p:extLst>
      <p:ext uri="{BB962C8B-B14F-4D97-AF65-F5344CB8AC3E}">
        <p14:creationId xmlns:p14="http://schemas.microsoft.com/office/powerpoint/2010/main" val="799787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BF9CE-5D4F-8C6C-792C-D09A6DB0F4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D93A60-A924-DD1B-64D5-943D6DA1FE4A}"/>
              </a:ext>
            </a:extLst>
          </p:cNvPr>
          <p:cNvSpPr>
            <a:spLocks noGrp="1"/>
          </p:cNvSpPr>
          <p:nvPr>
            <p:ph type="title"/>
          </p:nvPr>
        </p:nvSpPr>
        <p:spPr/>
        <p:txBody>
          <a:bodyPr/>
          <a:lstStyle/>
          <a:p>
            <a:r>
              <a:rPr lang="en-US" dirty="0"/>
              <a:t>A well-known nonlinear association</a:t>
            </a:r>
          </a:p>
        </p:txBody>
      </p:sp>
      <p:pic>
        <p:nvPicPr>
          <p:cNvPr id="4" name="Picture 3">
            <a:extLst>
              <a:ext uri="{FF2B5EF4-FFF2-40B4-BE49-F238E27FC236}">
                <a16:creationId xmlns:a16="http://schemas.microsoft.com/office/drawing/2014/main" id="{C020E0F4-3638-F31F-F969-6F20308B2F23}"/>
              </a:ext>
            </a:extLst>
          </p:cNvPr>
          <p:cNvPicPr>
            <a:picLocks noChangeAspect="1"/>
          </p:cNvPicPr>
          <p:nvPr/>
        </p:nvPicPr>
        <p:blipFill>
          <a:blip r:embed="rId2"/>
          <a:stretch>
            <a:fillRect/>
          </a:stretch>
        </p:blipFill>
        <p:spPr>
          <a:xfrm>
            <a:off x="838200" y="1943349"/>
            <a:ext cx="4429748" cy="3865813"/>
          </a:xfrm>
          <a:prstGeom prst="rect">
            <a:avLst/>
          </a:prstGeom>
        </p:spPr>
      </p:pic>
      <p:sp>
        <p:nvSpPr>
          <p:cNvPr id="5" name="TextBox 4">
            <a:extLst>
              <a:ext uri="{FF2B5EF4-FFF2-40B4-BE49-F238E27FC236}">
                <a16:creationId xmlns:a16="http://schemas.microsoft.com/office/drawing/2014/main" id="{69A27A80-C311-25AE-404A-308A15F2801F}"/>
              </a:ext>
            </a:extLst>
          </p:cNvPr>
          <p:cNvSpPr txBox="1"/>
          <p:nvPr/>
        </p:nvSpPr>
        <p:spPr>
          <a:xfrm>
            <a:off x="5267948" y="3429000"/>
            <a:ext cx="628698" cy="523220"/>
          </a:xfrm>
          <a:prstGeom prst="rect">
            <a:avLst/>
          </a:prstGeom>
          <a:noFill/>
        </p:spPr>
        <p:txBody>
          <a:bodyPr wrap="none" rtlCol="0">
            <a:spAutoFit/>
          </a:bodyPr>
          <a:lstStyle/>
          <a:p>
            <a:r>
              <a:rPr lang="en-US" sz="2800" b="1" dirty="0"/>
              <a:t>OR</a:t>
            </a:r>
          </a:p>
        </p:txBody>
      </p:sp>
      <p:pic>
        <p:nvPicPr>
          <p:cNvPr id="10" name="Picture 9">
            <a:extLst>
              <a:ext uri="{FF2B5EF4-FFF2-40B4-BE49-F238E27FC236}">
                <a16:creationId xmlns:a16="http://schemas.microsoft.com/office/drawing/2014/main" id="{B7CDA62A-0CF2-FF2F-8A79-15BEC0CE1149}"/>
              </a:ext>
            </a:extLst>
          </p:cNvPr>
          <p:cNvPicPr>
            <a:picLocks noChangeAspect="1"/>
          </p:cNvPicPr>
          <p:nvPr/>
        </p:nvPicPr>
        <p:blipFill>
          <a:blip r:embed="rId3"/>
          <a:stretch>
            <a:fillRect/>
          </a:stretch>
        </p:blipFill>
        <p:spPr>
          <a:xfrm>
            <a:off x="6295356" y="2018894"/>
            <a:ext cx="4429749" cy="3865814"/>
          </a:xfrm>
          <a:prstGeom prst="rect">
            <a:avLst/>
          </a:prstGeom>
        </p:spPr>
      </p:pic>
    </p:spTree>
    <p:extLst>
      <p:ext uri="{BB962C8B-B14F-4D97-AF65-F5344CB8AC3E}">
        <p14:creationId xmlns:p14="http://schemas.microsoft.com/office/powerpoint/2010/main" val="2209153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A7829-6082-DCB7-654B-F1E6E5BBC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44362-3A2F-4D01-DEB0-9F431DD9D375}"/>
              </a:ext>
            </a:extLst>
          </p:cNvPr>
          <p:cNvSpPr>
            <a:spLocks noGrp="1"/>
          </p:cNvSpPr>
          <p:nvPr>
            <p:ph type="title"/>
          </p:nvPr>
        </p:nvSpPr>
        <p:spPr/>
        <p:txBody>
          <a:bodyPr/>
          <a:lstStyle/>
          <a:p>
            <a:r>
              <a:rPr lang="en-US" dirty="0"/>
              <a:t>A well-known nonlinear association</a:t>
            </a:r>
          </a:p>
        </p:txBody>
      </p:sp>
      <p:pic>
        <p:nvPicPr>
          <p:cNvPr id="4" name="Picture 3">
            <a:extLst>
              <a:ext uri="{FF2B5EF4-FFF2-40B4-BE49-F238E27FC236}">
                <a16:creationId xmlns:a16="http://schemas.microsoft.com/office/drawing/2014/main" id="{2C786616-2D9D-E5F4-B252-23FBCD54ED9E}"/>
              </a:ext>
            </a:extLst>
          </p:cNvPr>
          <p:cNvPicPr>
            <a:picLocks noChangeAspect="1"/>
          </p:cNvPicPr>
          <p:nvPr/>
        </p:nvPicPr>
        <p:blipFill>
          <a:blip r:embed="rId2"/>
          <a:stretch>
            <a:fillRect/>
          </a:stretch>
        </p:blipFill>
        <p:spPr>
          <a:xfrm>
            <a:off x="838200" y="1943349"/>
            <a:ext cx="4429748" cy="3865813"/>
          </a:xfrm>
          <a:prstGeom prst="rect">
            <a:avLst/>
          </a:prstGeom>
        </p:spPr>
      </p:pic>
      <p:pic>
        <p:nvPicPr>
          <p:cNvPr id="6" name="Picture 5">
            <a:extLst>
              <a:ext uri="{FF2B5EF4-FFF2-40B4-BE49-F238E27FC236}">
                <a16:creationId xmlns:a16="http://schemas.microsoft.com/office/drawing/2014/main" id="{1D6E6CCF-5854-1D9B-30DD-7B184DDC1636}"/>
              </a:ext>
            </a:extLst>
          </p:cNvPr>
          <p:cNvPicPr>
            <a:picLocks noChangeAspect="1"/>
          </p:cNvPicPr>
          <p:nvPr/>
        </p:nvPicPr>
        <p:blipFill>
          <a:blip r:embed="rId3"/>
          <a:stretch>
            <a:fillRect/>
          </a:stretch>
        </p:blipFill>
        <p:spPr>
          <a:xfrm>
            <a:off x="6231691" y="1943349"/>
            <a:ext cx="4427838" cy="3864146"/>
          </a:xfrm>
          <a:prstGeom prst="rect">
            <a:avLst/>
          </a:prstGeom>
        </p:spPr>
      </p:pic>
    </p:spTree>
    <p:extLst>
      <p:ext uri="{BB962C8B-B14F-4D97-AF65-F5344CB8AC3E}">
        <p14:creationId xmlns:p14="http://schemas.microsoft.com/office/powerpoint/2010/main" val="1305817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489" y="365125"/>
            <a:ext cx="11591779" cy="1325563"/>
          </a:xfrm>
        </p:spPr>
        <p:txBody>
          <a:bodyPr/>
          <a:lstStyle/>
          <a:p>
            <a:r>
              <a:rPr lang="en-GB" dirty="0"/>
              <a:t>Homoscedasticity/ Homogeneity of Variance</a:t>
            </a:r>
            <a:endParaRPr lang="en-US" dirty="0"/>
          </a:p>
        </p:txBody>
      </p:sp>
      <p:sp>
        <p:nvSpPr>
          <p:cNvPr id="3" name="Content Placeholder 2"/>
          <p:cNvSpPr>
            <a:spLocks noGrp="1"/>
          </p:cNvSpPr>
          <p:nvPr>
            <p:ph idx="1"/>
          </p:nvPr>
        </p:nvSpPr>
        <p:spPr/>
        <p:txBody>
          <a:bodyPr>
            <a:normAutofit/>
          </a:bodyPr>
          <a:lstStyle/>
          <a:p>
            <a:r>
              <a:rPr lang="en-US" sz="3200" dirty="0"/>
              <a:t>When testing several groups of participants, samples should come from populations with the same variance</a:t>
            </a:r>
          </a:p>
          <a:p>
            <a:endParaRPr lang="en-US" sz="3200" dirty="0"/>
          </a:p>
          <a:p>
            <a:r>
              <a:rPr lang="en-US" sz="3200" dirty="0"/>
              <a:t>In correlational designs, the variance of the outcome variable should be stable at all levels of the predictor variable</a:t>
            </a:r>
          </a:p>
        </p:txBody>
      </p:sp>
    </p:spTree>
    <p:extLst>
      <p:ext uri="{BB962C8B-B14F-4D97-AF65-F5344CB8AC3E}">
        <p14:creationId xmlns:p14="http://schemas.microsoft.com/office/powerpoint/2010/main" val="305313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625" y="365125"/>
            <a:ext cx="11563643" cy="1325563"/>
          </a:xfrm>
        </p:spPr>
        <p:txBody>
          <a:bodyPr/>
          <a:lstStyle/>
          <a:p>
            <a:r>
              <a:rPr lang="en-GB" dirty="0"/>
              <a:t>Homoscedasticity/ Homogeneity of Variance</a:t>
            </a:r>
            <a:endParaRPr lang="en-US" dirty="0"/>
          </a:p>
        </p:txBody>
      </p:sp>
      <p:sp>
        <p:nvSpPr>
          <p:cNvPr id="3" name="Content Placeholder 2"/>
          <p:cNvSpPr>
            <a:spLocks noGrp="1"/>
          </p:cNvSpPr>
          <p:nvPr>
            <p:ph idx="1"/>
          </p:nvPr>
        </p:nvSpPr>
        <p:spPr/>
        <p:txBody>
          <a:bodyPr>
            <a:normAutofit/>
          </a:bodyPr>
          <a:lstStyle/>
          <a:p>
            <a:r>
              <a:rPr lang="en-US" sz="3200" dirty="0"/>
              <a:t>Can affect the two main things that we might do when we fit models to data:</a:t>
            </a:r>
          </a:p>
          <a:p>
            <a:endParaRPr lang="en-US" sz="3200" dirty="0"/>
          </a:p>
          <a:p>
            <a:pPr lvl="1"/>
            <a:r>
              <a:rPr lang="en-US" sz="3200" dirty="0"/>
              <a:t>Parameters</a:t>
            </a:r>
          </a:p>
          <a:p>
            <a:pPr lvl="1"/>
            <a:endParaRPr lang="en-US" sz="3200" dirty="0"/>
          </a:p>
          <a:p>
            <a:pPr lvl="1"/>
            <a:r>
              <a:rPr lang="en-US" sz="3200" dirty="0"/>
              <a:t>Null Hypothesis significance testing</a:t>
            </a:r>
          </a:p>
        </p:txBody>
      </p:sp>
    </p:spTree>
    <p:extLst>
      <p:ext uri="{BB962C8B-B14F-4D97-AF65-F5344CB8AC3E}">
        <p14:creationId xmlns:p14="http://schemas.microsoft.com/office/powerpoint/2010/main" val="2537107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a:xfrm>
            <a:off x="506437" y="274638"/>
            <a:ext cx="11197883" cy="1452562"/>
          </a:xfrm>
        </p:spPr>
        <p:txBody>
          <a:bodyPr/>
          <a:lstStyle/>
          <a:p>
            <a:r>
              <a:rPr lang="en-GB" dirty="0"/>
              <a:t>Homoscedasticity/ Homogeneity of Variance</a:t>
            </a:r>
          </a:p>
        </p:txBody>
      </p:sp>
      <p:sp>
        <p:nvSpPr>
          <p:cNvPr id="206855" name="Rectangle 7"/>
          <p:cNvSpPr>
            <a:spLocks noChangeArrowheads="1"/>
          </p:cNvSpPr>
          <p:nvPr/>
        </p:nvSpPr>
        <p:spPr bwMode="auto">
          <a:xfrm>
            <a:off x="3984626" y="2196584"/>
            <a:ext cx="184731" cy="369332"/>
          </a:xfrm>
          <a:prstGeom prst="rect">
            <a:avLst/>
          </a:prstGeom>
          <a:noFill/>
          <a:ln w="9525">
            <a:noFill/>
            <a:miter lim="800000"/>
            <a:headEnd/>
            <a:tailEnd/>
          </a:ln>
          <a:effectLst/>
        </p:spPr>
        <p:txBody>
          <a:bodyPr wrap="none" anchor="ctr">
            <a:spAutoFit/>
          </a:bodyPr>
          <a:lstStyle/>
          <a:p>
            <a:endParaRPr lang="en-GB"/>
          </a:p>
        </p:txBody>
      </p:sp>
      <p:sp>
        <p:nvSpPr>
          <p:cNvPr id="206857" name="Rectangle 9"/>
          <p:cNvSpPr>
            <a:spLocks noChangeArrowheads="1"/>
          </p:cNvSpPr>
          <p:nvPr/>
        </p:nvSpPr>
        <p:spPr bwMode="auto">
          <a:xfrm>
            <a:off x="3984626" y="2196584"/>
            <a:ext cx="184731" cy="369332"/>
          </a:xfrm>
          <a:prstGeom prst="rect">
            <a:avLst/>
          </a:prstGeom>
          <a:noFill/>
          <a:ln w="9525">
            <a:noFill/>
            <a:miter lim="800000"/>
            <a:headEnd/>
            <a:tailEnd/>
          </a:ln>
          <a:effectLst/>
        </p:spPr>
        <p:txBody>
          <a:bodyPr wrap="none" anchor="ctr">
            <a:spAutoFit/>
          </a:bodyPr>
          <a:lstStyle/>
          <a:p>
            <a:endParaRPr lang="en-GB"/>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1714" y="1368902"/>
            <a:ext cx="5592457" cy="5374973"/>
          </a:xfrm>
          <a:prstGeom prst="rect">
            <a:avLst/>
          </a:prstGeom>
        </p:spPr>
      </p:pic>
    </p:spTree>
    <p:extLst>
      <p:ext uri="{BB962C8B-B14F-4D97-AF65-F5344CB8AC3E}">
        <p14:creationId xmlns:p14="http://schemas.microsoft.com/office/powerpoint/2010/main" val="10305079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Spotting Outliers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557751"/>
            <a:ext cx="10706947" cy="4758643"/>
          </a:xfrm>
          <a:prstGeom prst="rect">
            <a:avLst/>
          </a:prstGeom>
        </p:spPr>
      </p:pic>
    </p:spTree>
    <p:extLst>
      <p:ext uri="{BB962C8B-B14F-4D97-AF65-F5344CB8AC3E}">
        <p14:creationId xmlns:p14="http://schemas.microsoft.com/office/powerpoint/2010/main" val="40314959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2937"/>
            <a:ext cx="11671545" cy="5187352"/>
          </a:xfrm>
          <a:prstGeom prst="rect">
            <a:avLst/>
          </a:prstGeom>
        </p:spPr>
      </p:pic>
      <p:sp>
        <p:nvSpPr>
          <p:cNvPr id="5" name="Title 3">
            <a:extLst>
              <a:ext uri="{FF2B5EF4-FFF2-40B4-BE49-F238E27FC236}">
                <a16:creationId xmlns:a16="http://schemas.microsoft.com/office/drawing/2014/main" id="{1226E689-6F23-F240-A2A6-40FE222BC3F6}"/>
              </a:ext>
            </a:extLst>
          </p:cNvPr>
          <p:cNvSpPr txBox="1">
            <a:spLocks/>
          </p:cNvSpPr>
          <p:nvPr/>
        </p:nvSpPr>
        <p:spPr>
          <a:xfrm>
            <a:off x="838200" y="660549"/>
            <a:ext cx="10515600" cy="774358"/>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Arial" panose="020B0604020202020204" pitchFamily="34" charset="0"/>
                <a:ea typeface="+mj-ea"/>
                <a:cs typeface="Arial" panose="020B0604020202020204" pitchFamily="34" charset="0"/>
              </a:defRPr>
            </a:lvl1pPr>
          </a:lstStyle>
          <a:p>
            <a:pPr algn="ctr"/>
            <a:r>
              <a:rPr lang="en-US" dirty="0"/>
              <a:t>Spotting Outliers</a:t>
            </a:r>
          </a:p>
        </p:txBody>
      </p:sp>
    </p:spTree>
    <p:extLst>
      <p:ext uri="{BB962C8B-B14F-4D97-AF65-F5344CB8AC3E}">
        <p14:creationId xmlns:p14="http://schemas.microsoft.com/office/powerpoint/2010/main" val="21167763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715" name="Rectangle 3"/>
          <p:cNvSpPr>
            <a:spLocks noGrp="1" noChangeArrowheads="1"/>
          </p:cNvSpPr>
          <p:nvPr>
            <p:ph type="title"/>
          </p:nvPr>
        </p:nvSpPr>
        <p:spPr/>
        <p:txBody>
          <a:bodyPr/>
          <a:lstStyle/>
          <a:p>
            <a:r>
              <a:rPr lang="en-GB" dirty="0"/>
              <a:t>Spotting Normality</a:t>
            </a:r>
          </a:p>
        </p:txBody>
      </p:sp>
      <p:sp>
        <p:nvSpPr>
          <p:cNvPr id="115714" name="Rectangle 2"/>
          <p:cNvSpPr>
            <a:spLocks noGrp="1" noChangeArrowheads="1"/>
          </p:cNvSpPr>
          <p:nvPr>
            <p:ph idx="1"/>
          </p:nvPr>
        </p:nvSpPr>
        <p:spPr>
          <a:xfrm>
            <a:off x="838200" y="1642745"/>
            <a:ext cx="10515600" cy="4351338"/>
          </a:xfrm>
        </p:spPr>
        <p:txBody>
          <a:bodyPr>
            <a:normAutofit lnSpcReduction="10000"/>
          </a:bodyPr>
          <a:lstStyle/>
          <a:p>
            <a:pPr>
              <a:spcBef>
                <a:spcPct val="30000"/>
              </a:spcBef>
              <a:spcAft>
                <a:spcPct val="30000"/>
              </a:spcAft>
            </a:pPr>
            <a:r>
              <a:rPr lang="en-GB" sz="2800" dirty="0"/>
              <a:t>Central Limit Theorem</a:t>
            </a:r>
          </a:p>
          <a:p>
            <a:pPr lvl="1">
              <a:spcBef>
                <a:spcPct val="30000"/>
              </a:spcBef>
              <a:spcAft>
                <a:spcPct val="30000"/>
              </a:spcAft>
            </a:pPr>
            <a:r>
              <a:rPr lang="en-GB" sz="2400" dirty="0"/>
              <a:t>If </a:t>
            </a:r>
            <a:r>
              <a:rPr lang="en-GB" sz="2400" i="1" dirty="0"/>
              <a:t>N </a:t>
            </a:r>
            <a:r>
              <a:rPr lang="en-GB" sz="2400" dirty="0"/>
              <a:t>&gt; 30, the sampling distribution is normal anyway (arguably)</a:t>
            </a:r>
          </a:p>
          <a:p>
            <a:pPr>
              <a:spcBef>
                <a:spcPct val="30000"/>
              </a:spcBef>
              <a:spcAft>
                <a:spcPct val="30000"/>
              </a:spcAft>
            </a:pPr>
            <a:r>
              <a:rPr lang="en-GB" sz="2800" dirty="0"/>
              <a:t>Graphical displays</a:t>
            </a:r>
          </a:p>
          <a:p>
            <a:pPr lvl="1">
              <a:spcBef>
                <a:spcPct val="30000"/>
              </a:spcBef>
              <a:spcAft>
                <a:spcPct val="30000"/>
              </a:spcAft>
            </a:pPr>
            <a:r>
              <a:rPr lang="en-GB" sz="2400" dirty="0"/>
              <a:t>P-P Plot (or Q-Q plot)</a:t>
            </a:r>
          </a:p>
          <a:p>
            <a:pPr lvl="1">
              <a:spcBef>
                <a:spcPct val="30000"/>
              </a:spcBef>
              <a:spcAft>
                <a:spcPct val="30000"/>
              </a:spcAft>
            </a:pPr>
            <a:r>
              <a:rPr lang="en-GB" sz="2400" dirty="0"/>
              <a:t>Histogram</a:t>
            </a:r>
          </a:p>
          <a:p>
            <a:pPr>
              <a:spcBef>
                <a:spcPct val="30000"/>
              </a:spcBef>
              <a:spcAft>
                <a:spcPct val="30000"/>
              </a:spcAft>
            </a:pPr>
            <a:r>
              <a:rPr lang="en-GB" sz="2800" dirty="0"/>
              <a:t>Values of skew/kurtosis</a:t>
            </a:r>
          </a:p>
          <a:p>
            <a:pPr lvl="1">
              <a:spcBef>
                <a:spcPct val="30000"/>
              </a:spcBef>
              <a:spcAft>
                <a:spcPct val="30000"/>
              </a:spcAft>
            </a:pPr>
            <a:r>
              <a:rPr lang="en-GB" sz="2400" dirty="0"/>
              <a:t>0 in a normal distribution</a:t>
            </a:r>
          </a:p>
          <a:p>
            <a:pPr>
              <a:spcBef>
                <a:spcPct val="30000"/>
              </a:spcBef>
              <a:spcAft>
                <a:spcPct val="30000"/>
              </a:spcAft>
            </a:pPr>
            <a:r>
              <a:rPr lang="en-GB" sz="2800" dirty="0"/>
              <a:t>Kolmogorov-Smirnov Test (but the result depends on </a:t>
            </a:r>
            <a:r>
              <a:rPr lang="en-GB" sz="2800" i="1" dirty="0"/>
              <a:t>N</a:t>
            </a:r>
            <a:r>
              <a:rPr lang="en-GB" sz="2800" dirty="0"/>
              <a:t>)</a:t>
            </a:r>
          </a:p>
        </p:txBody>
      </p:sp>
    </p:spTree>
    <p:extLst>
      <p:ext uri="{BB962C8B-B14F-4D97-AF65-F5344CB8AC3E}">
        <p14:creationId xmlns:p14="http://schemas.microsoft.com/office/powerpoint/2010/main" val="3095548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7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57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571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71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571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5714">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571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57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uiExpand="1"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happens when assumptions are violated?</a:t>
            </a:r>
          </a:p>
        </p:txBody>
      </p:sp>
      <p:sp>
        <p:nvSpPr>
          <p:cNvPr id="3" name="Content Placeholder 2"/>
          <p:cNvSpPr>
            <a:spLocks noGrp="1"/>
          </p:cNvSpPr>
          <p:nvPr>
            <p:ph idx="1"/>
          </p:nvPr>
        </p:nvSpPr>
        <p:spPr/>
        <p:txBody>
          <a:bodyPr>
            <a:normAutofit fontScale="92500" lnSpcReduction="10000"/>
          </a:bodyPr>
          <a:lstStyle/>
          <a:p>
            <a:r>
              <a:rPr lang="en-US" sz="3200" dirty="0"/>
              <a:t>Make an a-priori rule about identifying and eliminating outliers (e.g., +/- 3 SD from mean)</a:t>
            </a:r>
          </a:p>
          <a:p>
            <a:pPr lvl="1"/>
            <a:r>
              <a:rPr lang="en-US" sz="2800" dirty="0"/>
              <a:t>Why would it be okay to eliminate data?</a:t>
            </a:r>
          </a:p>
          <a:p>
            <a:endParaRPr lang="en-US" sz="3200" dirty="0"/>
          </a:p>
          <a:p>
            <a:r>
              <a:rPr lang="en-US" sz="3200" dirty="0"/>
              <a:t>Transform the data by applying a mathematical function to scores</a:t>
            </a:r>
          </a:p>
          <a:p>
            <a:pPr lvl="1"/>
            <a:r>
              <a:rPr lang="en-US" sz="2800" dirty="0"/>
              <a:t>Changes the interpretation of the association</a:t>
            </a:r>
          </a:p>
          <a:p>
            <a:pPr lvl="1"/>
            <a:endParaRPr lang="en-US" sz="3200" dirty="0"/>
          </a:p>
          <a:p>
            <a:r>
              <a:rPr lang="en-US" sz="3200" dirty="0"/>
              <a:t>Use Non-parametric tests (more on this later)</a:t>
            </a:r>
          </a:p>
          <a:p>
            <a:pPr lvl="1"/>
            <a:r>
              <a:rPr lang="en-US" sz="2800" dirty="0"/>
              <a:t>Changes the interpretation of the association</a:t>
            </a:r>
          </a:p>
          <a:p>
            <a:pPr lvl="1"/>
            <a:endParaRPr lang="en-US" sz="2400" dirty="0"/>
          </a:p>
          <a:p>
            <a:endParaRPr lang="en-US" dirty="0"/>
          </a:p>
        </p:txBody>
      </p:sp>
    </p:spTree>
    <p:extLst>
      <p:ext uri="{BB962C8B-B14F-4D97-AF65-F5344CB8AC3E}">
        <p14:creationId xmlns:p14="http://schemas.microsoft.com/office/powerpoint/2010/main" val="307503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502311" y="274639"/>
            <a:ext cx="11117603" cy="1452562"/>
          </a:xfrm>
        </p:spPr>
        <p:txBody>
          <a:bodyPr/>
          <a:lstStyle/>
          <a:p>
            <a:r>
              <a:rPr lang="en-GB" dirty="0"/>
              <a:t>Transforming Data</a:t>
            </a:r>
          </a:p>
        </p:txBody>
      </p:sp>
      <p:sp>
        <p:nvSpPr>
          <p:cNvPr id="123908" name="Rectangle 4"/>
          <p:cNvSpPr>
            <a:spLocks noGrp="1" noChangeArrowheads="1"/>
          </p:cNvSpPr>
          <p:nvPr>
            <p:ph idx="1"/>
          </p:nvPr>
        </p:nvSpPr>
        <p:spPr>
          <a:xfrm>
            <a:off x="838199" y="1558338"/>
            <a:ext cx="10556631" cy="5025023"/>
          </a:xfrm>
        </p:spPr>
        <p:txBody>
          <a:bodyPr>
            <a:normAutofit/>
          </a:bodyPr>
          <a:lstStyle/>
          <a:p>
            <a:pPr>
              <a:lnSpc>
                <a:spcPct val="90000"/>
              </a:lnSpc>
            </a:pPr>
            <a:r>
              <a:rPr lang="en-GB" sz="3200" dirty="0"/>
              <a:t>Log transformation (log(x</a:t>
            </a:r>
            <a:r>
              <a:rPr lang="en-GB" sz="3200" baseline="-25000" dirty="0"/>
              <a:t>i</a:t>
            </a:r>
            <a:r>
              <a:rPr lang="en-GB" sz="3200" dirty="0"/>
              <a:t>))</a:t>
            </a:r>
          </a:p>
          <a:p>
            <a:pPr lvl="1">
              <a:lnSpc>
                <a:spcPct val="90000"/>
              </a:lnSpc>
            </a:pPr>
            <a:r>
              <a:rPr lang="en-GB" sz="3200" dirty="0"/>
              <a:t>Reduce positive skew.</a:t>
            </a:r>
          </a:p>
          <a:p>
            <a:pPr>
              <a:lnSpc>
                <a:spcPct val="90000"/>
              </a:lnSpc>
            </a:pPr>
            <a:r>
              <a:rPr lang="en-GB" sz="3200" dirty="0"/>
              <a:t>Square root transformation (</a:t>
            </a:r>
            <a:r>
              <a:rPr lang="en-GB" sz="3200" dirty="0">
                <a:cs typeface="Arial" charset="0"/>
              </a:rPr>
              <a:t>√</a:t>
            </a:r>
            <a:r>
              <a:rPr lang="en-GB" sz="3200" dirty="0"/>
              <a:t>x</a:t>
            </a:r>
            <a:r>
              <a:rPr lang="en-GB" sz="3200" baseline="-25000" dirty="0"/>
              <a:t>i</a:t>
            </a:r>
            <a:r>
              <a:rPr lang="en-GB" sz="3200" dirty="0"/>
              <a:t>):</a:t>
            </a:r>
          </a:p>
          <a:p>
            <a:pPr lvl="1">
              <a:lnSpc>
                <a:spcPct val="90000"/>
              </a:lnSpc>
            </a:pPr>
            <a:r>
              <a:rPr lang="en-GB" sz="3200" dirty="0"/>
              <a:t>Also reduces positive skew. Can also be useful for stabilizing variance.</a:t>
            </a:r>
          </a:p>
          <a:p>
            <a:pPr>
              <a:lnSpc>
                <a:spcPct val="90000"/>
              </a:lnSpc>
            </a:pPr>
            <a:r>
              <a:rPr lang="en-GB" sz="3200" dirty="0"/>
              <a:t>Reciprocal transformation (1/ x</a:t>
            </a:r>
            <a:r>
              <a:rPr lang="en-GB" sz="3200" baseline="-25000" dirty="0"/>
              <a:t>i</a:t>
            </a:r>
            <a:r>
              <a:rPr lang="en-GB" sz="3200" dirty="0"/>
              <a:t>):</a:t>
            </a:r>
          </a:p>
          <a:p>
            <a:pPr lvl="1">
              <a:lnSpc>
                <a:spcPct val="90000"/>
              </a:lnSpc>
            </a:pPr>
            <a:r>
              <a:rPr lang="en-GB" sz="3200" dirty="0"/>
              <a:t>Dividing 1 by each score also reduces the impact of large scores. This transformation reverses the scores, you can avoid this by reversing the scores before the transformation, 1/(</a:t>
            </a:r>
            <a:r>
              <a:rPr lang="en-GB" sz="3200" dirty="0" err="1"/>
              <a:t>x</a:t>
            </a:r>
            <a:r>
              <a:rPr lang="en-GB" sz="3200" baseline="-25000" dirty="0" err="1"/>
              <a:t>highest</a:t>
            </a:r>
            <a:r>
              <a:rPr lang="en-GB" sz="3200" dirty="0"/>
              <a:t> – x</a:t>
            </a:r>
            <a:r>
              <a:rPr lang="en-GB" sz="3200" baseline="-25000" dirty="0"/>
              <a:t>i</a:t>
            </a:r>
            <a:r>
              <a:rPr lang="en-GB" sz="3200" dirty="0"/>
              <a:t>).</a:t>
            </a:r>
          </a:p>
          <a:p>
            <a:pPr lvl="1">
              <a:lnSpc>
                <a:spcPct val="90000"/>
              </a:lnSpc>
            </a:pPr>
            <a:endParaRPr lang="en-US" sz="2400" dirty="0"/>
          </a:p>
        </p:txBody>
      </p:sp>
    </p:spTree>
    <p:extLst>
      <p:ext uri="{BB962C8B-B14F-4D97-AF65-F5344CB8AC3E}">
        <p14:creationId xmlns:p14="http://schemas.microsoft.com/office/powerpoint/2010/main" val="3048413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90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3908">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390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3908">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390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2" name="Rectangle 4"/>
          <p:cNvSpPr>
            <a:spLocks noGrp="1" noChangeArrowheads="1"/>
          </p:cNvSpPr>
          <p:nvPr>
            <p:ph type="title"/>
          </p:nvPr>
        </p:nvSpPr>
        <p:spPr/>
        <p:txBody>
          <a:bodyPr/>
          <a:lstStyle/>
          <a:p>
            <a:r>
              <a:rPr lang="en-GB" dirty="0"/>
              <a:t>Log Transformation</a:t>
            </a:r>
            <a:endParaRPr lang="en-US" dirty="0"/>
          </a:p>
        </p:txBody>
      </p:sp>
      <p:sp>
        <p:nvSpPr>
          <p:cNvPr id="186377" name="Text Box 9"/>
          <p:cNvSpPr txBox="1">
            <a:spLocks noChangeArrowheads="1"/>
          </p:cNvSpPr>
          <p:nvPr/>
        </p:nvSpPr>
        <p:spPr bwMode="auto">
          <a:xfrm>
            <a:off x="1837983" y="1506022"/>
            <a:ext cx="3626618" cy="369332"/>
          </a:xfrm>
          <a:prstGeom prst="rect">
            <a:avLst/>
          </a:prstGeom>
          <a:noFill/>
          <a:ln w="9525">
            <a:noFill/>
            <a:miter lim="800000"/>
            <a:headEnd/>
            <a:tailEnd/>
          </a:ln>
          <a:effectLst/>
        </p:spPr>
        <p:txBody>
          <a:bodyPr wrap="square">
            <a:spAutoFit/>
          </a:bodyPr>
          <a:lstStyle/>
          <a:p>
            <a:pPr algn="ctr"/>
            <a:r>
              <a:rPr lang="en-GB" dirty="0">
                <a:latin typeface="Arial" panose="020B0604020202020204" pitchFamily="34" charset="0"/>
                <a:cs typeface="Arial" panose="020B0604020202020204" pitchFamily="34" charset="0"/>
              </a:rPr>
              <a:t>Before</a:t>
            </a:r>
            <a:endParaRPr lang="en-US" dirty="0">
              <a:latin typeface="Arial" panose="020B0604020202020204" pitchFamily="34" charset="0"/>
              <a:cs typeface="Arial" panose="020B0604020202020204" pitchFamily="34" charset="0"/>
            </a:endParaRPr>
          </a:p>
        </p:txBody>
      </p:sp>
      <p:sp>
        <p:nvSpPr>
          <p:cNvPr id="186378" name="Text Box 10"/>
          <p:cNvSpPr txBox="1">
            <a:spLocks noChangeArrowheads="1"/>
          </p:cNvSpPr>
          <p:nvPr/>
        </p:nvSpPr>
        <p:spPr bwMode="auto">
          <a:xfrm>
            <a:off x="7460957" y="1410931"/>
            <a:ext cx="3626618" cy="369332"/>
          </a:xfrm>
          <a:prstGeom prst="rect">
            <a:avLst/>
          </a:prstGeom>
          <a:noFill/>
          <a:ln w="9525">
            <a:noFill/>
            <a:miter lim="800000"/>
            <a:headEnd/>
            <a:tailEnd/>
          </a:ln>
          <a:effectLst/>
        </p:spPr>
        <p:txBody>
          <a:bodyPr wrap="square">
            <a:spAutoFit/>
          </a:bodyPr>
          <a:lstStyle/>
          <a:p>
            <a:pPr algn="ctr"/>
            <a:r>
              <a:rPr lang="en-GB">
                <a:latin typeface="Arial" panose="020B0604020202020204" pitchFamily="34" charset="0"/>
                <a:cs typeface="Arial" panose="020B0604020202020204" pitchFamily="34" charset="0"/>
              </a:rPr>
              <a:t>After</a:t>
            </a:r>
            <a:endParaRPr lang="en-US">
              <a:latin typeface="Arial" panose="020B0604020202020204" pitchFamily="34" charset="0"/>
              <a:cs typeface="Arial" panose="020B0604020202020204" pitchFamily="34" charset="0"/>
            </a:endParaRPr>
          </a:p>
        </p:txBody>
      </p:sp>
      <p:pic>
        <p:nvPicPr>
          <p:cNvPr id="11" name="Picture 10"/>
          <p:cNvPicPr>
            <a:picLocks noChangeAspect="1"/>
          </p:cNvPicPr>
          <p:nvPr/>
        </p:nvPicPr>
        <p:blipFill>
          <a:blip r:embed="rId3"/>
          <a:srcRect/>
          <a:stretch>
            <a:fillRect/>
          </a:stretch>
        </p:blipFill>
        <p:spPr bwMode="auto">
          <a:xfrm>
            <a:off x="5926066" y="1869838"/>
            <a:ext cx="6049286" cy="4857760"/>
          </a:xfrm>
          <a:prstGeom prst="rect">
            <a:avLst/>
          </a:prstGeom>
          <a:noFill/>
          <a:ln w="9525">
            <a:noFill/>
            <a:miter lim="800000"/>
            <a:headEnd/>
            <a:tailEnd/>
          </a:ln>
        </p:spPr>
      </p:pic>
      <p:pic>
        <p:nvPicPr>
          <p:cNvPr id="10" name="Picture 9"/>
          <p:cNvPicPr>
            <a:picLocks noChangeAspect="1"/>
          </p:cNvPicPr>
          <p:nvPr/>
        </p:nvPicPr>
        <p:blipFill>
          <a:blip r:embed="rId4" cstate="print"/>
          <a:srcRect/>
          <a:stretch>
            <a:fillRect/>
          </a:stretch>
        </p:blipFill>
        <p:spPr bwMode="auto">
          <a:xfrm>
            <a:off x="398726" y="1869838"/>
            <a:ext cx="6085948" cy="4857760"/>
          </a:xfrm>
          <a:prstGeom prst="rect">
            <a:avLst/>
          </a:prstGeom>
          <a:noFill/>
          <a:ln w="9525">
            <a:noFill/>
            <a:miter lim="800000"/>
            <a:headEnd/>
            <a:tailEnd/>
          </a:ln>
        </p:spPr>
      </p:pic>
    </p:spTree>
    <p:extLst>
      <p:ext uri="{BB962C8B-B14F-4D97-AF65-F5344CB8AC3E}">
        <p14:creationId xmlns:p14="http://schemas.microsoft.com/office/powerpoint/2010/main" val="9941555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610631" y="365125"/>
            <a:ext cx="11092249" cy="1325563"/>
          </a:xfrm>
        </p:spPr>
        <p:txBody>
          <a:bodyPr>
            <a:normAutofit/>
          </a:bodyPr>
          <a:lstStyle/>
          <a:p>
            <a:r>
              <a:rPr lang="en-GB" dirty="0"/>
              <a:t>Square Root Transformation</a:t>
            </a:r>
            <a:endParaRPr lang="en-US" dirty="0"/>
          </a:p>
        </p:txBody>
      </p:sp>
      <p:sp>
        <p:nvSpPr>
          <p:cNvPr id="189445" name="Text Box 5"/>
          <p:cNvSpPr txBox="1">
            <a:spLocks noChangeArrowheads="1"/>
          </p:cNvSpPr>
          <p:nvPr/>
        </p:nvSpPr>
        <p:spPr bwMode="auto">
          <a:xfrm>
            <a:off x="2063067" y="1506022"/>
            <a:ext cx="3556282" cy="369332"/>
          </a:xfrm>
          <a:prstGeom prst="rect">
            <a:avLst/>
          </a:prstGeom>
          <a:noFill/>
          <a:ln w="9525">
            <a:noFill/>
            <a:miter lim="800000"/>
            <a:headEnd/>
            <a:tailEnd/>
          </a:ln>
          <a:effectLst/>
        </p:spPr>
        <p:txBody>
          <a:bodyPr wrap="square">
            <a:spAutoFit/>
          </a:bodyPr>
          <a:lstStyle/>
          <a:p>
            <a:pPr algn="ctr"/>
            <a:r>
              <a:rPr lang="en-GB" dirty="0">
                <a:latin typeface="Arial" panose="020B0604020202020204" pitchFamily="34" charset="0"/>
                <a:cs typeface="Arial" panose="020B0604020202020204" pitchFamily="34" charset="0"/>
              </a:rPr>
              <a:t>Before</a:t>
            </a:r>
            <a:endParaRPr lang="en-US" dirty="0">
              <a:latin typeface="Arial" panose="020B0604020202020204" pitchFamily="34" charset="0"/>
              <a:cs typeface="Arial" panose="020B0604020202020204" pitchFamily="34" charset="0"/>
            </a:endParaRPr>
          </a:p>
        </p:txBody>
      </p:sp>
      <p:sp>
        <p:nvSpPr>
          <p:cNvPr id="189446" name="Text Box 6"/>
          <p:cNvSpPr txBox="1">
            <a:spLocks noChangeArrowheads="1"/>
          </p:cNvSpPr>
          <p:nvPr/>
        </p:nvSpPr>
        <p:spPr bwMode="auto">
          <a:xfrm>
            <a:off x="7559431" y="1506022"/>
            <a:ext cx="3556282" cy="369332"/>
          </a:xfrm>
          <a:prstGeom prst="rect">
            <a:avLst/>
          </a:prstGeom>
          <a:noFill/>
          <a:ln w="9525">
            <a:noFill/>
            <a:miter lim="800000"/>
            <a:headEnd/>
            <a:tailEnd/>
          </a:ln>
          <a:effectLst/>
        </p:spPr>
        <p:txBody>
          <a:bodyPr wrap="square">
            <a:spAutoFit/>
          </a:bodyPr>
          <a:lstStyle/>
          <a:p>
            <a:pPr algn="ctr"/>
            <a:r>
              <a:rPr lang="en-GB">
                <a:latin typeface="Arial" panose="020B0604020202020204" pitchFamily="34" charset="0"/>
                <a:cs typeface="Arial" panose="020B0604020202020204" pitchFamily="34" charset="0"/>
              </a:rPr>
              <a:t>After</a:t>
            </a:r>
            <a:endParaRPr lang="en-US">
              <a:latin typeface="Arial" panose="020B0604020202020204" pitchFamily="34" charset="0"/>
              <a:cs typeface="Arial" panose="020B0604020202020204" pitchFamily="34" charset="0"/>
            </a:endParaRPr>
          </a:p>
        </p:txBody>
      </p:sp>
      <p:pic>
        <p:nvPicPr>
          <p:cNvPr id="11" name="Picture 10"/>
          <p:cNvPicPr>
            <a:picLocks noChangeAspect="1"/>
          </p:cNvPicPr>
          <p:nvPr/>
        </p:nvPicPr>
        <p:blipFill>
          <a:blip r:embed="rId2"/>
          <a:srcRect/>
          <a:stretch>
            <a:fillRect/>
          </a:stretch>
        </p:blipFill>
        <p:spPr bwMode="auto">
          <a:xfrm>
            <a:off x="6096000" y="1973397"/>
            <a:ext cx="5606880" cy="4492635"/>
          </a:xfrm>
          <a:prstGeom prst="rect">
            <a:avLst/>
          </a:prstGeom>
          <a:noFill/>
          <a:ln w="9525">
            <a:noFill/>
            <a:miter lim="800000"/>
            <a:headEnd/>
            <a:tailEnd/>
          </a:ln>
        </p:spPr>
      </p:pic>
      <p:pic>
        <p:nvPicPr>
          <p:cNvPr id="9" name="Picture 8"/>
          <p:cNvPicPr>
            <a:picLocks noChangeAspect="1"/>
          </p:cNvPicPr>
          <p:nvPr/>
        </p:nvPicPr>
        <p:blipFill>
          <a:blip r:embed="rId3" cstate="print"/>
          <a:srcRect/>
          <a:stretch>
            <a:fillRect/>
          </a:stretch>
        </p:blipFill>
        <p:spPr bwMode="auto">
          <a:xfrm>
            <a:off x="610631" y="1973397"/>
            <a:ext cx="5662137" cy="4519477"/>
          </a:xfrm>
          <a:prstGeom prst="rect">
            <a:avLst/>
          </a:prstGeom>
          <a:noFill/>
          <a:ln w="9525">
            <a:noFill/>
            <a:miter lim="800000"/>
            <a:headEnd/>
            <a:tailEnd/>
          </a:ln>
        </p:spPr>
      </p:pic>
    </p:spTree>
    <p:extLst>
      <p:ext uri="{BB962C8B-B14F-4D97-AF65-F5344CB8AC3E}">
        <p14:creationId xmlns:p14="http://schemas.microsoft.com/office/powerpoint/2010/main" val="30013855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B4432-679E-184E-A304-ADAB06D93BC3}"/>
              </a:ext>
            </a:extLst>
          </p:cNvPr>
          <p:cNvSpPr>
            <a:spLocks noGrp="1"/>
          </p:cNvSpPr>
          <p:nvPr>
            <p:ph type="title"/>
          </p:nvPr>
        </p:nvSpPr>
        <p:spPr/>
        <p:txBody>
          <a:bodyPr/>
          <a:lstStyle/>
          <a:p>
            <a:r>
              <a:rPr lang="en-US" dirty="0"/>
              <a:t>How do you decide?</a:t>
            </a:r>
          </a:p>
        </p:txBody>
      </p:sp>
      <p:sp>
        <p:nvSpPr>
          <p:cNvPr id="3" name="Content Placeholder 2">
            <a:extLst>
              <a:ext uri="{FF2B5EF4-FFF2-40B4-BE49-F238E27FC236}">
                <a16:creationId xmlns:a16="http://schemas.microsoft.com/office/drawing/2014/main" id="{FBC7EF03-04AB-8E42-8961-3B3B5E6979F2}"/>
              </a:ext>
            </a:extLst>
          </p:cNvPr>
          <p:cNvSpPr>
            <a:spLocks noGrp="1"/>
          </p:cNvSpPr>
          <p:nvPr>
            <p:ph idx="1"/>
          </p:nvPr>
        </p:nvSpPr>
        <p:spPr/>
        <p:txBody>
          <a:bodyPr/>
          <a:lstStyle/>
          <a:p>
            <a:r>
              <a:rPr lang="en-US" sz="3200" dirty="0"/>
              <a:t>Have a plan before you collect data</a:t>
            </a:r>
          </a:p>
          <a:p>
            <a:endParaRPr lang="en-US" sz="3200" dirty="0"/>
          </a:p>
          <a:p>
            <a:r>
              <a:rPr lang="en-US" sz="3200" dirty="0"/>
              <a:t>Plan should be based on:</a:t>
            </a:r>
          </a:p>
          <a:p>
            <a:pPr lvl="1"/>
            <a:r>
              <a:rPr lang="en-US" sz="3200" dirty="0"/>
              <a:t>Your hypotheses and what’s right for your dataset</a:t>
            </a:r>
          </a:p>
          <a:p>
            <a:pPr lvl="1"/>
            <a:r>
              <a:rPr lang="en-US" sz="3200" dirty="0"/>
              <a:t>What is typical or standard in your field</a:t>
            </a:r>
          </a:p>
          <a:p>
            <a:pPr lvl="1"/>
            <a:r>
              <a:rPr lang="en-US" sz="3200" dirty="0"/>
              <a:t>The proposed size of your sample</a:t>
            </a:r>
          </a:p>
          <a:p>
            <a:pPr lvl="1"/>
            <a:r>
              <a:rPr lang="en-US" sz="3200" dirty="0"/>
              <a:t>The robustness of your proposed effect</a:t>
            </a:r>
          </a:p>
          <a:p>
            <a:pPr lvl="1"/>
            <a:r>
              <a:rPr lang="en-US" sz="3200" dirty="0"/>
              <a:t>A systematic, thoughtful rationale</a:t>
            </a:r>
          </a:p>
          <a:p>
            <a:pPr lvl="1"/>
            <a:endParaRPr lang="en-US" dirty="0"/>
          </a:p>
          <a:p>
            <a:endParaRPr lang="en-US" dirty="0"/>
          </a:p>
          <a:p>
            <a:endParaRPr lang="en-US" dirty="0"/>
          </a:p>
          <a:p>
            <a:endParaRPr lang="en-US" dirty="0"/>
          </a:p>
        </p:txBody>
      </p:sp>
    </p:spTree>
    <p:extLst>
      <p:ext uri="{BB962C8B-B14F-4D97-AF65-F5344CB8AC3E}">
        <p14:creationId xmlns:p14="http://schemas.microsoft.com/office/powerpoint/2010/main" val="3763868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3BC18-EB7E-3370-2AA7-0C9151E3FDFF}"/>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F56BF6DB-700C-6E73-82A1-8C3D7520A337}"/>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9627330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83D7-6245-3440-8629-EF9B0F85846D}"/>
              </a:ext>
            </a:extLst>
          </p:cNvPr>
          <p:cNvSpPr>
            <a:spLocks noGrp="1"/>
          </p:cNvSpPr>
          <p:nvPr>
            <p:ph type="title"/>
          </p:nvPr>
        </p:nvSpPr>
        <p:spPr/>
        <p:txBody>
          <a:bodyPr/>
          <a:lstStyle/>
          <a:p>
            <a:r>
              <a:rPr lang="en-US" dirty="0"/>
              <a:t>Data Visualization</a:t>
            </a:r>
          </a:p>
        </p:txBody>
      </p:sp>
      <p:sp>
        <p:nvSpPr>
          <p:cNvPr id="3" name="Content Placeholder 2">
            <a:extLst>
              <a:ext uri="{FF2B5EF4-FFF2-40B4-BE49-F238E27FC236}">
                <a16:creationId xmlns:a16="http://schemas.microsoft.com/office/drawing/2014/main" id="{79CFD54A-85A0-9B42-ACDD-DA629E6634C7}"/>
              </a:ext>
            </a:extLst>
          </p:cNvPr>
          <p:cNvSpPr>
            <a:spLocks noGrp="1"/>
          </p:cNvSpPr>
          <p:nvPr>
            <p:ph idx="1"/>
          </p:nvPr>
        </p:nvSpPr>
        <p:spPr/>
        <p:txBody>
          <a:bodyPr/>
          <a:lstStyle/>
          <a:p>
            <a:r>
              <a:rPr lang="en-US" sz="3200" dirty="0"/>
              <a:t>You need to do it before you analyze your data (to check for all of the issues we just discussed!)</a:t>
            </a:r>
          </a:p>
          <a:p>
            <a:endParaRPr lang="en-US" sz="3200" dirty="0"/>
          </a:p>
          <a:p>
            <a:r>
              <a:rPr lang="en-US" sz="3200" dirty="0"/>
              <a:t>But also, to represent your data clearly and concisely to an audience</a:t>
            </a:r>
          </a:p>
        </p:txBody>
      </p:sp>
    </p:spTree>
    <p:extLst>
      <p:ext uri="{BB962C8B-B14F-4D97-AF65-F5344CB8AC3E}">
        <p14:creationId xmlns:p14="http://schemas.microsoft.com/office/powerpoint/2010/main" val="324607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Art of Presenting Data</a:t>
            </a:r>
          </a:p>
        </p:txBody>
      </p:sp>
      <p:sp>
        <p:nvSpPr>
          <p:cNvPr id="3" name="Content Placeholder 2"/>
          <p:cNvSpPr>
            <a:spLocks noGrp="1"/>
          </p:cNvSpPr>
          <p:nvPr>
            <p:ph idx="1"/>
          </p:nvPr>
        </p:nvSpPr>
        <p:spPr/>
        <p:txBody>
          <a:bodyPr>
            <a:normAutofit/>
          </a:bodyPr>
          <a:lstStyle/>
          <a:p>
            <a:r>
              <a:rPr lang="en-GB" sz="3200" dirty="0"/>
              <a:t>Graphs should (</a:t>
            </a:r>
            <a:r>
              <a:rPr lang="en-GB" sz="3200" dirty="0" err="1"/>
              <a:t>Tufte</a:t>
            </a:r>
            <a:r>
              <a:rPr lang="en-GB" sz="3200" dirty="0"/>
              <a:t>, 2001):</a:t>
            </a:r>
          </a:p>
          <a:p>
            <a:pPr lvl="1"/>
            <a:r>
              <a:rPr lang="en-GB" sz="3000" dirty="0"/>
              <a:t>Show the data</a:t>
            </a:r>
          </a:p>
          <a:p>
            <a:pPr lvl="1"/>
            <a:r>
              <a:rPr lang="en-GB" sz="3000" dirty="0"/>
              <a:t>Induce the reader to think about the data being presented (rather than some other aspect of the graph)</a:t>
            </a:r>
          </a:p>
          <a:p>
            <a:pPr lvl="1"/>
            <a:r>
              <a:rPr lang="en-GB" sz="3000" dirty="0"/>
              <a:t>Avoid distorting the data</a:t>
            </a:r>
          </a:p>
          <a:p>
            <a:pPr lvl="1"/>
            <a:r>
              <a:rPr lang="en-GB" sz="3000" dirty="0"/>
              <a:t>Present many numbers with minimum ink</a:t>
            </a:r>
          </a:p>
          <a:p>
            <a:pPr lvl="1"/>
            <a:r>
              <a:rPr lang="en-GB" sz="3000" dirty="0"/>
              <a:t>Make large data sets (assuming you have one) coherent</a:t>
            </a:r>
          </a:p>
          <a:p>
            <a:pPr lvl="1"/>
            <a:r>
              <a:rPr lang="en-GB" sz="3000" dirty="0"/>
              <a:t>Encourage the reader to compare different pieces of data</a:t>
            </a:r>
          </a:p>
        </p:txBody>
      </p:sp>
    </p:spTree>
    <p:extLst>
      <p:ext uri="{BB962C8B-B14F-4D97-AF65-F5344CB8AC3E}">
        <p14:creationId xmlns:p14="http://schemas.microsoft.com/office/powerpoint/2010/main" val="565937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F5BC56-5797-EF47-B1D8-B8A357F03FA1}"/>
              </a:ext>
            </a:extLst>
          </p:cNvPr>
          <p:cNvPicPr>
            <a:picLocks noChangeAspect="1"/>
          </p:cNvPicPr>
          <p:nvPr/>
        </p:nvPicPr>
        <p:blipFill>
          <a:blip r:embed="rId3"/>
          <a:stretch>
            <a:fillRect/>
          </a:stretch>
        </p:blipFill>
        <p:spPr>
          <a:xfrm>
            <a:off x="500575" y="532227"/>
            <a:ext cx="11386625" cy="5727896"/>
          </a:xfrm>
          <a:prstGeom prst="rect">
            <a:avLst/>
          </a:prstGeom>
        </p:spPr>
      </p:pic>
      <p:sp>
        <p:nvSpPr>
          <p:cNvPr id="7" name="TextBox 6">
            <a:extLst>
              <a:ext uri="{FF2B5EF4-FFF2-40B4-BE49-F238E27FC236}">
                <a16:creationId xmlns:a16="http://schemas.microsoft.com/office/drawing/2014/main" id="{310B0217-5B4D-4846-8117-1C149B7DAD09}"/>
              </a:ext>
            </a:extLst>
          </p:cNvPr>
          <p:cNvSpPr txBox="1"/>
          <p:nvPr/>
        </p:nvSpPr>
        <p:spPr>
          <a:xfrm>
            <a:off x="886265" y="1879081"/>
            <a:ext cx="2666627" cy="861774"/>
          </a:xfrm>
          <a:prstGeom prst="rect">
            <a:avLst/>
          </a:prstGeom>
          <a:noFill/>
        </p:spPr>
        <p:txBody>
          <a:bodyPr wrap="none" rtlCol="0">
            <a:spAutoFit/>
          </a:bodyPr>
          <a:lstStyle/>
          <a:p>
            <a:r>
              <a:rPr lang="en-US" sz="5000" b="1" dirty="0">
                <a:solidFill>
                  <a:srgbClr val="FF0000"/>
                </a:solidFill>
                <a:latin typeface="Arial" panose="020B0604020202020204" pitchFamily="34" charset="0"/>
                <a:cs typeface="Arial" panose="020B0604020202020204" pitchFamily="34" charset="0"/>
              </a:rPr>
              <a:t>WHAT’S</a:t>
            </a:r>
            <a:endParaRPr lang="en-US" sz="5000"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A55B90D8-1BFE-874F-9246-18ABA256619D}"/>
              </a:ext>
            </a:extLst>
          </p:cNvPr>
          <p:cNvSpPr txBox="1"/>
          <p:nvPr/>
        </p:nvSpPr>
        <p:spPr>
          <a:xfrm>
            <a:off x="838687" y="3207828"/>
            <a:ext cx="2714205" cy="861774"/>
          </a:xfrm>
          <a:prstGeom prst="rect">
            <a:avLst/>
          </a:prstGeom>
          <a:noFill/>
        </p:spPr>
        <p:txBody>
          <a:bodyPr wrap="none" rtlCol="0">
            <a:spAutoFit/>
          </a:bodyPr>
          <a:lstStyle/>
          <a:p>
            <a:r>
              <a:rPr lang="en-US" sz="5000" b="1" dirty="0">
                <a:solidFill>
                  <a:srgbClr val="FF0000"/>
                </a:solidFill>
                <a:latin typeface="Arial" panose="020B0604020202020204" pitchFamily="34" charset="0"/>
                <a:cs typeface="Arial" panose="020B0604020202020204" pitchFamily="34" charset="0"/>
              </a:rPr>
              <a:t>WRONG</a:t>
            </a:r>
            <a:endParaRPr lang="en-US" sz="5000" b="1"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1D24E873-FF00-FA42-8DDC-FEB6EB2EE321}"/>
              </a:ext>
            </a:extLst>
          </p:cNvPr>
          <p:cNvSpPr txBox="1"/>
          <p:nvPr/>
        </p:nvSpPr>
        <p:spPr>
          <a:xfrm>
            <a:off x="1134108" y="4536575"/>
            <a:ext cx="1822935" cy="861774"/>
          </a:xfrm>
          <a:prstGeom prst="rect">
            <a:avLst/>
          </a:prstGeom>
          <a:noFill/>
        </p:spPr>
        <p:txBody>
          <a:bodyPr wrap="none" rtlCol="0">
            <a:spAutoFit/>
          </a:bodyPr>
          <a:lstStyle/>
          <a:p>
            <a:r>
              <a:rPr lang="en-US" sz="5000" b="1" dirty="0">
                <a:solidFill>
                  <a:srgbClr val="FF0000"/>
                </a:solidFill>
                <a:latin typeface="Arial" panose="020B0604020202020204" pitchFamily="34" charset="0"/>
                <a:cs typeface="Arial" panose="020B0604020202020204" pitchFamily="34" charset="0"/>
              </a:rPr>
              <a:t>WITH</a:t>
            </a:r>
            <a:endParaRPr lang="en-US" sz="5000" b="1"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E3594DE6-020A-FC44-A57E-A1D6419E4996}"/>
              </a:ext>
            </a:extLst>
          </p:cNvPr>
          <p:cNvSpPr txBox="1"/>
          <p:nvPr/>
        </p:nvSpPr>
        <p:spPr>
          <a:xfrm>
            <a:off x="9437640" y="2309968"/>
            <a:ext cx="1645002" cy="861774"/>
          </a:xfrm>
          <a:prstGeom prst="rect">
            <a:avLst/>
          </a:prstGeom>
          <a:noFill/>
        </p:spPr>
        <p:txBody>
          <a:bodyPr wrap="none" rtlCol="0">
            <a:spAutoFit/>
          </a:bodyPr>
          <a:lstStyle/>
          <a:p>
            <a:r>
              <a:rPr lang="en-US" sz="5000" b="1" dirty="0">
                <a:solidFill>
                  <a:srgbClr val="FF0000"/>
                </a:solidFill>
                <a:latin typeface="Arial" panose="020B0604020202020204" pitchFamily="34" charset="0"/>
                <a:cs typeface="Arial" panose="020B0604020202020204" pitchFamily="34" charset="0"/>
              </a:rPr>
              <a:t>THIS</a:t>
            </a:r>
            <a:endParaRPr lang="en-US" sz="50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8F8A67C1-A3AB-C84D-9606-A97691A9B309}"/>
              </a:ext>
            </a:extLst>
          </p:cNvPr>
          <p:cNvSpPr txBox="1"/>
          <p:nvPr/>
        </p:nvSpPr>
        <p:spPr>
          <a:xfrm>
            <a:off x="8995062" y="3686259"/>
            <a:ext cx="2892138" cy="861774"/>
          </a:xfrm>
          <a:prstGeom prst="rect">
            <a:avLst/>
          </a:prstGeom>
          <a:noFill/>
        </p:spPr>
        <p:txBody>
          <a:bodyPr wrap="none" rtlCol="0">
            <a:spAutoFit/>
          </a:bodyPr>
          <a:lstStyle/>
          <a:p>
            <a:r>
              <a:rPr lang="en-US" sz="5000" b="1" dirty="0">
                <a:solidFill>
                  <a:srgbClr val="FF0000"/>
                </a:solidFill>
                <a:latin typeface="Arial" panose="020B0604020202020204" pitchFamily="34" charset="0"/>
                <a:cs typeface="Arial" panose="020B0604020202020204" pitchFamily="34" charset="0"/>
              </a:rPr>
              <a:t>GRAPH?</a:t>
            </a:r>
            <a:endParaRPr lang="en-US" sz="5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04731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70C8C-C4B0-1145-8911-DDDB2A2F2494}"/>
              </a:ext>
            </a:extLst>
          </p:cNvPr>
          <p:cNvSpPr>
            <a:spLocks noGrp="1"/>
          </p:cNvSpPr>
          <p:nvPr>
            <p:ph type="title"/>
          </p:nvPr>
        </p:nvSpPr>
        <p:spPr/>
        <p:txBody>
          <a:bodyPr/>
          <a:lstStyle/>
          <a:p>
            <a:r>
              <a:rPr lang="en-US" dirty="0"/>
              <a:t>What’s wrong with this graph?</a:t>
            </a:r>
          </a:p>
        </p:txBody>
      </p:sp>
      <p:pic>
        <p:nvPicPr>
          <p:cNvPr id="8194" name="Picture 2" descr="bad academic chart">
            <a:extLst>
              <a:ext uri="{FF2B5EF4-FFF2-40B4-BE49-F238E27FC236}">
                <a16:creationId xmlns:a16="http://schemas.microsoft.com/office/drawing/2014/main" id="{81DC7CEC-90CC-8841-8A2D-1DF95E64E04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7782"/>
          <a:stretch/>
        </p:blipFill>
        <p:spPr bwMode="auto">
          <a:xfrm>
            <a:off x="2565791" y="1690689"/>
            <a:ext cx="8675467" cy="5046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1379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67F0E-602E-BC47-8091-AF8E17713573}"/>
              </a:ext>
            </a:extLst>
          </p:cNvPr>
          <p:cNvSpPr>
            <a:spLocks noGrp="1"/>
          </p:cNvSpPr>
          <p:nvPr>
            <p:ph type="title"/>
          </p:nvPr>
        </p:nvSpPr>
        <p:spPr/>
        <p:txBody>
          <a:bodyPr/>
          <a:lstStyle/>
          <a:p>
            <a:r>
              <a:rPr lang="en-US" dirty="0"/>
              <a:t>What’s wrong with this graph?</a:t>
            </a:r>
          </a:p>
        </p:txBody>
      </p:sp>
      <p:pic>
        <p:nvPicPr>
          <p:cNvPr id="2050" name="Picture 2" descr="usa-today-2">
            <a:extLst>
              <a:ext uri="{FF2B5EF4-FFF2-40B4-BE49-F238E27FC236}">
                <a16:creationId xmlns:a16="http://schemas.microsoft.com/office/drawing/2014/main" id="{D73C338F-16EA-CA45-9265-0170894414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3440" y="1419322"/>
            <a:ext cx="5080000" cy="527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39195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34ECA-724D-6E46-97BF-12800AF48490}"/>
              </a:ext>
            </a:extLst>
          </p:cNvPr>
          <p:cNvSpPr>
            <a:spLocks noGrp="1"/>
          </p:cNvSpPr>
          <p:nvPr>
            <p:ph type="title"/>
          </p:nvPr>
        </p:nvSpPr>
        <p:spPr/>
        <p:txBody>
          <a:bodyPr/>
          <a:lstStyle/>
          <a:p>
            <a:r>
              <a:rPr lang="en-US" dirty="0"/>
              <a:t>What’s wrong with this graph?</a:t>
            </a:r>
          </a:p>
        </p:txBody>
      </p:sp>
      <p:pic>
        <p:nvPicPr>
          <p:cNvPr id="4" name="Picture 3">
            <a:extLst>
              <a:ext uri="{FF2B5EF4-FFF2-40B4-BE49-F238E27FC236}">
                <a16:creationId xmlns:a16="http://schemas.microsoft.com/office/drawing/2014/main" id="{0635894F-8BF8-3947-AC0C-DEF0DEEFEA26}"/>
              </a:ext>
            </a:extLst>
          </p:cNvPr>
          <p:cNvPicPr>
            <a:picLocks noChangeAspect="1"/>
          </p:cNvPicPr>
          <p:nvPr/>
        </p:nvPicPr>
        <p:blipFill>
          <a:blip r:embed="rId3"/>
          <a:stretch>
            <a:fillRect/>
          </a:stretch>
        </p:blipFill>
        <p:spPr>
          <a:xfrm>
            <a:off x="2587955" y="1451537"/>
            <a:ext cx="7016089" cy="5185805"/>
          </a:xfrm>
          <a:prstGeom prst="rect">
            <a:avLst/>
          </a:prstGeom>
        </p:spPr>
      </p:pic>
    </p:spTree>
    <p:extLst>
      <p:ext uri="{BB962C8B-B14F-4D97-AF65-F5344CB8AC3E}">
        <p14:creationId xmlns:p14="http://schemas.microsoft.com/office/powerpoint/2010/main" val="25365155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2F86C-BE13-1B4C-89E4-9CFE85FE54C9}"/>
              </a:ext>
            </a:extLst>
          </p:cNvPr>
          <p:cNvSpPr>
            <a:spLocks noGrp="1"/>
          </p:cNvSpPr>
          <p:nvPr>
            <p:ph type="title"/>
          </p:nvPr>
        </p:nvSpPr>
        <p:spPr/>
        <p:txBody>
          <a:bodyPr/>
          <a:lstStyle/>
          <a:p>
            <a:r>
              <a:rPr lang="en-US" dirty="0"/>
              <a:t>What’s wrong with this graph?</a:t>
            </a:r>
          </a:p>
        </p:txBody>
      </p:sp>
      <p:pic>
        <p:nvPicPr>
          <p:cNvPr id="5122" name="Picture 2" descr="soccer chart">
            <a:extLst>
              <a:ext uri="{FF2B5EF4-FFF2-40B4-BE49-F238E27FC236}">
                <a16:creationId xmlns:a16="http://schemas.microsoft.com/office/drawing/2014/main" id="{ADA04543-DE48-B543-AE43-D96C84F773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90688"/>
            <a:ext cx="12192000" cy="4651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31922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94D24-4738-973F-4BAF-CA3108DB9E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D681DE-CDCD-604E-AEA6-F2CC99A6F933}"/>
              </a:ext>
            </a:extLst>
          </p:cNvPr>
          <p:cNvSpPr>
            <a:spLocks noGrp="1"/>
          </p:cNvSpPr>
          <p:nvPr>
            <p:ph type="title"/>
          </p:nvPr>
        </p:nvSpPr>
        <p:spPr/>
        <p:txBody>
          <a:bodyPr/>
          <a:lstStyle/>
          <a:p>
            <a:r>
              <a:rPr lang="en-US" dirty="0"/>
              <a:t>What’s wrong with this graph?</a:t>
            </a:r>
          </a:p>
        </p:txBody>
      </p:sp>
      <p:pic>
        <p:nvPicPr>
          <p:cNvPr id="9218" name="Picture 2" descr="r/dataisugly - Flights of fantasy">
            <a:extLst>
              <a:ext uri="{FF2B5EF4-FFF2-40B4-BE49-F238E27FC236}">
                <a16:creationId xmlns:a16="http://schemas.microsoft.com/office/drawing/2014/main" id="{D06A5F08-6BB6-3DC1-BF11-5AAF3C57EA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4048" y="1736391"/>
            <a:ext cx="3823904" cy="4756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37102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B2737-96A7-3F3A-A5B5-EB5DDFF8B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5CDE53-1993-5EFD-7E53-8A9651E7A495}"/>
              </a:ext>
            </a:extLst>
          </p:cNvPr>
          <p:cNvSpPr>
            <a:spLocks noGrp="1"/>
          </p:cNvSpPr>
          <p:nvPr>
            <p:ph type="title"/>
          </p:nvPr>
        </p:nvSpPr>
        <p:spPr/>
        <p:txBody>
          <a:bodyPr/>
          <a:lstStyle/>
          <a:p>
            <a:r>
              <a:rPr lang="en-US" dirty="0"/>
              <a:t>Watch out for accidental messages!</a:t>
            </a:r>
          </a:p>
        </p:txBody>
      </p:sp>
      <p:pic>
        <p:nvPicPr>
          <p:cNvPr id="10242" name="Picture 2" descr="r/dataisugly - Not sure if this counts. Inadvertently overly honest venn-diagram.">
            <a:extLst>
              <a:ext uri="{FF2B5EF4-FFF2-40B4-BE49-F238E27FC236}">
                <a16:creationId xmlns:a16="http://schemas.microsoft.com/office/drawing/2014/main" id="{097BE0FD-C58F-3839-58EF-8A5A8ECEAD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8705" y="2131678"/>
            <a:ext cx="4034589" cy="4034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79953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AC565-0DF7-8CC0-FEAA-C39E876BED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85CD6-FE67-1185-9D6B-5C453FE74590}"/>
              </a:ext>
            </a:extLst>
          </p:cNvPr>
          <p:cNvSpPr>
            <a:spLocks noGrp="1"/>
          </p:cNvSpPr>
          <p:nvPr>
            <p:ph type="title"/>
          </p:nvPr>
        </p:nvSpPr>
        <p:spPr/>
        <p:txBody>
          <a:bodyPr/>
          <a:lstStyle/>
          <a:p>
            <a:r>
              <a:rPr lang="en-US" dirty="0"/>
              <a:t>What’s wrong with this graph?</a:t>
            </a:r>
          </a:p>
        </p:txBody>
      </p:sp>
      <p:pic>
        <p:nvPicPr>
          <p:cNvPr id="9220" name="Picture 4" descr="r/dataisugly - wtf">
            <a:extLst>
              <a:ext uri="{FF2B5EF4-FFF2-40B4-BE49-F238E27FC236}">
                <a16:creationId xmlns:a16="http://schemas.microsoft.com/office/drawing/2014/main" id="{A9CCF2AC-A40E-ACFC-2E43-7B5BD2A310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2691" y="1690688"/>
            <a:ext cx="4426618" cy="4402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44890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A8E41-96A2-C3C0-3B9B-4D8A0E6B3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53ED7F-1F9E-865B-57B6-43B010978B90}"/>
              </a:ext>
            </a:extLst>
          </p:cNvPr>
          <p:cNvSpPr>
            <a:spLocks noGrp="1"/>
          </p:cNvSpPr>
          <p:nvPr>
            <p:ph type="title"/>
          </p:nvPr>
        </p:nvSpPr>
        <p:spPr/>
        <p:txBody>
          <a:bodyPr/>
          <a:lstStyle/>
          <a:p>
            <a:r>
              <a:rPr lang="en-US" dirty="0"/>
              <a:t>What’s wrong with this graph?</a:t>
            </a:r>
          </a:p>
        </p:txBody>
      </p:sp>
      <p:pic>
        <p:nvPicPr>
          <p:cNvPr id="11266" name="Picture 2" descr="r/dataisugly - Horrible graph from the Economist. It took two science PhD in my household half an hour to understand it.">
            <a:extLst>
              <a:ext uri="{FF2B5EF4-FFF2-40B4-BE49-F238E27FC236}">
                <a16:creationId xmlns:a16="http://schemas.microsoft.com/office/drawing/2014/main" id="{9FD0B771-B750-D8BC-3333-785682EA1D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4754" y="1690688"/>
            <a:ext cx="4822491" cy="4965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89958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6CC4-31F6-7F10-2AF3-FA5275E6EF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0424C1-A0B2-2F84-FDFB-83E6387BD40F}"/>
              </a:ext>
            </a:extLst>
          </p:cNvPr>
          <p:cNvSpPr>
            <a:spLocks noGrp="1"/>
          </p:cNvSpPr>
          <p:nvPr>
            <p:ph type="title"/>
          </p:nvPr>
        </p:nvSpPr>
        <p:spPr/>
        <p:txBody>
          <a:bodyPr/>
          <a:lstStyle/>
          <a:p>
            <a:r>
              <a:rPr lang="en-US" dirty="0"/>
              <a:t>What’s wrong with this graph?</a:t>
            </a:r>
          </a:p>
        </p:txBody>
      </p:sp>
      <p:pic>
        <p:nvPicPr>
          <p:cNvPr id="11268" name="Picture 4" descr="r/dataisugly - In a way it's correct">
            <a:extLst>
              <a:ext uri="{FF2B5EF4-FFF2-40B4-BE49-F238E27FC236}">
                <a16:creationId xmlns:a16="http://schemas.microsoft.com/office/drawing/2014/main" id="{B80F4184-BE67-1B45-23E3-782DF3C7BF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4754" y="1962823"/>
            <a:ext cx="4822492" cy="4445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41408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DE208-0ECB-C8D7-2808-6E00E3550836}"/>
            </a:ext>
          </a:extLst>
        </p:cNvPr>
        <p:cNvGrpSpPr/>
        <p:nvPr/>
      </p:nvGrpSpPr>
      <p:grpSpPr>
        <a:xfrm>
          <a:off x="0" y="0"/>
          <a:ext cx="0" cy="0"/>
          <a:chOff x="0" y="0"/>
          <a:chExt cx="0" cy="0"/>
        </a:xfrm>
      </p:grpSpPr>
      <p:pic>
        <p:nvPicPr>
          <p:cNvPr id="13314" name="Picture 2" descr="r/dataisugly - A Cool Guide To The Top Social Apps We Spend The Most Time On">
            <a:extLst>
              <a:ext uri="{FF2B5EF4-FFF2-40B4-BE49-F238E27FC236}">
                <a16:creationId xmlns:a16="http://schemas.microsoft.com/office/drawing/2014/main" id="{FD2D6E0C-8366-D9EF-0954-62C9D0D604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4754" y="1774492"/>
            <a:ext cx="4822492" cy="482249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E8079AD-DCCD-E7E5-A933-85D934EF6298}"/>
              </a:ext>
            </a:extLst>
          </p:cNvPr>
          <p:cNvSpPr>
            <a:spLocks noGrp="1"/>
          </p:cNvSpPr>
          <p:nvPr>
            <p:ph type="title"/>
          </p:nvPr>
        </p:nvSpPr>
        <p:spPr/>
        <p:txBody>
          <a:bodyPr/>
          <a:lstStyle/>
          <a:p>
            <a:r>
              <a:rPr lang="en-US" dirty="0"/>
              <a:t>What’s wrong with this graph?</a:t>
            </a:r>
          </a:p>
        </p:txBody>
      </p:sp>
    </p:spTree>
    <p:extLst>
      <p:ext uri="{BB962C8B-B14F-4D97-AF65-F5344CB8AC3E}">
        <p14:creationId xmlns:p14="http://schemas.microsoft.com/office/powerpoint/2010/main" val="3292924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7AD9D-F02C-B140-8801-C9B9ECC22310}"/>
              </a:ext>
            </a:extLst>
          </p:cNvPr>
          <p:cNvSpPr>
            <a:spLocks noGrp="1"/>
          </p:cNvSpPr>
          <p:nvPr>
            <p:ph type="title"/>
          </p:nvPr>
        </p:nvSpPr>
        <p:spPr/>
        <p:txBody>
          <a:bodyPr/>
          <a:lstStyle/>
          <a:p>
            <a:r>
              <a:rPr lang="en-US" dirty="0"/>
              <a:t>What’s wrong with this graph?</a:t>
            </a:r>
          </a:p>
        </p:txBody>
      </p:sp>
      <p:pic>
        <p:nvPicPr>
          <p:cNvPr id="6146" name="Picture 2" descr="canada drinking chart">
            <a:extLst>
              <a:ext uri="{FF2B5EF4-FFF2-40B4-BE49-F238E27FC236}">
                <a16:creationId xmlns:a16="http://schemas.microsoft.com/office/drawing/2014/main" id="{B71A7655-8AF5-4A4D-A336-CFF2AC67EC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5638" y="1481052"/>
            <a:ext cx="7740724" cy="4729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05142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87447-2762-E345-9CD1-F3A7C67BFF74}"/>
              </a:ext>
            </a:extLst>
          </p:cNvPr>
          <p:cNvSpPr>
            <a:spLocks noGrp="1"/>
          </p:cNvSpPr>
          <p:nvPr>
            <p:ph type="title"/>
          </p:nvPr>
        </p:nvSpPr>
        <p:spPr/>
        <p:txBody>
          <a:bodyPr/>
          <a:lstStyle/>
          <a:p>
            <a:r>
              <a:rPr lang="en-US" dirty="0"/>
              <a:t>What’s wrong with this graph?</a:t>
            </a:r>
          </a:p>
        </p:txBody>
      </p:sp>
      <p:pic>
        <p:nvPicPr>
          <p:cNvPr id="4098" name="Picture 2">
            <a:extLst>
              <a:ext uri="{FF2B5EF4-FFF2-40B4-BE49-F238E27FC236}">
                <a16:creationId xmlns:a16="http://schemas.microsoft.com/office/drawing/2014/main" id="{372C9FFE-2DEE-A940-A3D6-E069F6EC1B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6877" y="1690688"/>
            <a:ext cx="6358988" cy="4769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53765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82320-67AF-7B46-85F0-2722197D2957}"/>
              </a:ext>
            </a:extLst>
          </p:cNvPr>
          <p:cNvSpPr>
            <a:spLocks noGrp="1"/>
          </p:cNvSpPr>
          <p:nvPr>
            <p:ph type="title"/>
          </p:nvPr>
        </p:nvSpPr>
        <p:spPr/>
        <p:txBody>
          <a:bodyPr/>
          <a:lstStyle/>
          <a:p>
            <a:r>
              <a:rPr lang="en-US" dirty="0"/>
              <a:t>What’s wrong with this graph?</a:t>
            </a:r>
          </a:p>
        </p:txBody>
      </p:sp>
      <p:pic>
        <p:nvPicPr>
          <p:cNvPr id="3074" name="Picture 2" descr="lanacane[1]">
            <a:extLst>
              <a:ext uri="{FF2B5EF4-FFF2-40B4-BE49-F238E27FC236}">
                <a16:creationId xmlns:a16="http://schemas.microsoft.com/office/drawing/2014/main" id="{08E5B7D1-EB2E-6A41-9853-B48AEA6CFF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2824" y="1557776"/>
            <a:ext cx="6543040" cy="4907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02784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FFA5D-BBDF-2B4C-93A2-6B94569DE06F}"/>
              </a:ext>
            </a:extLst>
          </p:cNvPr>
          <p:cNvSpPr>
            <a:spLocks noGrp="1"/>
          </p:cNvSpPr>
          <p:nvPr>
            <p:ph type="title"/>
          </p:nvPr>
        </p:nvSpPr>
        <p:spPr/>
        <p:txBody>
          <a:bodyPr/>
          <a:lstStyle/>
          <a:p>
            <a:r>
              <a:rPr lang="en-US" dirty="0"/>
              <a:t>What’s wrong with this graph?</a:t>
            </a:r>
          </a:p>
        </p:txBody>
      </p:sp>
      <p:pic>
        <p:nvPicPr>
          <p:cNvPr id="7170" name="Picture 2" descr="worst chart">
            <a:extLst>
              <a:ext uri="{FF2B5EF4-FFF2-40B4-BE49-F238E27FC236}">
                <a16:creationId xmlns:a16="http://schemas.microsoft.com/office/drawing/2014/main" id="{076F65CF-7247-B344-8D99-D061E1B880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1468" y="1814732"/>
            <a:ext cx="3151503" cy="4902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52604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Histograms</a:t>
            </a:r>
          </a:p>
        </p:txBody>
      </p:sp>
      <p:sp>
        <p:nvSpPr>
          <p:cNvPr id="3" name="Content Placeholder 2"/>
          <p:cNvSpPr>
            <a:spLocks noGrp="1"/>
          </p:cNvSpPr>
          <p:nvPr>
            <p:ph idx="1"/>
          </p:nvPr>
        </p:nvSpPr>
        <p:spPr>
          <a:xfrm>
            <a:off x="838200" y="1502068"/>
            <a:ext cx="10515600" cy="4351338"/>
          </a:xfrm>
        </p:spPr>
        <p:txBody>
          <a:bodyPr>
            <a:noAutofit/>
          </a:bodyPr>
          <a:lstStyle/>
          <a:p>
            <a:r>
              <a:rPr lang="en-GB" sz="3200" dirty="0"/>
              <a:t>Histograms plot:</a:t>
            </a:r>
          </a:p>
          <a:p>
            <a:pPr lvl="1"/>
            <a:r>
              <a:rPr lang="en-GB" sz="3200" dirty="0"/>
              <a:t>The score (</a:t>
            </a:r>
            <a:r>
              <a:rPr lang="en-GB" sz="3200" i="1" dirty="0"/>
              <a:t>x</a:t>
            </a:r>
            <a:r>
              <a:rPr lang="en-GB" sz="3200" dirty="0"/>
              <a:t>-axis)</a:t>
            </a:r>
          </a:p>
          <a:p>
            <a:pPr lvl="1"/>
            <a:r>
              <a:rPr lang="en-GB" sz="3200" dirty="0"/>
              <a:t>The frequency (</a:t>
            </a:r>
            <a:r>
              <a:rPr lang="en-GB" sz="3200" i="1" dirty="0"/>
              <a:t>y</a:t>
            </a:r>
            <a:r>
              <a:rPr lang="en-GB" sz="3200" dirty="0"/>
              <a:t>-axis)</a:t>
            </a:r>
          </a:p>
          <a:p>
            <a:r>
              <a:rPr lang="en-GB" sz="3200" dirty="0"/>
              <a:t>Histograms help us to identify:</a:t>
            </a:r>
          </a:p>
          <a:p>
            <a:pPr lvl="1"/>
            <a:r>
              <a:rPr lang="en-GB" sz="3200" dirty="0"/>
              <a:t>The shape of the distribution</a:t>
            </a:r>
          </a:p>
          <a:p>
            <a:pPr lvl="2"/>
            <a:r>
              <a:rPr lang="en-GB" sz="3200" dirty="0"/>
              <a:t>Skew</a:t>
            </a:r>
          </a:p>
          <a:p>
            <a:pPr lvl="2"/>
            <a:r>
              <a:rPr lang="en-GB" sz="3200" dirty="0"/>
              <a:t>Kurtosis</a:t>
            </a:r>
          </a:p>
          <a:p>
            <a:pPr lvl="2"/>
            <a:r>
              <a:rPr lang="en-GB" sz="3200" dirty="0"/>
              <a:t>Spread or variation in scores</a:t>
            </a:r>
          </a:p>
          <a:p>
            <a:pPr lvl="1"/>
            <a:r>
              <a:rPr lang="en-GB" sz="3200" dirty="0"/>
              <a:t>Unusual scores</a:t>
            </a:r>
          </a:p>
        </p:txBody>
      </p:sp>
    </p:spTree>
    <p:extLst>
      <p:ext uri="{BB962C8B-B14F-4D97-AF65-F5344CB8AC3E}">
        <p14:creationId xmlns:p14="http://schemas.microsoft.com/office/powerpoint/2010/main" val="2309141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Boxplots (box-whisker diagrams)</a:t>
            </a:r>
          </a:p>
        </p:txBody>
      </p:sp>
      <p:sp>
        <p:nvSpPr>
          <p:cNvPr id="3" name="Content Placeholder 2"/>
          <p:cNvSpPr>
            <a:spLocks noGrp="1"/>
          </p:cNvSpPr>
          <p:nvPr>
            <p:ph idx="1"/>
          </p:nvPr>
        </p:nvSpPr>
        <p:spPr/>
        <p:txBody>
          <a:bodyPr>
            <a:normAutofit fontScale="92500"/>
          </a:bodyPr>
          <a:lstStyle/>
          <a:p>
            <a:r>
              <a:rPr lang="en-GB" sz="3200" dirty="0" err="1"/>
              <a:t>Boxplots</a:t>
            </a:r>
            <a:r>
              <a:rPr lang="en-GB" sz="3200" dirty="0"/>
              <a:t> are made up of a box and two whiskers.</a:t>
            </a:r>
          </a:p>
          <a:p>
            <a:r>
              <a:rPr lang="en-GB" sz="3200" dirty="0"/>
              <a:t>The box shows:</a:t>
            </a:r>
          </a:p>
          <a:p>
            <a:pPr lvl="1"/>
            <a:r>
              <a:rPr lang="en-GB" sz="3000" dirty="0"/>
              <a:t>The median</a:t>
            </a:r>
          </a:p>
          <a:p>
            <a:pPr lvl="1"/>
            <a:r>
              <a:rPr lang="en-GB" sz="3000" dirty="0"/>
              <a:t>The upper and lower quartile</a:t>
            </a:r>
          </a:p>
          <a:p>
            <a:pPr lvl="1"/>
            <a:r>
              <a:rPr lang="en-GB" sz="3000" dirty="0"/>
              <a:t>The limits within which the middle 50% of scores lie.</a:t>
            </a:r>
          </a:p>
          <a:p>
            <a:endParaRPr lang="en-GB" dirty="0"/>
          </a:p>
          <a:p>
            <a:r>
              <a:rPr lang="en-GB" sz="3200" dirty="0"/>
              <a:t>The whiskers show</a:t>
            </a:r>
          </a:p>
          <a:p>
            <a:pPr lvl="1"/>
            <a:r>
              <a:rPr lang="en-GB" sz="3000" dirty="0"/>
              <a:t>The range of scores</a:t>
            </a:r>
          </a:p>
          <a:p>
            <a:pPr lvl="1"/>
            <a:r>
              <a:rPr lang="en-GB" sz="3000" dirty="0"/>
              <a:t>The limits within which the top and bottom 25% of scores lie</a:t>
            </a:r>
          </a:p>
        </p:txBody>
      </p:sp>
    </p:spTree>
    <p:extLst>
      <p:ext uri="{BB962C8B-B14F-4D97-AF65-F5344CB8AC3E}">
        <p14:creationId xmlns:p14="http://schemas.microsoft.com/office/powerpoint/2010/main" val="2842576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Boxplots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6426" y="1507812"/>
            <a:ext cx="6663897" cy="5350188"/>
          </a:xfrm>
          <a:prstGeom prst="rect">
            <a:avLst/>
          </a:prstGeom>
        </p:spPr>
      </p:pic>
    </p:spTree>
    <p:extLst>
      <p:ext uri="{BB962C8B-B14F-4D97-AF65-F5344CB8AC3E}">
        <p14:creationId xmlns:p14="http://schemas.microsoft.com/office/powerpoint/2010/main" val="15345611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Spotting Outliers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557751"/>
            <a:ext cx="10706947" cy="4758643"/>
          </a:xfrm>
          <a:prstGeom prst="rect">
            <a:avLst/>
          </a:prstGeom>
        </p:spPr>
      </p:pic>
    </p:spTree>
    <p:extLst>
      <p:ext uri="{BB962C8B-B14F-4D97-AF65-F5344CB8AC3E}">
        <p14:creationId xmlns:p14="http://schemas.microsoft.com/office/powerpoint/2010/main" val="29142871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2937"/>
            <a:ext cx="11671545" cy="5187352"/>
          </a:xfrm>
          <a:prstGeom prst="rect">
            <a:avLst/>
          </a:prstGeom>
        </p:spPr>
      </p:pic>
      <p:sp>
        <p:nvSpPr>
          <p:cNvPr id="5" name="Title 3">
            <a:extLst>
              <a:ext uri="{FF2B5EF4-FFF2-40B4-BE49-F238E27FC236}">
                <a16:creationId xmlns:a16="http://schemas.microsoft.com/office/drawing/2014/main" id="{1226E689-6F23-F240-A2A6-40FE222BC3F6}"/>
              </a:ext>
            </a:extLst>
          </p:cNvPr>
          <p:cNvSpPr txBox="1">
            <a:spLocks/>
          </p:cNvSpPr>
          <p:nvPr/>
        </p:nvSpPr>
        <p:spPr>
          <a:xfrm>
            <a:off x="838200" y="660549"/>
            <a:ext cx="10515600" cy="774358"/>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Arial" panose="020B0604020202020204" pitchFamily="34" charset="0"/>
                <a:ea typeface="+mj-ea"/>
                <a:cs typeface="Arial" panose="020B0604020202020204" pitchFamily="34" charset="0"/>
              </a:defRPr>
            </a:lvl1pPr>
          </a:lstStyle>
          <a:p>
            <a:pPr algn="ctr"/>
            <a:r>
              <a:rPr lang="en-US" dirty="0"/>
              <a:t>Spotting Outliers</a:t>
            </a:r>
          </a:p>
        </p:txBody>
      </p:sp>
    </p:spTree>
    <p:extLst>
      <p:ext uri="{BB962C8B-B14F-4D97-AF65-F5344CB8AC3E}">
        <p14:creationId xmlns:p14="http://schemas.microsoft.com/office/powerpoint/2010/main" val="3021883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Error Bars in Charts</a:t>
            </a:r>
          </a:p>
        </p:txBody>
      </p:sp>
      <p:sp>
        <p:nvSpPr>
          <p:cNvPr id="3" name="Content Placeholder 2"/>
          <p:cNvSpPr>
            <a:spLocks noGrp="1"/>
          </p:cNvSpPr>
          <p:nvPr>
            <p:ph idx="1"/>
          </p:nvPr>
        </p:nvSpPr>
        <p:spPr/>
        <p:txBody>
          <a:bodyPr>
            <a:normAutofit/>
          </a:bodyPr>
          <a:lstStyle/>
          <a:p>
            <a:r>
              <a:rPr lang="en-GB" sz="3200" dirty="0"/>
              <a:t>The bar (usually) shows the mean score</a:t>
            </a:r>
          </a:p>
          <a:p>
            <a:r>
              <a:rPr lang="en-GB" sz="3200" dirty="0"/>
              <a:t>The error bar sticks out from the bar like a whisker.</a:t>
            </a:r>
          </a:p>
          <a:p>
            <a:r>
              <a:rPr lang="en-GB" sz="3200" dirty="0"/>
              <a:t>The error bar displays the precision of the mean in one of three ways:</a:t>
            </a:r>
          </a:p>
          <a:p>
            <a:pPr lvl="1"/>
            <a:r>
              <a:rPr lang="en-GB" sz="3000" dirty="0"/>
              <a:t>The confidence interval (usually 95%)</a:t>
            </a:r>
          </a:p>
          <a:p>
            <a:pPr lvl="1"/>
            <a:r>
              <a:rPr lang="en-GB" sz="3000" dirty="0"/>
              <a:t>The standard deviation</a:t>
            </a:r>
          </a:p>
          <a:p>
            <a:pPr lvl="1"/>
            <a:r>
              <a:rPr lang="en-GB" sz="3000" dirty="0"/>
              <a:t>The standard error of the mean</a:t>
            </a:r>
          </a:p>
        </p:txBody>
      </p:sp>
    </p:spTree>
    <p:extLst>
      <p:ext uri="{BB962C8B-B14F-4D97-AF65-F5344CB8AC3E}">
        <p14:creationId xmlns:p14="http://schemas.microsoft.com/office/powerpoint/2010/main" val="593260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652273" y="1459841"/>
            <a:ext cx="6457554" cy="5166042"/>
          </a:xfrm>
          <a:prstGeom prst="rect">
            <a:avLst/>
          </a:prstGeom>
          <a:noFill/>
          <a:ln w="9525">
            <a:noFill/>
            <a:miter lim="800000"/>
            <a:headEnd/>
            <a:tailEnd/>
          </a:ln>
        </p:spPr>
      </p:pic>
      <p:sp>
        <p:nvSpPr>
          <p:cNvPr id="3" name="Title 2"/>
          <p:cNvSpPr>
            <a:spLocks noGrp="1"/>
          </p:cNvSpPr>
          <p:nvPr>
            <p:ph type="title"/>
          </p:nvPr>
        </p:nvSpPr>
        <p:spPr/>
        <p:txBody>
          <a:bodyPr>
            <a:normAutofit/>
          </a:bodyPr>
          <a:lstStyle/>
          <a:p>
            <a:r>
              <a:rPr lang="en-GB" dirty="0"/>
              <a:t>Bar Graph: One Independent Variable</a:t>
            </a:r>
          </a:p>
        </p:txBody>
      </p:sp>
    </p:spTree>
    <p:extLst>
      <p:ext uri="{BB962C8B-B14F-4D97-AF65-F5344CB8AC3E}">
        <p14:creationId xmlns:p14="http://schemas.microsoft.com/office/powerpoint/2010/main" val="6506134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Bar Graphs</a:t>
            </a:r>
          </a:p>
        </p:txBody>
      </p:sp>
      <p:sp>
        <p:nvSpPr>
          <p:cNvPr id="6" name="Content Placeholder 5"/>
          <p:cNvSpPr>
            <a:spLocks noGrp="1"/>
          </p:cNvSpPr>
          <p:nvPr>
            <p:ph idx="1"/>
          </p:nvPr>
        </p:nvSpPr>
        <p:spPr/>
        <p:txBody>
          <a:bodyPr>
            <a:normAutofit/>
          </a:bodyPr>
          <a:lstStyle/>
          <a:p>
            <a:r>
              <a:rPr lang="en-GB" sz="3200" dirty="0"/>
              <a:t>Tells us about the relationship between two groups of variables (can be continuous or discontinuous)</a:t>
            </a:r>
          </a:p>
          <a:p>
            <a:endParaRPr lang="en-GB" sz="3200" dirty="0"/>
          </a:p>
          <a:p>
            <a:r>
              <a:rPr lang="en-GB" sz="3200" dirty="0"/>
              <a:t>Oftentimes different bars refer to different groups of people, but can also used for within-subjects designs</a:t>
            </a:r>
          </a:p>
        </p:txBody>
      </p:sp>
    </p:spTree>
    <p:extLst>
      <p:ext uri="{BB962C8B-B14F-4D97-AF65-F5344CB8AC3E}">
        <p14:creationId xmlns:p14="http://schemas.microsoft.com/office/powerpoint/2010/main" val="737048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Bar Graph: Two Independent Variables</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3192979" y="1500713"/>
            <a:ext cx="6696609" cy="5357287"/>
          </a:xfrm>
          <a:prstGeom prst="rect">
            <a:avLst/>
          </a:prstGeom>
          <a:noFill/>
          <a:ln w="9525">
            <a:noFill/>
            <a:miter lim="800000"/>
            <a:headEnd/>
            <a:tailEnd/>
          </a:ln>
        </p:spPr>
      </p:pic>
    </p:spTree>
    <p:extLst>
      <p:ext uri="{BB962C8B-B14F-4D97-AF65-F5344CB8AC3E}">
        <p14:creationId xmlns:p14="http://schemas.microsoft.com/office/powerpoint/2010/main" val="17458198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Bar Graph: Mixed Designs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3356293" y="1502614"/>
            <a:ext cx="6429420" cy="5143536"/>
          </a:xfrm>
          <a:prstGeom prst="rect">
            <a:avLst/>
          </a:prstGeom>
          <a:noFill/>
          <a:ln w="9525">
            <a:noFill/>
            <a:miter lim="800000"/>
            <a:headEnd/>
            <a:tailEnd/>
          </a:ln>
        </p:spPr>
      </p:pic>
    </p:spTree>
    <p:extLst>
      <p:ext uri="{BB962C8B-B14F-4D97-AF65-F5344CB8AC3E}">
        <p14:creationId xmlns:p14="http://schemas.microsoft.com/office/powerpoint/2010/main" val="21186787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Line Graphs</a:t>
            </a:r>
          </a:p>
        </p:txBody>
      </p:sp>
      <p:sp>
        <p:nvSpPr>
          <p:cNvPr id="6" name="Content Placeholder 5"/>
          <p:cNvSpPr>
            <a:spLocks noGrp="1"/>
          </p:cNvSpPr>
          <p:nvPr>
            <p:ph idx="1"/>
          </p:nvPr>
        </p:nvSpPr>
        <p:spPr/>
        <p:txBody>
          <a:bodyPr>
            <a:normAutofit/>
          </a:bodyPr>
          <a:lstStyle/>
          <a:p>
            <a:r>
              <a:rPr lang="en-GB" sz="3200" dirty="0"/>
              <a:t>Tells us about the relationship between two variables (can be continuous or discontinuous)</a:t>
            </a:r>
          </a:p>
          <a:p>
            <a:endParaRPr lang="en-GB" sz="3200" dirty="0"/>
          </a:p>
          <a:p>
            <a:r>
              <a:rPr lang="en-GB" sz="3200" dirty="0"/>
              <a:t>The lines might be used to convey a connection between points (e.g., the same subjects in each condition), so this approach can be more effective for a within-subject design</a:t>
            </a:r>
          </a:p>
        </p:txBody>
      </p:sp>
    </p:spTree>
    <p:extLst>
      <p:ext uri="{BB962C8B-B14F-4D97-AF65-F5344CB8AC3E}">
        <p14:creationId xmlns:p14="http://schemas.microsoft.com/office/powerpoint/2010/main" val="4241211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Line Graphs</a:t>
            </a:r>
          </a:p>
        </p:txBody>
      </p:sp>
      <p:pic>
        <p:nvPicPr>
          <p:cNvPr id="7" name="Picture 6" descr="Chart, bar chart&#10;&#10;Description automatically generated">
            <a:extLst>
              <a:ext uri="{FF2B5EF4-FFF2-40B4-BE49-F238E27FC236}">
                <a16:creationId xmlns:a16="http://schemas.microsoft.com/office/drawing/2014/main" id="{2A2518EE-5C78-DB44-9E6B-A504E61FCF37}"/>
              </a:ext>
            </a:extLst>
          </p:cNvPr>
          <p:cNvPicPr>
            <a:picLocks noChangeAspect="1"/>
          </p:cNvPicPr>
          <p:nvPr/>
        </p:nvPicPr>
        <p:blipFill>
          <a:blip r:embed="rId3"/>
          <a:stretch>
            <a:fillRect/>
          </a:stretch>
        </p:blipFill>
        <p:spPr>
          <a:xfrm>
            <a:off x="406693" y="1994094"/>
            <a:ext cx="5275312" cy="3324299"/>
          </a:xfrm>
          <a:prstGeom prst="rect">
            <a:avLst/>
          </a:prstGeom>
        </p:spPr>
      </p:pic>
      <p:pic>
        <p:nvPicPr>
          <p:cNvPr id="9" name="Picture 8" descr="Chart&#10;&#10;Description automatically generated with low confidence">
            <a:extLst>
              <a:ext uri="{FF2B5EF4-FFF2-40B4-BE49-F238E27FC236}">
                <a16:creationId xmlns:a16="http://schemas.microsoft.com/office/drawing/2014/main" id="{DB318425-7A5D-5640-9E12-9BE723AAE105}"/>
              </a:ext>
            </a:extLst>
          </p:cNvPr>
          <p:cNvPicPr>
            <a:picLocks noChangeAspect="1"/>
          </p:cNvPicPr>
          <p:nvPr/>
        </p:nvPicPr>
        <p:blipFill>
          <a:blip r:embed="rId4"/>
          <a:stretch>
            <a:fillRect/>
          </a:stretch>
        </p:blipFill>
        <p:spPr>
          <a:xfrm>
            <a:off x="6096000" y="1940009"/>
            <a:ext cx="5675239" cy="3378384"/>
          </a:xfrm>
          <a:prstGeom prst="rect">
            <a:avLst/>
          </a:prstGeom>
        </p:spPr>
      </p:pic>
    </p:spTree>
    <p:extLst>
      <p:ext uri="{BB962C8B-B14F-4D97-AF65-F5344CB8AC3E}">
        <p14:creationId xmlns:p14="http://schemas.microsoft.com/office/powerpoint/2010/main" val="5076882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Scatterplots</a:t>
            </a:r>
          </a:p>
        </p:txBody>
      </p:sp>
      <p:sp>
        <p:nvSpPr>
          <p:cNvPr id="6" name="Content Placeholder 5"/>
          <p:cNvSpPr>
            <a:spLocks noGrp="1"/>
          </p:cNvSpPr>
          <p:nvPr>
            <p:ph idx="1"/>
          </p:nvPr>
        </p:nvSpPr>
        <p:spPr/>
        <p:txBody>
          <a:bodyPr>
            <a:normAutofit/>
          </a:bodyPr>
          <a:lstStyle/>
          <a:p>
            <a:r>
              <a:rPr lang="en-GB" sz="3200" dirty="0"/>
              <a:t>Tells us about the relationship between two continuous variables</a:t>
            </a:r>
          </a:p>
        </p:txBody>
      </p:sp>
    </p:spTree>
    <p:extLst>
      <p:ext uri="{BB962C8B-B14F-4D97-AF65-F5344CB8AC3E}">
        <p14:creationId xmlns:p14="http://schemas.microsoft.com/office/powerpoint/2010/main" val="2313776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Simple Scatterplot</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960041" y="1469712"/>
            <a:ext cx="6497969" cy="5198374"/>
          </a:xfrm>
          <a:prstGeom prst="rect">
            <a:avLst/>
          </a:prstGeom>
          <a:noFill/>
          <a:ln w="9525">
            <a:noFill/>
            <a:miter lim="800000"/>
            <a:headEnd/>
            <a:tailEnd/>
          </a:ln>
        </p:spPr>
      </p:pic>
    </p:spTree>
    <p:extLst>
      <p:ext uri="{BB962C8B-B14F-4D97-AF65-F5344CB8AC3E}">
        <p14:creationId xmlns:p14="http://schemas.microsoft.com/office/powerpoint/2010/main" val="707212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Grouped Scatterplot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3445098" y="1576682"/>
            <a:ext cx="6145242" cy="4916193"/>
          </a:xfrm>
          <a:prstGeom prst="rect">
            <a:avLst/>
          </a:prstGeom>
          <a:noFill/>
          <a:ln w="9525">
            <a:noFill/>
            <a:miter lim="800000"/>
            <a:headEnd/>
            <a:tailEnd/>
          </a:ln>
        </p:spPr>
      </p:pic>
    </p:spTree>
    <p:extLst>
      <p:ext uri="{BB962C8B-B14F-4D97-AF65-F5344CB8AC3E}">
        <p14:creationId xmlns:p14="http://schemas.microsoft.com/office/powerpoint/2010/main" val="27995970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Matrix Scatterplot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7951" y="1429825"/>
            <a:ext cx="6011058" cy="5184140"/>
          </a:xfrm>
          <a:prstGeom prst="rect">
            <a:avLst/>
          </a:prstGeom>
        </p:spPr>
      </p:pic>
    </p:spTree>
    <p:extLst>
      <p:ext uri="{BB962C8B-B14F-4D97-AF65-F5344CB8AC3E}">
        <p14:creationId xmlns:p14="http://schemas.microsoft.com/office/powerpoint/2010/main" val="27251741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82505-FA21-224C-8463-92A1406CD7E8}"/>
              </a:ext>
            </a:extLst>
          </p:cNvPr>
          <p:cNvSpPr>
            <a:spLocks noGrp="1"/>
          </p:cNvSpPr>
          <p:nvPr>
            <p:ph type="title"/>
          </p:nvPr>
        </p:nvSpPr>
        <p:spPr/>
        <p:txBody>
          <a:bodyPr/>
          <a:lstStyle/>
          <a:p>
            <a:r>
              <a:rPr lang="en-US" dirty="0"/>
              <a:t>Some Basic Guidelines</a:t>
            </a:r>
          </a:p>
        </p:txBody>
      </p:sp>
      <p:sp>
        <p:nvSpPr>
          <p:cNvPr id="3" name="Content Placeholder 2">
            <a:extLst>
              <a:ext uri="{FF2B5EF4-FFF2-40B4-BE49-F238E27FC236}">
                <a16:creationId xmlns:a16="http://schemas.microsoft.com/office/drawing/2014/main" id="{18D62DDE-EC87-6A48-96BB-021A9885D135}"/>
              </a:ext>
            </a:extLst>
          </p:cNvPr>
          <p:cNvSpPr>
            <a:spLocks noGrp="1"/>
          </p:cNvSpPr>
          <p:nvPr>
            <p:ph idx="1"/>
          </p:nvPr>
        </p:nvSpPr>
        <p:spPr>
          <a:xfrm>
            <a:off x="838200" y="1825625"/>
            <a:ext cx="10515600" cy="4667250"/>
          </a:xfrm>
        </p:spPr>
        <p:txBody>
          <a:bodyPr>
            <a:normAutofit/>
          </a:bodyPr>
          <a:lstStyle/>
          <a:p>
            <a:r>
              <a:rPr lang="en-US" sz="3200" dirty="0"/>
              <a:t>Know your audience</a:t>
            </a:r>
          </a:p>
          <a:p>
            <a:r>
              <a:rPr lang="en-US" sz="3200" dirty="0"/>
              <a:t>Identify your message</a:t>
            </a:r>
          </a:p>
        </p:txBody>
      </p:sp>
    </p:spTree>
    <p:extLst>
      <p:ext uri="{BB962C8B-B14F-4D97-AF65-F5344CB8AC3E}">
        <p14:creationId xmlns:p14="http://schemas.microsoft.com/office/powerpoint/2010/main" val="1791806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82505-FA21-224C-8463-92A1406CD7E8}"/>
              </a:ext>
            </a:extLst>
          </p:cNvPr>
          <p:cNvSpPr>
            <a:spLocks noGrp="1"/>
          </p:cNvSpPr>
          <p:nvPr>
            <p:ph type="title"/>
          </p:nvPr>
        </p:nvSpPr>
        <p:spPr/>
        <p:txBody>
          <a:bodyPr/>
          <a:lstStyle/>
          <a:p>
            <a:r>
              <a:rPr lang="en-US" dirty="0"/>
              <a:t>Some Basic Guidelines</a:t>
            </a:r>
          </a:p>
        </p:txBody>
      </p:sp>
      <p:sp>
        <p:nvSpPr>
          <p:cNvPr id="3" name="Content Placeholder 2">
            <a:extLst>
              <a:ext uri="{FF2B5EF4-FFF2-40B4-BE49-F238E27FC236}">
                <a16:creationId xmlns:a16="http://schemas.microsoft.com/office/drawing/2014/main" id="{18D62DDE-EC87-6A48-96BB-021A9885D135}"/>
              </a:ext>
            </a:extLst>
          </p:cNvPr>
          <p:cNvSpPr>
            <a:spLocks noGrp="1"/>
          </p:cNvSpPr>
          <p:nvPr>
            <p:ph idx="1"/>
          </p:nvPr>
        </p:nvSpPr>
        <p:spPr>
          <a:xfrm>
            <a:off x="838200" y="1825625"/>
            <a:ext cx="10515600" cy="4667250"/>
          </a:xfrm>
        </p:spPr>
        <p:txBody>
          <a:bodyPr>
            <a:normAutofit/>
          </a:bodyPr>
          <a:lstStyle/>
          <a:p>
            <a:r>
              <a:rPr lang="en-US" sz="3200" dirty="0"/>
              <a:t>Know your audience</a:t>
            </a:r>
          </a:p>
          <a:p>
            <a:r>
              <a:rPr lang="en-US" sz="3200" dirty="0"/>
              <a:t>Identify your message</a:t>
            </a:r>
          </a:p>
          <a:p>
            <a:r>
              <a:rPr lang="en-US" sz="3200" dirty="0"/>
              <a:t>Adapt the figure to the support medium</a:t>
            </a:r>
          </a:p>
          <a:p>
            <a:r>
              <a:rPr lang="en-US" sz="3200" dirty="0"/>
              <a:t>Do not trust defaults</a:t>
            </a:r>
          </a:p>
        </p:txBody>
      </p:sp>
    </p:spTree>
    <p:extLst>
      <p:ext uri="{BB962C8B-B14F-4D97-AF65-F5344CB8AC3E}">
        <p14:creationId xmlns:p14="http://schemas.microsoft.com/office/powerpoint/2010/main" val="704946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82505-FA21-224C-8463-92A1406CD7E8}"/>
              </a:ext>
            </a:extLst>
          </p:cNvPr>
          <p:cNvSpPr>
            <a:spLocks noGrp="1"/>
          </p:cNvSpPr>
          <p:nvPr>
            <p:ph type="title"/>
          </p:nvPr>
        </p:nvSpPr>
        <p:spPr/>
        <p:txBody>
          <a:bodyPr/>
          <a:lstStyle/>
          <a:p>
            <a:r>
              <a:rPr lang="en-US" dirty="0"/>
              <a:t>Some Basic Guidelines</a:t>
            </a:r>
          </a:p>
        </p:txBody>
      </p:sp>
      <p:sp>
        <p:nvSpPr>
          <p:cNvPr id="3" name="Content Placeholder 2">
            <a:extLst>
              <a:ext uri="{FF2B5EF4-FFF2-40B4-BE49-F238E27FC236}">
                <a16:creationId xmlns:a16="http://schemas.microsoft.com/office/drawing/2014/main" id="{18D62DDE-EC87-6A48-96BB-021A9885D135}"/>
              </a:ext>
            </a:extLst>
          </p:cNvPr>
          <p:cNvSpPr>
            <a:spLocks noGrp="1"/>
          </p:cNvSpPr>
          <p:nvPr>
            <p:ph idx="1"/>
          </p:nvPr>
        </p:nvSpPr>
        <p:spPr>
          <a:xfrm>
            <a:off x="838200" y="1825625"/>
            <a:ext cx="10515600" cy="4667250"/>
          </a:xfrm>
        </p:spPr>
        <p:txBody>
          <a:bodyPr>
            <a:normAutofit/>
          </a:bodyPr>
          <a:lstStyle/>
          <a:p>
            <a:r>
              <a:rPr lang="en-US" sz="3200" dirty="0"/>
              <a:t>Know your audience</a:t>
            </a:r>
          </a:p>
          <a:p>
            <a:r>
              <a:rPr lang="en-US" sz="3200" dirty="0"/>
              <a:t>Identify your message</a:t>
            </a:r>
          </a:p>
          <a:p>
            <a:r>
              <a:rPr lang="en-US" sz="3200" dirty="0"/>
              <a:t>Adapt the figure to the support medium</a:t>
            </a:r>
          </a:p>
          <a:p>
            <a:r>
              <a:rPr lang="en-US" sz="3200" dirty="0"/>
              <a:t>Do not trust defaults</a:t>
            </a:r>
          </a:p>
          <a:p>
            <a:r>
              <a:rPr lang="en-US" sz="3200" dirty="0"/>
              <a:t>Use color effectively</a:t>
            </a:r>
          </a:p>
        </p:txBody>
      </p:sp>
    </p:spTree>
    <p:extLst>
      <p:ext uri="{BB962C8B-B14F-4D97-AF65-F5344CB8AC3E}">
        <p14:creationId xmlns:p14="http://schemas.microsoft.com/office/powerpoint/2010/main" val="348066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45884-31D2-D34A-BD9A-6E277D8E0FD6}"/>
              </a:ext>
            </a:extLst>
          </p:cNvPr>
          <p:cNvSpPr>
            <a:spLocks noGrp="1"/>
          </p:cNvSpPr>
          <p:nvPr>
            <p:ph type="title"/>
          </p:nvPr>
        </p:nvSpPr>
        <p:spPr/>
        <p:txBody>
          <a:bodyPr/>
          <a:lstStyle/>
          <a:p>
            <a:r>
              <a:rPr lang="en-US" dirty="0"/>
              <a:t>Use Color Effectively</a:t>
            </a:r>
          </a:p>
        </p:txBody>
      </p:sp>
      <p:pic>
        <p:nvPicPr>
          <p:cNvPr id="4" name="Picture 3">
            <a:extLst>
              <a:ext uri="{FF2B5EF4-FFF2-40B4-BE49-F238E27FC236}">
                <a16:creationId xmlns:a16="http://schemas.microsoft.com/office/drawing/2014/main" id="{17642FFE-5687-FB4F-A3CF-F7584F5D1696}"/>
              </a:ext>
            </a:extLst>
          </p:cNvPr>
          <p:cNvPicPr>
            <a:picLocks noChangeAspect="1"/>
          </p:cNvPicPr>
          <p:nvPr/>
        </p:nvPicPr>
        <p:blipFill>
          <a:blip r:embed="rId3"/>
          <a:stretch>
            <a:fillRect/>
          </a:stretch>
        </p:blipFill>
        <p:spPr>
          <a:xfrm>
            <a:off x="217487" y="1846385"/>
            <a:ext cx="11757025" cy="4800600"/>
          </a:xfrm>
          <a:prstGeom prst="rect">
            <a:avLst/>
          </a:prstGeom>
        </p:spPr>
      </p:pic>
    </p:spTree>
    <p:extLst>
      <p:ext uri="{BB962C8B-B14F-4D97-AF65-F5344CB8AC3E}">
        <p14:creationId xmlns:p14="http://schemas.microsoft.com/office/powerpoint/2010/main" val="19666919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82505-FA21-224C-8463-92A1406CD7E8}"/>
              </a:ext>
            </a:extLst>
          </p:cNvPr>
          <p:cNvSpPr>
            <a:spLocks noGrp="1"/>
          </p:cNvSpPr>
          <p:nvPr>
            <p:ph type="title"/>
          </p:nvPr>
        </p:nvSpPr>
        <p:spPr/>
        <p:txBody>
          <a:bodyPr/>
          <a:lstStyle/>
          <a:p>
            <a:r>
              <a:rPr lang="en-US" dirty="0"/>
              <a:t>Some Basic Guidelines</a:t>
            </a:r>
          </a:p>
        </p:txBody>
      </p:sp>
      <p:sp>
        <p:nvSpPr>
          <p:cNvPr id="3" name="Content Placeholder 2">
            <a:extLst>
              <a:ext uri="{FF2B5EF4-FFF2-40B4-BE49-F238E27FC236}">
                <a16:creationId xmlns:a16="http://schemas.microsoft.com/office/drawing/2014/main" id="{18D62DDE-EC87-6A48-96BB-021A9885D135}"/>
              </a:ext>
            </a:extLst>
          </p:cNvPr>
          <p:cNvSpPr>
            <a:spLocks noGrp="1"/>
          </p:cNvSpPr>
          <p:nvPr>
            <p:ph idx="1"/>
          </p:nvPr>
        </p:nvSpPr>
        <p:spPr>
          <a:xfrm>
            <a:off x="838200" y="1825625"/>
            <a:ext cx="10515600" cy="4667250"/>
          </a:xfrm>
        </p:spPr>
        <p:txBody>
          <a:bodyPr>
            <a:normAutofit/>
          </a:bodyPr>
          <a:lstStyle/>
          <a:p>
            <a:r>
              <a:rPr lang="en-US" sz="3200" dirty="0"/>
              <a:t>Know your audience</a:t>
            </a:r>
          </a:p>
          <a:p>
            <a:r>
              <a:rPr lang="en-US" sz="3200" dirty="0"/>
              <a:t>Identify your message</a:t>
            </a:r>
          </a:p>
          <a:p>
            <a:r>
              <a:rPr lang="en-US" sz="3200" dirty="0"/>
              <a:t>Adapt the figure to the support medium</a:t>
            </a:r>
          </a:p>
          <a:p>
            <a:r>
              <a:rPr lang="en-US" sz="3200" dirty="0"/>
              <a:t>Do not trust defaults</a:t>
            </a:r>
          </a:p>
          <a:p>
            <a:r>
              <a:rPr lang="en-US" sz="3200" dirty="0"/>
              <a:t>Use color effectively</a:t>
            </a:r>
          </a:p>
          <a:p>
            <a:r>
              <a:rPr lang="en-US" sz="3200" dirty="0"/>
              <a:t>Captions are not optional</a:t>
            </a:r>
          </a:p>
          <a:p>
            <a:r>
              <a:rPr lang="en-US" sz="3200" dirty="0"/>
              <a:t>Do not mislead the reader</a:t>
            </a:r>
          </a:p>
        </p:txBody>
      </p:sp>
    </p:spTree>
    <p:extLst>
      <p:ext uri="{BB962C8B-B14F-4D97-AF65-F5344CB8AC3E}">
        <p14:creationId xmlns:p14="http://schemas.microsoft.com/office/powerpoint/2010/main" val="2934436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Do not mislead the reader</a:t>
            </a:r>
          </a:p>
        </p:txBody>
      </p:sp>
      <p:sp>
        <p:nvSpPr>
          <p:cNvPr id="1026"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4840" y="1690688"/>
            <a:ext cx="8931876" cy="4365805"/>
          </a:xfrm>
          <a:prstGeom prst="rect">
            <a:avLst/>
          </a:prstGeom>
        </p:spPr>
      </p:pic>
    </p:spTree>
    <p:extLst>
      <p:ext uri="{BB962C8B-B14F-4D97-AF65-F5344CB8AC3E}">
        <p14:creationId xmlns:p14="http://schemas.microsoft.com/office/powerpoint/2010/main" val="8181218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82320-67AF-7B46-85F0-2722197D2957}"/>
              </a:ext>
            </a:extLst>
          </p:cNvPr>
          <p:cNvSpPr>
            <a:spLocks noGrp="1"/>
          </p:cNvSpPr>
          <p:nvPr>
            <p:ph type="title"/>
          </p:nvPr>
        </p:nvSpPr>
        <p:spPr/>
        <p:txBody>
          <a:bodyPr/>
          <a:lstStyle/>
          <a:p>
            <a:r>
              <a:rPr lang="en-US" dirty="0"/>
              <a:t>Captions (and labels) are not optional!</a:t>
            </a:r>
          </a:p>
        </p:txBody>
      </p:sp>
      <p:pic>
        <p:nvPicPr>
          <p:cNvPr id="3074" name="Picture 2" descr="lanacane[1]">
            <a:extLst>
              <a:ext uri="{FF2B5EF4-FFF2-40B4-BE49-F238E27FC236}">
                <a16:creationId xmlns:a16="http://schemas.microsoft.com/office/drawing/2014/main" id="{08E5B7D1-EB2E-6A41-9853-B48AEA6CFF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2824" y="1557776"/>
            <a:ext cx="6543040" cy="4907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6284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82505-FA21-224C-8463-92A1406CD7E8}"/>
              </a:ext>
            </a:extLst>
          </p:cNvPr>
          <p:cNvSpPr>
            <a:spLocks noGrp="1"/>
          </p:cNvSpPr>
          <p:nvPr>
            <p:ph type="title"/>
          </p:nvPr>
        </p:nvSpPr>
        <p:spPr/>
        <p:txBody>
          <a:bodyPr/>
          <a:lstStyle/>
          <a:p>
            <a:r>
              <a:rPr lang="en-US" dirty="0"/>
              <a:t>Some Basic Guidelines</a:t>
            </a:r>
          </a:p>
        </p:txBody>
      </p:sp>
      <p:sp>
        <p:nvSpPr>
          <p:cNvPr id="3" name="Content Placeholder 2">
            <a:extLst>
              <a:ext uri="{FF2B5EF4-FFF2-40B4-BE49-F238E27FC236}">
                <a16:creationId xmlns:a16="http://schemas.microsoft.com/office/drawing/2014/main" id="{18D62DDE-EC87-6A48-96BB-021A9885D135}"/>
              </a:ext>
            </a:extLst>
          </p:cNvPr>
          <p:cNvSpPr>
            <a:spLocks noGrp="1"/>
          </p:cNvSpPr>
          <p:nvPr>
            <p:ph idx="1"/>
          </p:nvPr>
        </p:nvSpPr>
        <p:spPr>
          <a:xfrm>
            <a:off x="838200" y="1825625"/>
            <a:ext cx="10515600" cy="4667250"/>
          </a:xfrm>
        </p:spPr>
        <p:txBody>
          <a:bodyPr>
            <a:normAutofit/>
          </a:bodyPr>
          <a:lstStyle/>
          <a:p>
            <a:r>
              <a:rPr lang="en-US" dirty="0"/>
              <a:t>Know your audience</a:t>
            </a:r>
          </a:p>
          <a:p>
            <a:r>
              <a:rPr lang="en-US" dirty="0"/>
              <a:t>Identify your message</a:t>
            </a:r>
          </a:p>
          <a:p>
            <a:r>
              <a:rPr lang="en-US" dirty="0"/>
              <a:t>Adapt the figure to the support medium</a:t>
            </a:r>
          </a:p>
          <a:p>
            <a:r>
              <a:rPr lang="en-US" dirty="0"/>
              <a:t>Do not trust defaults</a:t>
            </a:r>
          </a:p>
          <a:p>
            <a:r>
              <a:rPr lang="en-US" dirty="0"/>
              <a:t>Use color effectively</a:t>
            </a:r>
          </a:p>
          <a:p>
            <a:r>
              <a:rPr lang="en-US" dirty="0"/>
              <a:t>Captions are not optional</a:t>
            </a:r>
          </a:p>
          <a:p>
            <a:r>
              <a:rPr lang="en-US" dirty="0"/>
              <a:t>Do not mislead the reader</a:t>
            </a:r>
          </a:p>
          <a:p>
            <a:r>
              <a:rPr lang="en-US" dirty="0"/>
              <a:t>Avoid “</a:t>
            </a:r>
            <a:r>
              <a:rPr lang="en-US" dirty="0" err="1"/>
              <a:t>chartjunk</a:t>
            </a:r>
            <a:r>
              <a:rPr lang="en-US" dirty="0"/>
              <a:t>”</a:t>
            </a:r>
          </a:p>
        </p:txBody>
      </p:sp>
    </p:spTree>
    <p:extLst>
      <p:ext uri="{BB962C8B-B14F-4D97-AF65-F5344CB8AC3E}">
        <p14:creationId xmlns:p14="http://schemas.microsoft.com/office/powerpoint/2010/main" val="2474544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Avoid chart junk!</a:t>
            </a:r>
          </a:p>
        </p:txBody>
      </p:sp>
      <p:sp>
        <p:nvSpPr>
          <p:cNvPr id="1026"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025" name="Object 1"/>
          <p:cNvGraphicFramePr>
            <a:graphicFrameLocks noChangeAspect="1"/>
          </p:cNvGraphicFramePr>
          <p:nvPr>
            <p:extLst>
              <p:ext uri="{D42A27DB-BD31-4B8C-83A1-F6EECF244321}">
                <p14:modId xmlns:p14="http://schemas.microsoft.com/office/powerpoint/2010/main" val="1082132338"/>
              </p:ext>
            </p:extLst>
          </p:nvPr>
        </p:nvGraphicFramePr>
        <p:xfrm>
          <a:off x="3009900" y="1417638"/>
          <a:ext cx="5816600" cy="5521325"/>
        </p:xfrm>
        <a:graphic>
          <a:graphicData uri="http://schemas.openxmlformats.org/presentationml/2006/ole">
            <mc:AlternateContent xmlns:mc="http://schemas.openxmlformats.org/markup-compatibility/2006">
              <mc:Choice xmlns:v="urn:schemas-microsoft-com:vml" Requires="v">
                <p:oleObj name="Picture" r:id="rId3" imgW="2654300" imgH="2501900" progId="Word.Picture.8">
                  <p:embed/>
                </p:oleObj>
              </mc:Choice>
              <mc:Fallback>
                <p:oleObj name="Picture" r:id="rId3" imgW="2654300" imgH="2501900" progId="Word.Picture.8">
                  <p:embed/>
                  <p:pic>
                    <p:nvPicPr>
                      <p:cNvPr id="1025" name="Object 1"/>
                      <p:cNvPicPr>
                        <a:picLocks noChangeAspect="1" noChangeArrowheads="1"/>
                      </p:cNvPicPr>
                      <p:nvPr/>
                    </p:nvPicPr>
                    <p:blipFill>
                      <a:blip r:embed="rId4"/>
                      <a:srcRect/>
                      <a:stretch>
                        <a:fillRect/>
                      </a:stretch>
                    </p:blipFill>
                    <p:spPr bwMode="auto">
                      <a:xfrm>
                        <a:off x="3009900" y="1417638"/>
                        <a:ext cx="5816600" cy="5521325"/>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101821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Avoid chart junk!</a:t>
            </a:r>
          </a:p>
        </p:txBody>
      </p:sp>
      <p:sp>
        <p:nvSpPr>
          <p:cNvPr id="1026"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bwMode="auto">
          <a:xfrm>
            <a:off x="2534753" y="1690688"/>
            <a:ext cx="7804999" cy="4624118"/>
          </a:xfrm>
          <a:prstGeom prst="rect">
            <a:avLst/>
          </a:prstGeom>
          <a:noFill/>
          <a:ln w="9525">
            <a:noFill/>
            <a:miter lim="800000"/>
            <a:headEnd/>
            <a:tailEnd/>
          </a:ln>
        </p:spPr>
      </p:pic>
    </p:spTree>
    <p:extLst>
      <p:ext uri="{BB962C8B-B14F-4D97-AF65-F5344CB8AC3E}">
        <p14:creationId xmlns:p14="http://schemas.microsoft.com/office/powerpoint/2010/main" val="4953968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67A95-E1C2-8348-99D7-7A638E0B0FE6}"/>
              </a:ext>
            </a:extLst>
          </p:cNvPr>
          <p:cNvSpPr>
            <a:spLocks noGrp="1"/>
          </p:cNvSpPr>
          <p:nvPr>
            <p:ph type="title"/>
          </p:nvPr>
        </p:nvSpPr>
        <p:spPr/>
        <p:txBody>
          <a:bodyPr/>
          <a:lstStyle/>
          <a:p>
            <a:r>
              <a:rPr lang="en-US" dirty="0"/>
              <a:t>Message trumps beauty</a:t>
            </a:r>
          </a:p>
        </p:txBody>
      </p:sp>
      <p:pic>
        <p:nvPicPr>
          <p:cNvPr id="4" name="Picture 3">
            <a:extLst>
              <a:ext uri="{FF2B5EF4-FFF2-40B4-BE49-F238E27FC236}">
                <a16:creationId xmlns:a16="http://schemas.microsoft.com/office/drawing/2014/main" id="{82D8E3DD-1943-7C4C-AA88-052A4A17ECA9}"/>
              </a:ext>
            </a:extLst>
          </p:cNvPr>
          <p:cNvPicPr>
            <a:picLocks noChangeAspect="1"/>
          </p:cNvPicPr>
          <p:nvPr/>
        </p:nvPicPr>
        <p:blipFill>
          <a:blip r:embed="rId2"/>
          <a:stretch>
            <a:fillRect/>
          </a:stretch>
        </p:blipFill>
        <p:spPr>
          <a:xfrm>
            <a:off x="3194050" y="1795487"/>
            <a:ext cx="5803900" cy="2451100"/>
          </a:xfrm>
          <a:prstGeom prst="rect">
            <a:avLst/>
          </a:prstGeom>
        </p:spPr>
      </p:pic>
      <p:pic>
        <p:nvPicPr>
          <p:cNvPr id="5" name="Picture 4">
            <a:extLst>
              <a:ext uri="{FF2B5EF4-FFF2-40B4-BE49-F238E27FC236}">
                <a16:creationId xmlns:a16="http://schemas.microsoft.com/office/drawing/2014/main" id="{D46F6E65-59DD-6F4F-B000-FA967630FE3B}"/>
              </a:ext>
            </a:extLst>
          </p:cNvPr>
          <p:cNvPicPr>
            <a:picLocks noChangeAspect="1"/>
          </p:cNvPicPr>
          <p:nvPr/>
        </p:nvPicPr>
        <p:blipFill>
          <a:blip r:embed="rId3"/>
          <a:stretch>
            <a:fillRect/>
          </a:stretch>
        </p:blipFill>
        <p:spPr>
          <a:xfrm>
            <a:off x="3194050" y="4417451"/>
            <a:ext cx="5803900" cy="2451100"/>
          </a:xfrm>
          <a:prstGeom prst="rect">
            <a:avLst/>
          </a:prstGeom>
        </p:spPr>
      </p:pic>
    </p:spTree>
    <p:extLst>
      <p:ext uri="{BB962C8B-B14F-4D97-AF65-F5344CB8AC3E}">
        <p14:creationId xmlns:p14="http://schemas.microsoft.com/office/powerpoint/2010/main" val="40416226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67A95-E1C2-8348-99D7-7A638E0B0FE6}"/>
              </a:ext>
            </a:extLst>
          </p:cNvPr>
          <p:cNvSpPr>
            <a:spLocks noGrp="1"/>
          </p:cNvSpPr>
          <p:nvPr>
            <p:ph type="title"/>
          </p:nvPr>
        </p:nvSpPr>
        <p:spPr/>
        <p:txBody>
          <a:bodyPr/>
          <a:lstStyle/>
          <a:p>
            <a:r>
              <a:rPr lang="en-US" dirty="0"/>
              <a:t>Message trumps beauty</a:t>
            </a:r>
          </a:p>
        </p:txBody>
      </p:sp>
      <p:pic>
        <p:nvPicPr>
          <p:cNvPr id="4" name="Picture 3">
            <a:extLst>
              <a:ext uri="{FF2B5EF4-FFF2-40B4-BE49-F238E27FC236}">
                <a16:creationId xmlns:a16="http://schemas.microsoft.com/office/drawing/2014/main" id="{82D8E3DD-1943-7C4C-AA88-052A4A17ECA9}"/>
              </a:ext>
            </a:extLst>
          </p:cNvPr>
          <p:cNvPicPr>
            <a:picLocks noChangeAspect="1"/>
          </p:cNvPicPr>
          <p:nvPr/>
        </p:nvPicPr>
        <p:blipFill>
          <a:blip r:embed="rId2"/>
          <a:stretch>
            <a:fillRect/>
          </a:stretch>
        </p:blipFill>
        <p:spPr>
          <a:xfrm>
            <a:off x="3194050" y="1795487"/>
            <a:ext cx="5803900" cy="2451100"/>
          </a:xfrm>
          <a:prstGeom prst="rect">
            <a:avLst/>
          </a:prstGeom>
        </p:spPr>
      </p:pic>
      <p:pic>
        <p:nvPicPr>
          <p:cNvPr id="3" name="Picture 2">
            <a:extLst>
              <a:ext uri="{FF2B5EF4-FFF2-40B4-BE49-F238E27FC236}">
                <a16:creationId xmlns:a16="http://schemas.microsoft.com/office/drawing/2014/main" id="{E47A708D-FB26-B945-B353-7FEC063F716E}"/>
              </a:ext>
            </a:extLst>
          </p:cNvPr>
          <p:cNvPicPr>
            <a:picLocks noChangeAspect="1"/>
          </p:cNvPicPr>
          <p:nvPr/>
        </p:nvPicPr>
        <p:blipFill>
          <a:blip r:embed="rId3"/>
          <a:stretch>
            <a:fillRect/>
          </a:stretch>
        </p:blipFill>
        <p:spPr>
          <a:xfrm>
            <a:off x="3194050" y="4351386"/>
            <a:ext cx="5803900" cy="2451100"/>
          </a:xfrm>
          <a:prstGeom prst="rect">
            <a:avLst/>
          </a:prstGeom>
        </p:spPr>
      </p:pic>
    </p:spTree>
    <p:extLst>
      <p:ext uri="{BB962C8B-B14F-4D97-AF65-F5344CB8AC3E}">
        <p14:creationId xmlns:p14="http://schemas.microsoft.com/office/powerpoint/2010/main" val="22371117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82505-FA21-224C-8463-92A1406CD7E8}"/>
              </a:ext>
            </a:extLst>
          </p:cNvPr>
          <p:cNvSpPr>
            <a:spLocks noGrp="1"/>
          </p:cNvSpPr>
          <p:nvPr>
            <p:ph type="title"/>
          </p:nvPr>
        </p:nvSpPr>
        <p:spPr/>
        <p:txBody>
          <a:bodyPr/>
          <a:lstStyle/>
          <a:p>
            <a:r>
              <a:rPr lang="en-US" dirty="0"/>
              <a:t>Some Basic Guidelines</a:t>
            </a:r>
          </a:p>
        </p:txBody>
      </p:sp>
      <p:sp>
        <p:nvSpPr>
          <p:cNvPr id="3" name="Content Placeholder 2">
            <a:extLst>
              <a:ext uri="{FF2B5EF4-FFF2-40B4-BE49-F238E27FC236}">
                <a16:creationId xmlns:a16="http://schemas.microsoft.com/office/drawing/2014/main" id="{18D62DDE-EC87-6A48-96BB-021A9885D135}"/>
              </a:ext>
            </a:extLst>
          </p:cNvPr>
          <p:cNvSpPr>
            <a:spLocks noGrp="1"/>
          </p:cNvSpPr>
          <p:nvPr>
            <p:ph idx="1"/>
          </p:nvPr>
        </p:nvSpPr>
        <p:spPr>
          <a:xfrm>
            <a:off x="838200" y="1431729"/>
            <a:ext cx="10515600" cy="4667250"/>
          </a:xfrm>
        </p:spPr>
        <p:txBody>
          <a:bodyPr>
            <a:noAutofit/>
          </a:bodyPr>
          <a:lstStyle/>
          <a:p>
            <a:r>
              <a:rPr lang="en-US" dirty="0"/>
              <a:t>Know your audience</a:t>
            </a:r>
          </a:p>
          <a:p>
            <a:r>
              <a:rPr lang="en-US" dirty="0"/>
              <a:t>Identify your message</a:t>
            </a:r>
          </a:p>
          <a:p>
            <a:r>
              <a:rPr lang="en-US" dirty="0"/>
              <a:t>Adapt the figure to the support medium</a:t>
            </a:r>
          </a:p>
          <a:p>
            <a:r>
              <a:rPr lang="en-US" dirty="0"/>
              <a:t>Do not trust defaults</a:t>
            </a:r>
          </a:p>
          <a:p>
            <a:r>
              <a:rPr lang="en-US" dirty="0"/>
              <a:t>Use color effectively</a:t>
            </a:r>
          </a:p>
          <a:p>
            <a:r>
              <a:rPr lang="en-US" dirty="0"/>
              <a:t>Captions are not optional</a:t>
            </a:r>
          </a:p>
          <a:p>
            <a:r>
              <a:rPr lang="en-US" dirty="0"/>
              <a:t>Do not mislead the reader</a:t>
            </a:r>
          </a:p>
          <a:p>
            <a:r>
              <a:rPr lang="en-US" dirty="0"/>
              <a:t>Avoid “</a:t>
            </a:r>
            <a:r>
              <a:rPr lang="en-US" dirty="0" err="1"/>
              <a:t>chartjunk</a:t>
            </a:r>
            <a:r>
              <a:rPr lang="en-US" dirty="0"/>
              <a:t>”</a:t>
            </a:r>
          </a:p>
          <a:p>
            <a:r>
              <a:rPr lang="en-US" dirty="0"/>
              <a:t>Message trumps beauty</a:t>
            </a:r>
          </a:p>
          <a:p>
            <a:r>
              <a:rPr lang="en-US" dirty="0"/>
              <a:t>Get the right tool</a:t>
            </a:r>
          </a:p>
        </p:txBody>
      </p:sp>
    </p:spTree>
    <p:extLst>
      <p:ext uri="{BB962C8B-B14F-4D97-AF65-F5344CB8AC3E}">
        <p14:creationId xmlns:p14="http://schemas.microsoft.com/office/powerpoint/2010/main" val="49765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3462</TotalTime>
  <Words>3172</Words>
  <Application>Microsoft Macintosh PowerPoint</Application>
  <PresentationFormat>Widescreen</PresentationFormat>
  <Paragraphs>456</Paragraphs>
  <Slides>85</Slides>
  <Notes>42</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2</vt:i4>
      </vt:variant>
      <vt:variant>
        <vt:lpstr>Slide Titles</vt:lpstr>
      </vt:variant>
      <vt:variant>
        <vt:i4>85</vt:i4>
      </vt:variant>
    </vt:vector>
  </HeadingPairs>
  <TitlesOfParts>
    <vt:vector size="90" baseType="lpstr">
      <vt:lpstr>Arial</vt:lpstr>
      <vt:lpstr>Calibri</vt:lpstr>
      <vt:lpstr>Office Theme</vt:lpstr>
      <vt:lpstr>Picture</vt:lpstr>
      <vt:lpstr>Equation</vt:lpstr>
      <vt:lpstr>Data Visualization and Bias</vt:lpstr>
      <vt:lpstr>Aims</vt:lpstr>
      <vt:lpstr>A Simple Statistical Model</vt:lpstr>
      <vt:lpstr>Measuring the ‘fit’ of the model</vt:lpstr>
      <vt:lpstr>Calculating ‘Error’</vt:lpstr>
      <vt:lpstr>Calculating ‘Error’</vt:lpstr>
      <vt:lpstr>Use the Total Error?</vt:lpstr>
      <vt:lpstr>Sum of Squared Errors</vt:lpstr>
      <vt:lpstr>Sum of Squared Errors</vt:lpstr>
      <vt:lpstr>Mean Squared Error</vt:lpstr>
      <vt:lpstr>Degrees of Freedom</vt:lpstr>
      <vt:lpstr>The Standard Error</vt:lpstr>
      <vt:lpstr>Populations and Samples</vt:lpstr>
      <vt:lpstr>Populations and Samples</vt:lpstr>
      <vt:lpstr>The Standard Error</vt:lpstr>
      <vt:lpstr>Hypothesis Testing</vt:lpstr>
      <vt:lpstr>Test Statistics</vt:lpstr>
      <vt:lpstr>P-values</vt:lpstr>
      <vt:lpstr>P-values</vt:lpstr>
      <vt:lpstr>Assumptions</vt:lpstr>
      <vt:lpstr>Additivity and Linearity</vt:lpstr>
      <vt:lpstr>Normally Distributed</vt:lpstr>
      <vt:lpstr>When does the assumption of normality matter?</vt:lpstr>
      <vt:lpstr>assumption of normality</vt:lpstr>
      <vt:lpstr>A well-known nonlinear association</vt:lpstr>
      <vt:lpstr>A well-known nonlinear association</vt:lpstr>
      <vt:lpstr>A well-known nonlinear association</vt:lpstr>
      <vt:lpstr>Homoscedasticity/ Homogeneity of Variance</vt:lpstr>
      <vt:lpstr>Homoscedasticity/ Homogeneity of Variance</vt:lpstr>
      <vt:lpstr>Homoscedasticity/ Homogeneity of Variance</vt:lpstr>
      <vt:lpstr>Spotting Outliers</vt:lpstr>
      <vt:lpstr>PowerPoint Presentation</vt:lpstr>
      <vt:lpstr>Spotting Normality</vt:lpstr>
      <vt:lpstr>What happens when assumptions are violated?</vt:lpstr>
      <vt:lpstr>Transforming Data</vt:lpstr>
      <vt:lpstr>Log Transformation</vt:lpstr>
      <vt:lpstr>Square Root Transformation</vt:lpstr>
      <vt:lpstr>How do you decide?</vt:lpstr>
      <vt:lpstr>Summary</vt:lpstr>
      <vt:lpstr>Data Visualization</vt:lpstr>
      <vt:lpstr>The Art of Presenting Data</vt:lpstr>
      <vt:lpstr>PowerPoint Presentation</vt:lpstr>
      <vt:lpstr>What’s wrong with this graph?</vt:lpstr>
      <vt:lpstr>What’s wrong with this graph?</vt:lpstr>
      <vt:lpstr>What’s wrong with this graph?</vt:lpstr>
      <vt:lpstr>What’s wrong with this graph?</vt:lpstr>
      <vt:lpstr>What’s wrong with this graph?</vt:lpstr>
      <vt:lpstr>Watch out for accidental messages!</vt:lpstr>
      <vt:lpstr>What’s wrong with this graph?</vt:lpstr>
      <vt:lpstr>What’s wrong with this graph?</vt:lpstr>
      <vt:lpstr>What’s wrong with this graph?</vt:lpstr>
      <vt:lpstr>What’s wrong with this graph?</vt:lpstr>
      <vt:lpstr>What’s wrong with this graph?</vt:lpstr>
      <vt:lpstr>What’s wrong with this graph?</vt:lpstr>
      <vt:lpstr>What’s wrong with this graph?</vt:lpstr>
      <vt:lpstr>What’s wrong with this graph?</vt:lpstr>
      <vt:lpstr>Histograms</vt:lpstr>
      <vt:lpstr>Boxplots (box-whisker diagrams)</vt:lpstr>
      <vt:lpstr>Boxplots</vt:lpstr>
      <vt:lpstr>Spotting Outliers</vt:lpstr>
      <vt:lpstr>PowerPoint Presentation</vt:lpstr>
      <vt:lpstr>Error Bars in Charts</vt:lpstr>
      <vt:lpstr>Bar Graph: One Independent Variable</vt:lpstr>
      <vt:lpstr>Bar Graphs</vt:lpstr>
      <vt:lpstr>Bar Graph: Two Independent Variables</vt:lpstr>
      <vt:lpstr>Bar Graph: Mixed Designs</vt:lpstr>
      <vt:lpstr>Line Graphs</vt:lpstr>
      <vt:lpstr>Line Graphs</vt:lpstr>
      <vt:lpstr>Scatterplots</vt:lpstr>
      <vt:lpstr>Simple Scatterplot</vt:lpstr>
      <vt:lpstr>Grouped Scatterplot</vt:lpstr>
      <vt:lpstr>Matrix Scatterplot</vt:lpstr>
      <vt:lpstr>Some Basic Guidelines</vt:lpstr>
      <vt:lpstr>Some Basic Guidelines</vt:lpstr>
      <vt:lpstr>Some Basic Guidelines</vt:lpstr>
      <vt:lpstr>Use Color Effectively</vt:lpstr>
      <vt:lpstr>Some Basic Guidelines</vt:lpstr>
      <vt:lpstr>Do not mislead the reader</vt:lpstr>
      <vt:lpstr>Captions (and labels) are not optional!</vt:lpstr>
      <vt:lpstr>Some Basic Guidelines</vt:lpstr>
      <vt:lpstr>Avoid chart junk!</vt:lpstr>
      <vt:lpstr>Avoid chart junk!</vt:lpstr>
      <vt:lpstr>Message trumps beauty</vt:lpstr>
      <vt:lpstr>Message trumps beauty</vt:lpstr>
      <vt:lpstr>Some Basic Guidelines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do we need statistics?</dc:title>
  <dc:creator>Vanessa Lobue</dc:creator>
  <cp:lastModifiedBy>Jamil Bhanji</cp:lastModifiedBy>
  <cp:revision>88</cp:revision>
  <dcterms:created xsi:type="dcterms:W3CDTF">2021-01-14T20:20:19Z</dcterms:created>
  <dcterms:modified xsi:type="dcterms:W3CDTF">2025-09-23T13:55:58Z</dcterms:modified>
</cp:coreProperties>
</file>