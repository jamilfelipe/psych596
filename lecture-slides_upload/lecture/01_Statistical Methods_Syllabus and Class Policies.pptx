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7" r:id="rId2"/>
    <p:sldId id="260" r:id="rId3"/>
    <p:sldId id="259" r:id="rId4"/>
    <p:sldId id="275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1" r:id="rId17"/>
    <p:sldId id="273" r:id="rId18"/>
    <p:sldId id="276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84"/>
    <p:restoredTop sz="72685"/>
  </p:normalViewPr>
  <p:slideViewPr>
    <p:cSldViewPr snapToGrid="0" snapToObjects="1">
      <p:cViewPr varScale="1">
        <p:scale>
          <a:sx n="79" d="100"/>
          <a:sy n="79" d="100"/>
        </p:scale>
        <p:origin x="1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4B1ABF-BAF2-0E4B-88A8-8F2BBF0074AC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610047-E131-0346-ABBC-77645D001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46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610047-E131-0346-ABBC-77645D001C5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24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610047-E131-0346-ABBC-77645D001C5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50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610047-E131-0346-ABBC-77645D001C5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82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610047-E131-0346-ABBC-77645D001C5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905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D1CAB-AB50-454B-B04D-E06D05664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DF1B7-E36E-6D4C-92F5-EFE2BEAFC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ECD7F-BEA5-4D4D-BE8A-03D4AE9D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88066-452A-8245-8511-94BFE62FC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A180D-DD45-F346-BE9B-3E8AF1BD6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115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689C8-E319-A140-81ED-8DC64C3B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AA9F8-7BF4-3649-A3FA-F82572D37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09B26-5D8A-9D40-BB52-E4E2136A2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19CF7-10D8-E940-9A76-756E34A7C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FA0CD-3811-3C41-B371-D9F541386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8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17C31-3AE3-B44B-B806-C9F7646E1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C74CB-1E9D-EB47-8273-E824D634B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BB330-9C49-E846-B60B-26EFB1044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F3F64-CB85-5540-85B6-11151A6F0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ABE2C-7E2E-0044-8A23-C847A87F8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929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DC9C6-7794-4045-9C4D-F389DF847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1D370-B4F7-274E-98C3-09FFAD98BF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BAC88-D941-6147-9BC6-F33ABF1BE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8BC82D-C44F-134E-B602-6D1762D74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A3F2C-46AC-2D48-BDEA-4E97468C1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05A3C-80D0-A34A-84B9-73C7AAA77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84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1B601-30AA-864B-8CAE-D7462F472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EE3AF-3CA2-544A-B58C-238A02761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F6DCA-044C-9749-984C-1F786319E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7EDD4-FD70-F84D-8856-EAA12A6793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30E22-29DF-6244-A34F-F79E5EED9F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99684B-46CD-D144-AD76-83D9E3F6E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9/2/25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8DBBD2-1778-114E-9148-5913A78D3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F1E1B6-2DCB-7E4C-92CF-3A6FD26BA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992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01768-18F4-944D-8B40-29B5C7AC0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63B43E-21A1-7545-9A35-CC87E7747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9654D0-04B2-2548-9FBD-52420668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B61330-9DBE-AB4A-9C30-E72F61C85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548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5364A2-06CD-5C40-9B1C-1FF81AF5E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9/2/25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7D1A39-4A51-624D-AF88-C45CB1B92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10F21-1DE7-B243-BD5D-08AA9D30C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83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61C07-986E-D44C-8084-EF23A87A8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60D54-D6EE-B444-9F23-1B02E8FE9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8DD51-C767-5847-A748-1B10D8F52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E32EC-E8AF-6F43-89E4-0CE93890C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BCBE3-C6BF-E444-A8F7-417155533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2E21D-8539-E647-9CBC-4BB7BC817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155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3DD87-2747-1E4D-8525-CAB9F080E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C77A76-802C-774E-B82D-A7FD679370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90B91A-5C3A-AE4D-9E83-3E73662DE4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3249E4-BD91-E94D-8D56-78F34E2E9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5AB9F-6D7B-7B49-A36C-B2BBCD10D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DD4DB-B81E-1446-A526-4F8844BC9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153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571B4-4124-0844-9579-981889A16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037BA5-B7DB-8244-A55A-020B13A39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61EA8-2460-5340-BE0E-0EEF224DF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A5A18-8E9C-134B-83B1-4E06F30D4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48EE6-42F5-6848-B2CE-7E9DBFD5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65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5BDBDF-524C-154B-9900-44A8F819B6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1D9678-B3E4-D940-AE48-EC66DF483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946D9-D246-D843-B05D-A5AF81C8A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22E6F-3988-E74E-B293-BD840BD63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66EBE-72AA-174F-9968-BF4561A9E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95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980386-ACEA-864A-8B44-C8DEA7D4F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CBA7B-6DA4-B74E-ACD6-EC151070E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E6E3B-4059-8547-9F14-BCA09AE962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A763BF8-AC66-E249-9CE8-8353EEB16B82}" type="datetimeFigureOut">
              <a:rPr lang="en-US" smtClean="0"/>
              <a:pPr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AE399-81D5-3E44-AA7A-88DFA85719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F6F86-94CE-CF4F-93B3-A2367D4D2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D21E121-49A3-D64E-A5F9-356C90050E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89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pa.org/pubs/journals/resources/publishing-tips/policy-generative-ai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Syllabus and Class Policies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69324"/>
            <a:ext cx="9144000" cy="1655762"/>
          </a:xfrm>
        </p:spPr>
        <p:txBody>
          <a:bodyPr/>
          <a:lstStyle/>
          <a:p>
            <a:r>
              <a:rPr lang="en-GB" dirty="0"/>
              <a:t>Jamil Bhanji</a:t>
            </a:r>
          </a:p>
          <a:p>
            <a:r>
              <a:rPr lang="en-GB" dirty="0"/>
              <a:t>Developed with Vanessa Lobue</a:t>
            </a:r>
          </a:p>
          <a:p>
            <a:r>
              <a:rPr lang="en-GB" dirty="0"/>
              <a:t>with a little help from Andy Field</a:t>
            </a:r>
          </a:p>
        </p:txBody>
      </p:sp>
    </p:spTree>
    <p:extLst>
      <p:ext uri="{BB962C8B-B14F-4D97-AF65-F5344CB8AC3E}">
        <p14:creationId xmlns:p14="http://schemas.microsoft.com/office/powerpoint/2010/main" val="907586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F5C24-0A1A-3A4E-A5B1-75A449094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Methods, Spring 2024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3D758-B2D4-A84C-B1CF-8A82F3A3E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Psych 596 </a:t>
            </a:r>
          </a:p>
          <a:p>
            <a:endParaRPr lang="en-US" dirty="0"/>
          </a:p>
          <a:p>
            <a:r>
              <a:rPr lang="en-US" dirty="0"/>
              <a:t>Tuesdays, 10am – 12:50pm</a:t>
            </a:r>
          </a:p>
          <a:p>
            <a:endParaRPr lang="en-US" dirty="0"/>
          </a:p>
          <a:p>
            <a:r>
              <a:rPr lang="en-US" dirty="0"/>
              <a:t>Multi-purpose room</a:t>
            </a:r>
          </a:p>
        </p:txBody>
      </p:sp>
    </p:spTree>
    <p:extLst>
      <p:ext uri="{BB962C8B-B14F-4D97-AF65-F5344CB8AC3E}">
        <p14:creationId xmlns:p14="http://schemas.microsoft.com/office/powerpoint/2010/main" val="4171133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45570-B6D1-F94E-8E70-B29498408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C09F8-BB15-0C4F-859C-67378AF32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Jamil </a:t>
            </a:r>
            <a:r>
              <a:rPr lang="en-US" dirty="0" err="1"/>
              <a:t>Bhanji</a:t>
            </a:r>
            <a:endParaRPr lang="en-US" dirty="0"/>
          </a:p>
          <a:p>
            <a:endParaRPr lang="en-US" dirty="0"/>
          </a:p>
          <a:p>
            <a:r>
              <a:rPr lang="en-US" dirty="0"/>
              <a:t>Office Hours: </a:t>
            </a:r>
            <a:r>
              <a:rPr lang="en-US" b="1" dirty="0">
                <a:solidFill>
                  <a:srgbClr val="FF0000"/>
                </a:solidFill>
              </a:rPr>
              <a:t>Thurs</a:t>
            </a:r>
            <a:r>
              <a:rPr lang="en-US" dirty="0"/>
              <a:t> 2:30-3:30pm</a:t>
            </a:r>
          </a:p>
          <a:p>
            <a:endParaRPr lang="en-US" dirty="0"/>
          </a:p>
          <a:p>
            <a:r>
              <a:rPr lang="en-US" dirty="0"/>
              <a:t>Office: Smith 359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438CB2-7B89-F24C-96A8-4AD9D3080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529" y="1825625"/>
            <a:ext cx="3678312" cy="367831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23361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5B2D4-FCB6-1210-D221-3AC24904D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90EDC-75C0-E0E7-DD5E-B0D7A89E9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Introductions</a:t>
            </a:r>
          </a:p>
          <a:p>
            <a:r>
              <a:rPr lang="en-US" dirty="0"/>
              <a:t>Class format</a:t>
            </a:r>
          </a:p>
          <a:p>
            <a:r>
              <a:rPr lang="en-US" dirty="0"/>
              <a:t>Survey</a:t>
            </a:r>
          </a:p>
          <a:p>
            <a:r>
              <a:rPr lang="en-US" dirty="0"/>
              <a:t>Software setup</a:t>
            </a:r>
          </a:p>
        </p:txBody>
      </p:sp>
    </p:spTree>
    <p:extLst>
      <p:ext uri="{BB962C8B-B14F-4D97-AF65-F5344CB8AC3E}">
        <p14:creationId xmlns:p14="http://schemas.microsoft.com/office/powerpoint/2010/main" val="2220569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5CC2C-F6D2-504C-8A03-51D1D7079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Usual Class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7150F-34E3-8347-818F-13BB9F7F3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Conceptual overview (30-40 min)</a:t>
            </a:r>
          </a:p>
          <a:p>
            <a:endParaRPr lang="en-US" dirty="0"/>
          </a:p>
          <a:p>
            <a:r>
              <a:rPr lang="en-US" dirty="0"/>
              <a:t>Overview of lab, in both SPSS and R (10-20 min)</a:t>
            </a:r>
          </a:p>
          <a:p>
            <a:endParaRPr lang="en-US" dirty="0"/>
          </a:p>
          <a:p>
            <a:r>
              <a:rPr lang="en-US" dirty="0"/>
              <a:t>Independent/group work on lab, in both SPSS and R (1-2 hours)</a:t>
            </a:r>
          </a:p>
          <a:p>
            <a:endParaRPr lang="en-US" dirty="0"/>
          </a:p>
          <a:p>
            <a:r>
              <a:rPr lang="en-US" dirty="0"/>
              <a:t>Discussion of lab (15-20 min)</a:t>
            </a:r>
          </a:p>
          <a:p>
            <a:endParaRPr lang="en-US" dirty="0"/>
          </a:p>
          <a:p>
            <a:r>
              <a:rPr lang="en-US" dirty="0"/>
              <a:t>Data Days!</a:t>
            </a:r>
          </a:p>
        </p:txBody>
      </p:sp>
    </p:spTree>
    <p:extLst>
      <p:ext uri="{BB962C8B-B14F-4D97-AF65-F5344CB8AC3E}">
        <p14:creationId xmlns:p14="http://schemas.microsoft.com/office/powerpoint/2010/main" val="3644068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A9FD3-100B-0345-AC36-4BB303C0C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75727-2D61-854C-A357-AEF6EB54F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77000" cy="4351338"/>
          </a:xfrm>
        </p:spPr>
        <p:txBody>
          <a:bodyPr/>
          <a:lstStyle/>
          <a:p>
            <a:r>
              <a:rPr lang="en-US" dirty="0"/>
              <a:t>Discovering Statistics Using IBM SPSS</a:t>
            </a:r>
          </a:p>
          <a:p>
            <a:endParaRPr lang="en-US" dirty="0"/>
          </a:p>
          <a:p>
            <a:r>
              <a:rPr lang="en-US" dirty="0"/>
              <a:t>PDF available on Canvas</a:t>
            </a:r>
          </a:p>
          <a:p>
            <a:endParaRPr lang="en-US" dirty="0"/>
          </a:p>
          <a:p>
            <a:r>
              <a:rPr lang="en-US" dirty="0"/>
              <a:t>Additional readings also available on Canvas</a:t>
            </a:r>
          </a:p>
          <a:p>
            <a:endParaRPr lang="en-US" dirty="0"/>
          </a:p>
          <a:p>
            <a:r>
              <a:rPr lang="en-US" dirty="0"/>
              <a:t>Links to assigned videos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852E40-7145-0844-8E6E-631447688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02" y="1990896"/>
            <a:ext cx="3518196" cy="402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295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75842-C627-E24B-9078-40DE6EF19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CA916-25E3-5749-A4A7-CBDB87135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Bring laptop to class (if you don’t have one, talk to me!) - connect to </a:t>
            </a:r>
            <a:r>
              <a:rPr lang="en-US" dirty="0" err="1"/>
              <a:t>RUWireless</a:t>
            </a:r>
            <a:r>
              <a:rPr lang="en-US" dirty="0"/>
              <a:t> or whatever you have access to.</a:t>
            </a:r>
          </a:p>
          <a:p>
            <a:endParaRPr lang="en-US" dirty="0"/>
          </a:p>
          <a:p>
            <a:r>
              <a:rPr lang="en-US" dirty="0"/>
              <a:t>A dataset</a:t>
            </a:r>
          </a:p>
          <a:p>
            <a:endParaRPr lang="en-US" dirty="0"/>
          </a:p>
          <a:p>
            <a:r>
              <a:rPr lang="en-US" dirty="0"/>
              <a:t>SPSS </a:t>
            </a:r>
          </a:p>
          <a:p>
            <a:endParaRPr lang="en-US" dirty="0"/>
          </a:p>
          <a:p>
            <a:r>
              <a:rPr lang="en-US" dirty="0"/>
              <a:t>R, R-Studio</a:t>
            </a:r>
          </a:p>
          <a:p>
            <a:endParaRPr lang="en-US" dirty="0"/>
          </a:p>
          <a:p>
            <a:r>
              <a:rPr lang="en-US" dirty="0"/>
              <a:t>G-power</a:t>
            </a:r>
          </a:p>
        </p:txBody>
      </p:sp>
    </p:spTree>
    <p:extLst>
      <p:ext uri="{BB962C8B-B14F-4D97-AF65-F5344CB8AC3E}">
        <p14:creationId xmlns:p14="http://schemas.microsoft.com/office/powerpoint/2010/main" val="542607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F239F-DE83-384D-898C-9E8E2C228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C6EBE-0252-5D44-B30B-8F138789C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Mandatory</a:t>
            </a:r>
          </a:p>
          <a:p>
            <a:endParaRPr lang="en-US" dirty="0"/>
          </a:p>
          <a:p>
            <a:r>
              <a:rPr lang="en-US" dirty="0"/>
              <a:t>If you have to miss class (excused absence), you will have to make up the lab on your own time within one week of the absence</a:t>
            </a:r>
          </a:p>
        </p:txBody>
      </p:sp>
    </p:spTree>
    <p:extLst>
      <p:ext uri="{BB962C8B-B14F-4D97-AF65-F5344CB8AC3E}">
        <p14:creationId xmlns:p14="http://schemas.microsoft.com/office/powerpoint/2010/main" val="700650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842F0-3557-A74C-8F4E-53C995466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C1628-3253-1445-B9ED-631AB9F42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933"/>
            <a:ext cx="10515600" cy="5018942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dirty="0"/>
              <a:t>Choose an appropriate statistical test for a variety of data types and empirical questions.</a:t>
            </a:r>
          </a:p>
          <a:p>
            <a:pPr lvl="0"/>
            <a:r>
              <a:rPr lang="en-US" dirty="0"/>
              <a:t>Calculate statistical power and decide on an appropriately powered sample size to answer your empirical questions.</a:t>
            </a:r>
          </a:p>
          <a:p>
            <a:pPr lvl="0"/>
            <a:r>
              <a:rPr lang="en-US" dirty="0"/>
              <a:t>Use data visualization to present your data clearly, and to explore your data for extreme cases and normality.</a:t>
            </a:r>
          </a:p>
          <a:p>
            <a:pPr lvl="0"/>
            <a:r>
              <a:rPr lang="en-US" dirty="0"/>
              <a:t>Choose from and execute a variety of statistical tests to examine differences between groups.</a:t>
            </a:r>
          </a:p>
          <a:p>
            <a:pPr lvl="0"/>
            <a:r>
              <a:rPr lang="en-US" dirty="0"/>
              <a:t>Choose from and execute a variety of statistical tests to examine associations between variables.</a:t>
            </a:r>
          </a:p>
          <a:p>
            <a:pPr lvl="0"/>
            <a:r>
              <a:rPr lang="en-US" dirty="0"/>
              <a:t>Write APA style narratives reporting your data analyses, complete with confidence intervals and effect sizes.</a:t>
            </a:r>
          </a:p>
          <a:p>
            <a:pPr lvl="0"/>
            <a:r>
              <a:rPr lang="en-US" dirty="0"/>
              <a:t>Practice responsible and rigorous habits for your statistical analyses that promote transparency and reproducibility.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8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A257F-2AF7-F742-BE1B-16BB4C8AE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Participation (40%)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544E0-C910-9140-8E98-CD9DC8B99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to class! Submit your notes on the activities!</a:t>
            </a:r>
          </a:p>
          <a:p>
            <a:endParaRPr lang="en-US" dirty="0"/>
          </a:p>
          <a:p>
            <a:r>
              <a:rPr lang="en-US" dirty="0"/>
              <a:t>Collaborative Dataset Activity– note that this is different from the dataset you will use for your protocol/paper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188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A257F-2AF7-F742-BE1B-16BB4C8AE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(10%)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544E0-C910-9140-8E98-CD9DC8B99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must have access to a dataset to use for the Final Paper, and you can volunteer to use your data for Data Days</a:t>
            </a:r>
          </a:p>
          <a:p>
            <a:endParaRPr lang="en-US" dirty="0"/>
          </a:p>
          <a:p>
            <a:r>
              <a:rPr lang="en-US" dirty="0"/>
              <a:t>If you don’t have access to one, I will help you!</a:t>
            </a:r>
          </a:p>
          <a:p>
            <a:endParaRPr lang="en-US" dirty="0"/>
          </a:p>
          <a:p>
            <a:r>
              <a:rPr lang="en-US" dirty="0"/>
              <a:t>Data Dictionary Due: Week 6 (but talk to me asap if you’re not sure what to use)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490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3CAE0-F165-9645-86A7-C881B4B87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Protocol Description (25%)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7AEAD-69B9-CB4E-A7A0-20B0D5A1D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Detailed protocol for analyzing their submitted dataset</a:t>
            </a:r>
          </a:p>
          <a:p>
            <a:endParaRPr lang="en-US" dirty="0"/>
          </a:p>
          <a:p>
            <a:r>
              <a:rPr lang="en-US" dirty="0"/>
              <a:t>Template will be provided and discussed in class</a:t>
            </a:r>
          </a:p>
          <a:p>
            <a:endParaRPr lang="en-US" dirty="0"/>
          </a:p>
          <a:p>
            <a:r>
              <a:rPr lang="en-US" dirty="0"/>
              <a:t>Due: October 28</a:t>
            </a:r>
          </a:p>
        </p:txBody>
      </p:sp>
    </p:spTree>
    <p:extLst>
      <p:ext uri="{BB962C8B-B14F-4D97-AF65-F5344CB8AC3E}">
        <p14:creationId xmlns:p14="http://schemas.microsoft.com/office/powerpoint/2010/main" val="638178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6E89F-81D3-5E4B-9BFC-2335FAFB8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Paper (25%)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133DE-9EDC-1948-9EB4-1EA6DA31A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APA style report on your fully executed analyses (as proposed in Protocol Description)</a:t>
            </a:r>
          </a:p>
          <a:p>
            <a:endParaRPr lang="en-US" dirty="0"/>
          </a:p>
          <a:p>
            <a:r>
              <a:rPr lang="en-US" dirty="0"/>
              <a:t>Results section must have detailed analysis plan</a:t>
            </a:r>
          </a:p>
          <a:p>
            <a:endParaRPr lang="en-US" dirty="0"/>
          </a:p>
          <a:p>
            <a:r>
              <a:rPr lang="en-US" dirty="0"/>
              <a:t>Due: December 9 (last day of class)</a:t>
            </a:r>
          </a:p>
        </p:txBody>
      </p:sp>
    </p:spTree>
    <p:extLst>
      <p:ext uri="{BB962C8B-B14F-4D97-AF65-F5344CB8AC3E}">
        <p14:creationId xmlns:p14="http://schemas.microsoft.com/office/powerpoint/2010/main" val="289950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FCC46-1384-7B49-813E-4F13C3081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280F5-E328-C04A-9C19-0506E5F3C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x-none" u="sng"/>
              <a:t>Part 1: </a:t>
            </a:r>
            <a:r>
              <a:rPr lang="en-US" u="sng" dirty="0"/>
              <a:t>Preparing Data</a:t>
            </a:r>
            <a:endParaRPr lang="en-US" dirty="0"/>
          </a:p>
          <a:p>
            <a:pPr lvl="0"/>
            <a:r>
              <a:rPr lang="en-US" dirty="0"/>
              <a:t>Reading data into SPSS and R</a:t>
            </a:r>
          </a:p>
          <a:p>
            <a:pPr lvl="0"/>
            <a:r>
              <a:rPr lang="en-US" dirty="0"/>
              <a:t>Choosing a Statistical Test</a:t>
            </a:r>
          </a:p>
          <a:p>
            <a:pPr lvl="0"/>
            <a:r>
              <a:rPr lang="en-US" dirty="0"/>
              <a:t>Calculating means, medians, confidence intervals</a:t>
            </a:r>
          </a:p>
          <a:p>
            <a:pPr lvl="0"/>
            <a:r>
              <a:rPr lang="en-US" dirty="0"/>
              <a:t>Comparison means to chance</a:t>
            </a:r>
          </a:p>
          <a:p>
            <a:pPr lvl="0"/>
            <a:r>
              <a:rPr lang="en-US" dirty="0"/>
              <a:t>Power Analysis and Sample Size</a:t>
            </a:r>
          </a:p>
          <a:p>
            <a:pPr lvl="0"/>
            <a:r>
              <a:rPr lang="en-US" dirty="0"/>
              <a:t>Protocol Preparation</a:t>
            </a:r>
          </a:p>
          <a:p>
            <a:pPr lvl="0"/>
            <a:r>
              <a:rPr lang="en-US" dirty="0"/>
              <a:t>Effect Sizes</a:t>
            </a:r>
          </a:p>
          <a:p>
            <a:pPr lvl="0"/>
            <a:r>
              <a:rPr lang="en-US" dirty="0"/>
              <a:t>Visualizing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95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1BAEA-BFD9-D146-8936-419B0A75C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CCD1E-C64A-9F42-BE75-8799D7A9F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u="sng"/>
              <a:t>Part </a:t>
            </a:r>
            <a:r>
              <a:rPr lang="en-US" u="sng" dirty="0"/>
              <a:t>2</a:t>
            </a:r>
            <a:r>
              <a:rPr lang="x-none" u="sng"/>
              <a:t>: </a:t>
            </a:r>
            <a:r>
              <a:rPr lang="en-US" u="sng" dirty="0"/>
              <a:t>Associations Between Variables</a:t>
            </a:r>
            <a:endParaRPr lang="en-US" dirty="0"/>
          </a:p>
          <a:p>
            <a:pPr lvl="0"/>
            <a:r>
              <a:rPr lang="en-US" dirty="0"/>
              <a:t>Correlations</a:t>
            </a:r>
          </a:p>
          <a:p>
            <a:pPr lvl="0"/>
            <a:r>
              <a:rPr lang="en-US" dirty="0"/>
              <a:t>Regression</a:t>
            </a:r>
          </a:p>
          <a:p>
            <a:pPr lvl="0"/>
            <a:r>
              <a:rPr lang="en-US" dirty="0"/>
              <a:t>Logistic Regression</a:t>
            </a:r>
          </a:p>
          <a:p>
            <a:pPr lvl="0"/>
            <a:r>
              <a:rPr lang="en-US" dirty="0"/>
              <a:t>Longitudinal Designs</a:t>
            </a:r>
          </a:p>
          <a:p>
            <a:pPr lvl="0"/>
            <a:r>
              <a:rPr lang="en-US" dirty="0"/>
              <a:t>Mediation and Moderation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17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21D6B-EDF3-4840-A1DA-DE68C5DE2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8FB7B-D8FC-3040-A6E0-61B6528F6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u="sng"/>
              <a:t>Part </a:t>
            </a:r>
            <a:r>
              <a:rPr lang="en-US" u="sng" dirty="0"/>
              <a:t>3</a:t>
            </a:r>
            <a:r>
              <a:rPr lang="x-none" u="sng"/>
              <a:t>: </a:t>
            </a:r>
            <a:r>
              <a:rPr lang="en-US" u="sng" dirty="0"/>
              <a:t>Comparing Groups</a:t>
            </a:r>
            <a:endParaRPr lang="en-US" dirty="0"/>
          </a:p>
          <a:p>
            <a:pPr lvl="0"/>
            <a:r>
              <a:rPr lang="en-US" dirty="0"/>
              <a:t>T-tests</a:t>
            </a:r>
          </a:p>
          <a:p>
            <a:pPr lvl="0"/>
            <a:r>
              <a:rPr lang="en-US" dirty="0"/>
              <a:t>ANOVA</a:t>
            </a:r>
          </a:p>
          <a:p>
            <a:pPr lvl="0"/>
            <a:r>
              <a:rPr lang="en-US" dirty="0"/>
              <a:t>Repeated Measures</a:t>
            </a:r>
          </a:p>
          <a:p>
            <a:pPr lvl="0"/>
            <a:r>
              <a:rPr lang="en-US" dirty="0"/>
              <a:t>Mixed Models</a:t>
            </a:r>
          </a:p>
          <a:p>
            <a:pPr lvl="0"/>
            <a:r>
              <a:rPr lang="en-US" dirty="0"/>
              <a:t>Chi-Square</a:t>
            </a:r>
          </a:p>
          <a:p>
            <a:pPr lvl="0"/>
            <a:r>
              <a:rPr lang="en-US" dirty="0"/>
              <a:t>Non-parametric Tests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707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9AA6B-6597-114C-97F8-0DFEAEB6D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Protocol Template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A46D1710-E5FA-0149-8760-C6F5B2DB4F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1912684"/>
              </p:ext>
            </p:extLst>
          </p:nvPr>
        </p:nvGraphicFramePr>
        <p:xfrm>
          <a:off x="4225974" y="1439863"/>
          <a:ext cx="3937000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3600" imgH="8178800" progId="Word.Document.12">
                  <p:embed/>
                </p:oleObj>
              </mc:Choice>
              <mc:Fallback>
                <p:oleObj name="Document" r:id="rId2" imgW="5943600" imgH="81788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25974" y="1439863"/>
                        <a:ext cx="3937000" cy="541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3608A3E-CEA4-75C2-F6D3-44C5E25B1D12}"/>
              </a:ext>
            </a:extLst>
          </p:cNvPr>
          <p:cNvSpPr txBox="1"/>
          <p:nvPr/>
        </p:nvSpPr>
        <p:spPr>
          <a:xfrm>
            <a:off x="372533" y="1690688"/>
            <a:ext cx="32512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Download the template file from the Week 1 Canvas Module</a:t>
            </a:r>
          </a:p>
        </p:txBody>
      </p:sp>
    </p:spTree>
    <p:extLst>
      <p:ext uri="{BB962C8B-B14F-4D97-AF65-F5344CB8AC3E}">
        <p14:creationId xmlns:p14="http://schemas.microsoft.com/office/powerpoint/2010/main" val="476807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03DF7-291B-1A2C-2022-94D882E4D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831D3-B807-3F3D-728D-886E7F422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Full policy in syllabus</a:t>
            </a:r>
          </a:p>
          <a:p>
            <a:r>
              <a:rPr lang="en-US" dirty="0"/>
              <a:t>Based on </a:t>
            </a:r>
            <a:r>
              <a:rPr lang="en-US" dirty="0">
                <a:hlinkClick r:id="rId2"/>
              </a:rPr>
              <a:t>APA policy </a:t>
            </a:r>
            <a:endParaRPr lang="en-US" dirty="0"/>
          </a:p>
          <a:p>
            <a:pPr lvl="1"/>
            <a:r>
              <a:rPr lang="en-US" dirty="0"/>
              <a:t>Be transparent</a:t>
            </a:r>
          </a:p>
          <a:p>
            <a:pPr lvl="1"/>
            <a:r>
              <a:rPr lang="en-US" dirty="0"/>
              <a:t>Maintain ethical approaches</a:t>
            </a:r>
          </a:p>
          <a:p>
            <a:pPr lvl="1"/>
            <a:r>
              <a:rPr lang="en-US" dirty="0"/>
              <a:t>Take responsibility</a:t>
            </a:r>
          </a:p>
          <a:p>
            <a:pPr lvl="1"/>
            <a:r>
              <a:rPr lang="en-US" dirty="0"/>
              <a:t>Provide attribution</a:t>
            </a:r>
          </a:p>
          <a:p>
            <a:r>
              <a:rPr lang="en-US" dirty="0"/>
              <a:t>Do not use AI to write text for your final paper</a:t>
            </a:r>
          </a:p>
        </p:txBody>
      </p:sp>
    </p:spTree>
    <p:extLst>
      <p:ext uri="{BB962C8B-B14F-4D97-AF65-F5344CB8AC3E}">
        <p14:creationId xmlns:p14="http://schemas.microsoft.com/office/powerpoint/2010/main" val="2717325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949BD-5800-66C5-9D3D-9D25ABD5A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Canvas</a:t>
            </a:r>
          </a:p>
        </p:txBody>
      </p:sp>
    </p:spTree>
    <p:extLst>
      <p:ext uri="{BB962C8B-B14F-4D97-AF65-F5344CB8AC3E}">
        <p14:creationId xmlns:p14="http://schemas.microsoft.com/office/powerpoint/2010/main" val="1117111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3764</TotalTime>
  <Words>580</Words>
  <Application>Microsoft Macintosh PowerPoint</Application>
  <PresentationFormat>Widescreen</PresentationFormat>
  <Paragraphs>124</Paragraphs>
  <Slides>19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Office Theme</vt:lpstr>
      <vt:lpstr>Document</vt:lpstr>
      <vt:lpstr>Syllabus and Class Policies</vt:lpstr>
      <vt:lpstr>Statistical Methods, Spring 2024</vt:lpstr>
      <vt:lpstr>Instructors</vt:lpstr>
      <vt:lpstr>Today’s agenda</vt:lpstr>
      <vt:lpstr>Usual Class Format</vt:lpstr>
      <vt:lpstr>Textbook</vt:lpstr>
      <vt:lpstr>Other Materials</vt:lpstr>
      <vt:lpstr>Attendance</vt:lpstr>
      <vt:lpstr>Learning Goals</vt:lpstr>
      <vt:lpstr>Class Participation (40%)</vt:lpstr>
      <vt:lpstr>Dataset (10%)</vt:lpstr>
      <vt:lpstr>Protocol Description (25%)</vt:lpstr>
      <vt:lpstr>Final Paper (25%)</vt:lpstr>
      <vt:lpstr>Course Overview</vt:lpstr>
      <vt:lpstr>Course Overview</vt:lpstr>
      <vt:lpstr>Course Overview</vt:lpstr>
      <vt:lpstr>Protocol Template</vt:lpstr>
      <vt:lpstr>Artificial Intelligence</vt:lpstr>
      <vt:lpstr>Overview of Canvas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do we need statistics?</dc:title>
  <dc:creator>Vanessa Lobue</dc:creator>
  <cp:lastModifiedBy>Jamil Bhanji</cp:lastModifiedBy>
  <cp:revision>56</cp:revision>
  <dcterms:created xsi:type="dcterms:W3CDTF">2021-01-14T20:20:19Z</dcterms:created>
  <dcterms:modified xsi:type="dcterms:W3CDTF">2025-09-02T17:07:29Z</dcterms:modified>
</cp:coreProperties>
</file>