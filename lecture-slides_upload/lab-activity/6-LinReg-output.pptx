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61" r:id="rId5"/>
    <p:sldId id="259" r:id="rId6"/>
    <p:sldId id="263" r:id="rId7"/>
    <p:sldId id="264" r:id="rId8"/>
    <p:sldId id="266" r:id="rId9"/>
    <p:sldId id="258" r:id="rId10"/>
    <p:sldId id="268" r:id="rId11"/>
    <p:sldId id="271" r:id="rId12"/>
    <p:sldId id="269" r:id="rId13"/>
    <p:sldId id="267" r:id="rId14"/>
    <p:sldId id="272" r:id="rId15"/>
    <p:sldId id="273" r:id="rId16"/>
    <p:sldId id="26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3"/>
    <p:restoredTop sz="88040"/>
  </p:normalViewPr>
  <p:slideViewPr>
    <p:cSldViewPr snapToGrid="0" snapToObjects="1">
      <p:cViewPr varScale="1">
        <p:scale>
          <a:sx n="93" d="100"/>
          <a:sy n="93" d="100"/>
        </p:scale>
        <p:origin x="76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24883-8E87-084D-AD54-60B13E67F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DF1D99-2F79-5942-AD28-792A974EF5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BBDCA-8054-2444-AD93-E2E676ED0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304A-BD4A-884F-8142-E1638F7E50E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0472D-6AAF-2D40-91F7-792DBB7DE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2E8DB-2867-6643-87C4-15FAD2684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70FAD-CDE2-0047-8935-E9ED5C9F4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827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DF495-4A59-4342-95EA-D45BA0E6B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D4F1B-CB5D-8247-A950-18B01E0E6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0B321-4F10-1C4F-8990-CF4AE29F6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304A-BD4A-884F-8142-E1638F7E50E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F0CA8-50FC-B740-A45B-3FD0865C7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A57EE-43C4-454C-8DEA-C216529E5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70FAD-CDE2-0047-8935-E9ED5C9F4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775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02572-F198-4548-865F-F8D3269A9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32AAA-A3E1-F84C-B854-AA4647E69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C6200-6BBB-5E48-AC42-8FF1D95E2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304A-BD4A-884F-8142-E1638F7E50E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08621-522A-4147-ACE1-56D155EF2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5E324-DCCD-8145-8EFE-B6DA1F0F6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70FAD-CDE2-0047-8935-E9ED5C9F4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750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409FA-6230-244B-B53B-4CA19F8E9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20A0E-F997-4646-B220-135DF5FBA5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4559EA-2320-734B-BDAA-05B64FC6D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C81555-A43F-B34D-AFB2-02E9BE10C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304A-BD4A-884F-8142-E1638F7E50E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E3B096-E3AB-1542-A276-BB1321B32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9EF01-D507-FD43-9488-BDD3135C0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70FAD-CDE2-0047-8935-E9ED5C9F4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90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1D70C-4816-3C4B-B6A0-C8222F7AF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1C89A9-3362-1D41-A769-B0C22FFE9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40ABFA-2466-6D4F-A32D-4A1ABFD3A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C73024-D3AB-4A48-A5A7-6CF889AF91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E8F871-849F-834E-B68F-DF7B124BCC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F85D79-81DF-8D48-A5D2-490CEC3FB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304A-BD4A-884F-8142-E1638F7E50E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F2E746-5817-A245-8C5C-DDD8A24BF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2BA9FB-36F1-ED46-8DF4-FCB47C92A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70FAD-CDE2-0047-8935-E9ED5C9F4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090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5E638-8FF0-744C-BBF9-4AAD8045E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16FFFF-DF2D-8B48-BA58-3AFF395F0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304A-BD4A-884F-8142-E1638F7E50E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B81AE6-77ED-A943-B235-8491A6A0E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B30FA-912B-8242-AAD4-CD4D1F26E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70FAD-CDE2-0047-8935-E9ED5C9F4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4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A6E8D3-7386-3646-8B42-91BC27BBB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304A-BD4A-884F-8142-E1638F7E50E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BD69F2-FBD9-2E49-98D6-D1C27F85E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1AD1AA-AEA1-154E-9AD2-13BA3CEF2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70FAD-CDE2-0047-8935-E9ED5C9F4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229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82A18-7053-7E41-B4AE-D6EFAF5D3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D3EFA-908F-334A-9391-2E067EE88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CD233-3323-3442-AA08-38911F534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48D277-F20F-F843-8982-067F8BF0C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304A-BD4A-884F-8142-E1638F7E50E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93426B-42C4-6841-9334-5BB7BA03D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4C13E-878B-7544-99BA-DAF62FC29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70FAD-CDE2-0047-8935-E9ED5C9F4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916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A4725-DEF3-624D-85DD-25F4D30F0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7F489D-EF83-F14E-B9FA-B2F7FAA9F3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85BEC9-D996-9342-B89B-B5AE1DD543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CDA77-1040-CA4E-8644-689E89267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304A-BD4A-884F-8142-E1638F7E50E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EEAAEB-E372-C941-ADBC-A639F2083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1B0F94-4DA5-DB4B-A9B3-5DF89182F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70FAD-CDE2-0047-8935-E9ED5C9F4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466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17D77-F05A-3E48-8DA0-5C93E30E6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D9487D-2B57-C94B-A133-3B25D605A7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CF76D-5E6D-8F45-A7CC-40C9A306C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304A-BD4A-884F-8142-E1638F7E50E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1F270-29A2-3F4D-A783-427326229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11F3B-C405-764C-89AF-EB890AEA2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70FAD-CDE2-0047-8935-E9ED5C9F4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545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2D8983-23F1-DD48-B04A-40F17C56E8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2654F7-B275-0344-BAD0-441DDEF4FB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CDA90-54B6-D142-BD04-564D8FBA5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304A-BD4A-884F-8142-E1638F7E50E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4EEED-8E02-5742-8A78-4EC75BF7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D4695-6611-2340-9AF6-12E3DA9D1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70FAD-CDE2-0047-8935-E9ED5C9F4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220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F946D2-9235-2D48-BFE6-192B34A04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13167-8097-D849-A494-A491BF77A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5D4CB-03FA-8448-845D-DB8E2BE2D2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8304A-BD4A-884F-8142-E1638F7E50E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42D22-16A6-D948-A18E-2B70B43194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4BFAD-7210-7A47-A847-BCDBCB85B4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570FAD-CDE2-0047-8935-E9ED5C9F46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764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9AE17-CC13-5C41-AEB5-FE6A8471EC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Reading output from a </a:t>
            </a:r>
            <a:br>
              <a:rPr lang="en-US" dirty="0"/>
            </a:br>
            <a:r>
              <a:rPr lang="en-US" dirty="0"/>
              <a:t>linear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FD8801-3621-1B46-BA79-8F5CDDF00A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Statistical Methods Fall 2024</a:t>
            </a:r>
          </a:p>
          <a:p>
            <a:r>
              <a:rPr lang="en-US" dirty="0"/>
              <a:t>Jamil Palacios </a:t>
            </a:r>
            <a:r>
              <a:rPr lang="en-US" dirty="0" err="1"/>
              <a:t>Bhanji</a:t>
            </a:r>
            <a:r>
              <a:rPr lang="en-US" dirty="0"/>
              <a:t> </a:t>
            </a:r>
          </a:p>
          <a:p>
            <a:r>
              <a:rPr lang="en-US" dirty="0"/>
              <a:t>with help from Vanessa Lobue</a:t>
            </a:r>
          </a:p>
        </p:txBody>
      </p:sp>
    </p:spTree>
    <p:extLst>
      <p:ext uri="{BB962C8B-B14F-4D97-AF65-F5344CB8AC3E}">
        <p14:creationId xmlns:p14="http://schemas.microsoft.com/office/powerpoint/2010/main" val="1070559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D11C9-A095-0048-A7EC-8954DC788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9662"/>
            <a:ext cx="5257800" cy="633942"/>
          </a:xfrm>
        </p:spPr>
        <p:txBody>
          <a:bodyPr>
            <a:normAutofit fontScale="90000"/>
          </a:bodyPr>
          <a:lstStyle/>
          <a:p>
            <a:r>
              <a:rPr lang="en-US" dirty="0"/>
              <a:t>SPSS </a:t>
            </a:r>
            <a:r>
              <a:rPr lang="en-US" sz="2800" dirty="0">
                <a:latin typeface="Andale Mono" panose="020B0509000000000004" pitchFamily="49" charset="0"/>
              </a:rPr>
              <a:t>Regression-&gt;Linear</a:t>
            </a:r>
            <a:r>
              <a:rPr lang="en-US" dirty="0"/>
              <a:t> </a:t>
            </a:r>
          </a:p>
        </p:txBody>
      </p:sp>
      <p:pic>
        <p:nvPicPr>
          <p:cNvPr id="18" name="Picture 17" descr="Table&#10;&#10;Description automatically generated">
            <a:extLst>
              <a:ext uri="{FF2B5EF4-FFF2-40B4-BE49-F238E27FC236}">
                <a16:creationId xmlns:a16="http://schemas.microsoft.com/office/drawing/2014/main" id="{CA8207BE-2251-2B40-8ECA-50CEDAAC6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34" y="2105700"/>
            <a:ext cx="4711700" cy="282342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9DC9FC3-109D-7443-95BB-FF7996B0BA0F}"/>
              </a:ext>
            </a:extLst>
          </p:cNvPr>
          <p:cNvSpPr/>
          <p:nvPr/>
        </p:nvSpPr>
        <p:spPr>
          <a:xfrm>
            <a:off x="3467100" y="825644"/>
            <a:ext cx="47650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/>
              <a:t>raw_score</a:t>
            </a:r>
            <a:r>
              <a:rPr lang="en-US" sz="2000" b="0" i="0" dirty="0">
                <a:solidFill>
                  <a:srgbClr val="373737"/>
                </a:solidFill>
                <a:effectLst/>
                <a:latin typeface="Myriad Pro"/>
              </a:rPr>
              <a:t> = </a:t>
            </a:r>
            <a:r>
              <a:rPr lang="en-US" sz="2000" b="0" i="1" dirty="0">
                <a:solidFill>
                  <a:srgbClr val="373737"/>
                </a:solidFill>
                <a:effectLst/>
                <a:latin typeface="Myriad Pro"/>
              </a:rPr>
              <a:t>b</a:t>
            </a:r>
            <a:r>
              <a:rPr lang="en-US" sz="2000" b="0" i="0" baseline="-25000" dirty="0">
                <a:solidFill>
                  <a:srgbClr val="373737"/>
                </a:solidFill>
                <a:effectLst/>
                <a:latin typeface="Myriad Pro"/>
              </a:rPr>
              <a:t>0</a:t>
            </a:r>
            <a:r>
              <a:rPr lang="en-US" sz="2000" b="0" i="0" dirty="0">
                <a:solidFill>
                  <a:srgbClr val="373737"/>
                </a:solidFill>
                <a:effectLst/>
                <a:latin typeface="Myriad Pro"/>
              </a:rPr>
              <a:t> + </a:t>
            </a:r>
            <a:r>
              <a:rPr lang="en-US" sz="2000" b="0" i="1" dirty="0">
                <a:solidFill>
                  <a:srgbClr val="373737"/>
                </a:solidFill>
                <a:effectLst/>
                <a:latin typeface="Myriad Pro"/>
              </a:rPr>
              <a:t>b</a:t>
            </a:r>
            <a:r>
              <a:rPr lang="en-US" sz="2000" b="0" i="0" baseline="-25000" dirty="0">
                <a:solidFill>
                  <a:srgbClr val="373737"/>
                </a:solidFill>
                <a:effectLst/>
                <a:latin typeface="Myriad Pro"/>
              </a:rPr>
              <a:t>1</a:t>
            </a:r>
            <a:r>
              <a:rPr lang="en-US" sz="2000" dirty="0"/>
              <a:t>age</a:t>
            </a:r>
            <a:r>
              <a:rPr lang="en-US" sz="2000" dirty="0">
                <a:solidFill>
                  <a:srgbClr val="373737"/>
                </a:solidFill>
                <a:latin typeface="Myriad Pro"/>
              </a:rPr>
              <a:t> + </a:t>
            </a:r>
            <a:r>
              <a:rPr lang="en-US" sz="2000" b="0" i="1" dirty="0">
                <a:solidFill>
                  <a:srgbClr val="373737"/>
                </a:solidFill>
                <a:effectLst/>
                <a:latin typeface="Myriad Pro"/>
              </a:rPr>
              <a:t>b</a:t>
            </a:r>
            <a:r>
              <a:rPr lang="en-US" sz="2000" baseline="-25000" dirty="0">
                <a:solidFill>
                  <a:srgbClr val="373737"/>
                </a:solidFill>
                <a:latin typeface="Myriad Pro"/>
              </a:rPr>
              <a:t>2</a:t>
            </a:r>
            <a:r>
              <a:rPr lang="en-US" sz="2000" dirty="0">
                <a:solidFill>
                  <a:srgbClr val="373737"/>
                </a:solidFill>
                <a:latin typeface="Myriad Pro"/>
              </a:rPr>
              <a:t>pretest_score</a:t>
            </a:r>
            <a:endParaRPr lang="en-US" sz="2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6775330-B6CB-184E-84F9-3C6D0A4D8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201" y="724432"/>
            <a:ext cx="3285066" cy="111865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7E1E258-027D-444F-B6F5-F9906D0A7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137" y="1161165"/>
            <a:ext cx="8209727" cy="111865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3B9D585-591A-A44E-A433-86A10005D914}"/>
              </a:ext>
            </a:extLst>
          </p:cNvPr>
          <p:cNvSpPr txBox="1"/>
          <p:nvPr/>
        </p:nvSpPr>
        <p:spPr>
          <a:xfrm>
            <a:off x="5145099" y="1326966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15658D-24B4-E847-B4F3-F6AD6E482CFA}"/>
              </a:ext>
            </a:extLst>
          </p:cNvPr>
          <p:cNvSpPr txBox="1"/>
          <p:nvPr/>
        </p:nvSpPr>
        <p:spPr>
          <a:xfrm>
            <a:off x="6130149" y="1783552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2</a:t>
            </a:r>
          </a:p>
        </p:txBody>
      </p:sp>
      <p:pic>
        <p:nvPicPr>
          <p:cNvPr id="33" name="Picture 32" descr="Table&#10;&#10;Description automatically generated">
            <a:extLst>
              <a:ext uri="{FF2B5EF4-FFF2-40B4-BE49-F238E27FC236}">
                <a16:creationId xmlns:a16="http://schemas.microsoft.com/office/drawing/2014/main" id="{05B38410-D1EA-A34B-BF83-0EC4ED67AF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925" y="2252490"/>
            <a:ext cx="8772150" cy="4633178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4D525557-196F-8044-8CEA-0258FB1E1B28}"/>
              </a:ext>
            </a:extLst>
          </p:cNvPr>
          <p:cNvSpPr/>
          <p:nvPr/>
        </p:nvSpPr>
        <p:spPr>
          <a:xfrm>
            <a:off x="6299200" y="2442209"/>
            <a:ext cx="3657600" cy="1538777"/>
          </a:xfrm>
          <a:prstGeom prst="ellipse">
            <a:avLst/>
          </a:prstGeom>
          <a:noFill/>
          <a:ln w="603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0DF84FA-0341-644D-AB4F-3E55F4B8E7D4}"/>
              </a:ext>
            </a:extLst>
          </p:cNvPr>
          <p:cNvSpPr/>
          <p:nvPr/>
        </p:nvSpPr>
        <p:spPr>
          <a:xfrm>
            <a:off x="6299200" y="3803101"/>
            <a:ext cx="3657600" cy="1538777"/>
          </a:xfrm>
          <a:prstGeom prst="ellipse">
            <a:avLst/>
          </a:prstGeom>
          <a:noFill/>
          <a:ln w="603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277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  <p:bldP spid="3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D11C9-A095-0048-A7EC-8954DC788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9662"/>
            <a:ext cx="5257800" cy="633942"/>
          </a:xfrm>
        </p:spPr>
        <p:txBody>
          <a:bodyPr>
            <a:normAutofit fontScale="90000"/>
          </a:bodyPr>
          <a:lstStyle/>
          <a:p>
            <a:r>
              <a:rPr lang="en-US" dirty="0"/>
              <a:t>SPSS </a:t>
            </a:r>
            <a:r>
              <a:rPr lang="en-US" sz="2800" dirty="0">
                <a:latin typeface="Andale Mono" panose="020B0509000000000004" pitchFamily="49" charset="0"/>
              </a:rPr>
              <a:t>Regression-&gt;Linear</a:t>
            </a:r>
            <a:r>
              <a:rPr lang="en-US" dirty="0"/>
              <a:t> </a:t>
            </a:r>
          </a:p>
        </p:txBody>
      </p:sp>
      <p:pic>
        <p:nvPicPr>
          <p:cNvPr id="18" name="Picture 17" descr="Table&#10;&#10;Description automatically generated">
            <a:extLst>
              <a:ext uri="{FF2B5EF4-FFF2-40B4-BE49-F238E27FC236}">
                <a16:creationId xmlns:a16="http://schemas.microsoft.com/office/drawing/2014/main" id="{CA8207BE-2251-2B40-8ECA-50CEDAAC6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34" y="1703915"/>
            <a:ext cx="4711700" cy="282342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9DC9FC3-109D-7443-95BB-FF7996B0BA0F}"/>
              </a:ext>
            </a:extLst>
          </p:cNvPr>
          <p:cNvSpPr/>
          <p:nvPr/>
        </p:nvSpPr>
        <p:spPr>
          <a:xfrm>
            <a:off x="3467100" y="825644"/>
            <a:ext cx="47650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/>
              <a:t>raw_score</a:t>
            </a:r>
            <a:r>
              <a:rPr lang="en-US" sz="2000" b="0" i="0" dirty="0">
                <a:solidFill>
                  <a:srgbClr val="373737"/>
                </a:solidFill>
                <a:effectLst/>
                <a:latin typeface="Myriad Pro"/>
              </a:rPr>
              <a:t> = </a:t>
            </a:r>
            <a:r>
              <a:rPr lang="en-US" sz="2000" b="0" i="1" dirty="0">
                <a:solidFill>
                  <a:srgbClr val="373737"/>
                </a:solidFill>
                <a:effectLst/>
                <a:latin typeface="Myriad Pro"/>
              </a:rPr>
              <a:t>b</a:t>
            </a:r>
            <a:r>
              <a:rPr lang="en-US" sz="2000" b="0" i="0" baseline="-25000" dirty="0">
                <a:solidFill>
                  <a:srgbClr val="373737"/>
                </a:solidFill>
                <a:effectLst/>
                <a:latin typeface="Myriad Pro"/>
              </a:rPr>
              <a:t>0</a:t>
            </a:r>
            <a:r>
              <a:rPr lang="en-US" sz="2000" b="0" i="0" dirty="0">
                <a:solidFill>
                  <a:srgbClr val="373737"/>
                </a:solidFill>
                <a:effectLst/>
                <a:latin typeface="Myriad Pro"/>
              </a:rPr>
              <a:t> + </a:t>
            </a:r>
            <a:r>
              <a:rPr lang="en-US" sz="2000" b="0" i="1" dirty="0">
                <a:solidFill>
                  <a:srgbClr val="373737"/>
                </a:solidFill>
                <a:effectLst/>
                <a:latin typeface="Myriad Pro"/>
              </a:rPr>
              <a:t>b</a:t>
            </a:r>
            <a:r>
              <a:rPr lang="en-US" sz="2000" b="0" i="0" baseline="-25000" dirty="0">
                <a:solidFill>
                  <a:srgbClr val="373737"/>
                </a:solidFill>
                <a:effectLst/>
                <a:latin typeface="Myriad Pro"/>
              </a:rPr>
              <a:t>1</a:t>
            </a:r>
            <a:r>
              <a:rPr lang="en-US" sz="2000" dirty="0"/>
              <a:t>age</a:t>
            </a:r>
            <a:r>
              <a:rPr lang="en-US" sz="2000" dirty="0">
                <a:solidFill>
                  <a:srgbClr val="373737"/>
                </a:solidFill>
                <a:latin typeface="Myriad Pro"/>
              </a:rPr>
              <a:t> + </a:t>
            </a:r>
            <a:r>
              <a:rPr lang="en-US" sz="2000" b="0" i="1" dirty="0">
                <a:solidFill>
                  <a:srgbClr val="373737"/>
                </a:solidFill>
                <a:effectLst/>
                <a:latin typeface="Myriad Pro"/>
              </a:rPr>
              <a:t>b</a:t>
            </a:r>
            <a:r>
              <a:rPr lang="en-US" sz="2000" baseline="-25000" dirty="0">
                <a:solidFill>
                  <a:srgbClr val="373737"/>
                </a:solidFill>
                <a:latin typeface="Myriad Pro"/>
              </a:rPr>
              <a:t>2</a:t>
            </a:r>
            <a:r>
              <a:rPr lang="en-US" sz="2000" dirty="0">
                <a:solidFill>
                  <a:srgbClr val="373737"/>
                </a:solidFill>
                <a:latin typeface="Myriad Pro"/>
              </a:rPr>
              <a:t>pretest_score</a:t>
            </a:r>
            <a:endParaRPr lang="en-US" sz="2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6775330-B6CB-184E-84F9-3C6D0A4D8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201" y="724432"/>
            <a:ext cx="3285066" cy="111865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7E1E258-027D-444F-B6F5-F9906D0A7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137" y="1161165"/>
            <a:ext cx="8209727" cy="111865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3B9D585-591A-A44E-A433-86A10005D914}"/>
              </a:ext>
            </a:extLst>
          </p:cNvPr>
          <p:cNvSpPr txBox="1"/>
          <p:nvPr/>
        </p:nvSpPr>
        <p:spPr>
          <a:xfrm>
            <a:off x="5145099" y="1326966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15658D-24B4-E847-B4F3-F6AD6E482CFA}"/>
              </a:ext>
            </a:extLst>
          </p:cNvPr>
          <p:cNvSpPr txBox="1"/>
          <p:nvPr/>
        </p:nvSpPr>
        <p:spPr>
          <a:xfrm>
            <a:off x="6130149" y="1783552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2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7FDC1B1-489D-7443-9442-E60609FC8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033" y="2944284"/>
            <a:ext cx="10772753" cy="3088071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A99D8943-6FBD-8745-A5BD-C5CC38170927}"/>
              </a:ext>
            </a:extLst>
          </p:cNvPr>
          <p:cNvSpPr/>
          <p:nvPr/>
        </p:nvSpPr>
        <p:spPr>
          <a:xfrm>
            <a:off x="2286000" y="3466716"/>
            <a:ext cx="1062567" cy="1725085"/>
          </a:xfrm>
          <a:prstGeom prst="ellipse">
            <a:avLst/>
          </a:prstGeom>
          <a:noFill/>
          <a:ln w="603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D9EEAA3-A070-6742-981F-5B2411A7662F}"/>
              </a:ext>
            </a:extLst>
          </p:cNvPr>
          <p:cNvSpPr/>
          <p:nvPr/>
        </p:nvSpPr>
        <p:spPr>
          <a:xfrm>
            <a:off x="5930900" y="3466715"/>
            <a:ext cx="1150150" cy="1725085"/>
          </a:xfrm>
          <a:prstGeom prst="ellipse">
            <a:avLst/>
          </a:prstGeom>
          <a:noFill/>
          <a:ln w="603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35A66BD-36B9-784C-BC22-AD9C4C6B3D64}"/>
              </a:ext>
            </a:extLst>
          </p:cNvPr>
          <p:cNvSpPr/>
          <p:nvPr/>
        </p:nvSpPr>
        <p:spPr>
          <a:xfrm>
            <a:off x="7061318" y="3429000"/>
            <a:ext cx="1062567" cy="1725085"/>
          </a:xfrm>
          <a:prstGeom prst="ellipse">
            <a:avLst/>
          </a:prstGeom>
          <a:noFill/>
          <a:ln w="603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1916955-8F24-5343-8922-99678F0257EE}"/>
              </a:ext>
            </a:extLst>
          </p:cNvPr>
          <p:cNvSpPr/>
          <p:nvPr/>
        </p:nvSpPr>
        <p:spPr>
          <a:xfrm>
            <a:off x="10068373" y="3429000"/>
            <a:ext cx="1062567" cy="1725085"/>
          </a:xfrm>
          <a:prstGeom prst="ellipse">
            <a:avLst/>
          </a:prstGeom>
          <a:noFill/>
          <a:ln w="603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39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9" grpId="1" animBg="1"/>
      <p:bldP spid="30" grpId="0" animBg="1"/>
      <p:bldP spid="30" grpId="1" animBg="1"/>
      <p:bldP spid="31" grpId="0" animBg="1"/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D11C9-A095-0048-A7EC-8954DC788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9662"/>
            <a:ext cx="5257800" cy="633942"/>
          </a:xfrm>
        </p:spPr>
        <p:txBody>
          <a:bodyPr>
            <a:normAutofit fontScale="90000"/>
          </a:bodyPr>
          <a:lstStyle/>
          <a:p>
            <a:r>
              <a:rPr lang="en-US" dirty="0"/>
              <a:t>SPSS </a:t>
            </a:r>
            <a:r>
              <a:rPr lang="en-US" sz="2800" dirty="0">
                <a:latin typeface="Andale Mono" panose="020B0509000000000004" pitchFamily="49" charset="0"/>
              </a:rPr>
              <a:t>Regression-&gt;Linear</a:t>
            </a:r>
            <a:r>
              <a:rPr lang="en-US" dirty="0"/>
              <a:t>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DC9FC3-109D-7443-95BB-FF7996B0BA0F}"/>
              </a:ext>
            </a:extLst>
          </p:cNvPr>
          <p:cNvSpPr/>
          <p:nvPr/>
        </p:nvSpPr>
        <p:spPr>
          <a:xfrm>
            <a:off x="3467100" y="825644"/>
            <a:ext cx="47650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/>
              <a:t>raw_score</a:t>
            </a:r>
            <a:r>
              <a:rPr lang="en-US" sz="2000" b="0" i="0" dirty="0">
                <a:solidFill>
                  <a:srgbClr val="373737"/>
                </a:solidFill>
                <a:effectLst/>
                <a:latin typeface="Myriad Pro"/>
              </a:rPr>
              <a:t> = </a:t>
            </a:r>
            <a:r>
              <a:rPr lang="en-US" sz="2000" b="0" i="1" dirty="0">
                <a:solidFill>
                  <a:srgbClr val="373737"/>
                </a:solidFill>
                <a:effectLst/>
                <a:latin typeface="Myriad Pro"/>
              </a:rPr>
              <a:t>b</a:t>
            </a:r>
            <a:r>
              <a:rPr lang="en-US" sz="2000" b="0" i="0" baseline="-25000" dirty="0">
                <a:solidFill>
                  <a:srgbClr val="373737"/>
                </a:solidFill>
                <a:effectLst/>
                <a:latin typeface="Myriad Pro"/>
              </a:rPr>
              <a:t>0</a:t>
            </a:r>
            <a:r>
              <a:rPr lang="en-US" sz="2000" b="0" i="0" dirty="0">
                <a:solidFill>
                  <a:srgbClr val="373737"/>
                </a:solidFill>
                <a:effectLst/>
                <a:latin typeface="Myriad Pro"/>
              </a:rPr>
              <a:t> + </a:t>
            </a:r>
            <a:r>
              <a:rPr lang="en-US" sz="2000" b="0" i="1" dirty="0">
                <a:solidFill>
                  <a:srgbClr val="373737"/>
                </a:solidFill>
                <a:effectLst/>
                <a:latin typeface="Myriad Pro"/>
              </a:rPr>
              <a:t>b</a:t>
            </a:r>
            <a:r>
              <a:rPr lang="en-US" sz="2000" b="0" i="0" baseline="-25000" dirty="0">
                <a:solidFill>
                  <a:srgbClr val="373737"/>
                </a:solidFill>
                <a:effectLst/>
                <a:latin typeface="Myriad Pro"/>
              </a:rPr>
              <a:t>1</a:t>
            </a:r>
            <a:r>
              <a:rPr lang="en-US" sz="2000" dirty="0"/>
              <a:t>age</a:t>
            </a:r>
            <a:r>
              <a:rPr lang="en-US" sz="2000" dirty="0">
                <a:solidFill>
                  <a:srgbClr val="373737"/>
                </a:solidFill>
                <a:latin typeface="Myriad Pro"/>
              </a:rPr>
              <a:t> + </a:t>
            </a:r>
            <a:r>
              <a:rPr lang="en-US" sz="2000" b="0" i="1" dirty="0">
                <a:solidFill>
                  <a:srgbClr val="373737"/>
                </a:solidFill>
                <a:effectLst/>
                <a:latin typeface="Myriad Pro"/>
              </a:rPr>
              <a:t>b</a:t>
            </a:r>
            <a:r>
              <a:rPr lang="en-US" sz="2000" baseline="-25000" dirty="0">
                <a:solidFill>
                  <a:srgbClr val="373737"/>
                </a:solidFill>
                <a:latin typeface="Myriad Pro"/>
              </a:rPr>
              <a:t>2</a:t>
            </a:r>
            <a:r>
              <a:rPr lang="en-US" sz="2000" dirty="0">
                <a:solidFill>
                  <a:srgbClr val="373737"/>
                </a:solidFill>
                <a:latin typeface="Myriad Pro"/>
              </a:rPr>
              <a:t>pretest_score</a:t>
            </a:r>
            <a:endParaRPr lang="en-US" sz="2000" dirty="0"/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67E006C6-87F3-9347-9804-1F268265A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90" y="1821736"/>
            <a:ext cx="11918620" cy="3173597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058C8609-0E57-3D4E-A60F-9DE3F04CA920}"/>
              </a:ext>
            </a:extLst>
          </p:cNvPr>
          <p:cNvSpPr/>
          <p:nvPr/>
        </p:nvSpPr>
        <p:spPr>
          <a:xfrm>
            <a:off x="2353734" y="3357735"/>
            <a:ext cx="1062567" cy="360217"/>
          </a:xfrm>
          <a:prstGeom prst="ellipse">
            <a:avLst/>
          </a:prstGeom>
          <a:noFill/>
          <a:ln w="603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C891D44-6172-0444-8E87-F7A2DDE34FED}"/>
              </a:ext>
            </a:extLst>
          </p:cNvPr>
          <p:cNvSpPr/>
          <p:nvPr/>
        </p:nvSpPr>
        <p:spPr>
          <a:xfrm>
            <a:off x="5350936" y="865537"/>
            <a:ext cx="491067" cy="400110"/>
          </a:xfrm>
          <a:prstGeom prst="ellipse">
            <a:avLst/>
          </a:prstGeom>
          <a:noFill/>
          <a:ln w="603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AD61AEF-EB34-1F4C-A11E-138BD29A1457}"/>
              </a:ext>
            </a:extLst>
          </p:cNvPr>
          <p:cNvSpPr/>
          <p:nvPr/>
        </p:nvSpPr>
        <p:spPr>
          <a:xfrm>
            <a:off x="2349502" y="4201686"/>
            <a:ext cx="1062567" cy="360217"/>
          </a:xfrm>
          <a:prstGeom prst="ellipse">
            <a:avLst/>
          </a:prstGeom>
          <a:noFill/>
          <a:ln w="603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4A075BD-AE78-CC4C-A73B-92DF43944EC8}"/>
              </a:ext>
            </a:extLst>
          </p:cNvPr>
          <p:cNvSpPr/>
          <p:nvPr/>
        </p:nvSpPr>
        <p:spPr>
          <a:xfrm>
            <a:off x="3450171" y="4218619"/>
            <a:ext cx="4200360" cy="360215"/>
          </a:xfrm>
          <a:prstGeom prst="ellipse">
            <a:avLst/>
          </a:prstGeom>
          <a:noFill/>
          <a:ln w="603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C44FD2D-C4E6-894D-9504-F16D04123F31}"/>
              </a:ext>
            </a:extLst>
          </p:cNvPr>
          <p:cNvSpPr/>
          <p:nvPr/>
        </p:nvSpPr>
        <p:spPr>
          <a:xfrm>
            <a:off x="3412069" y="3357733"/>
            <a:ext cx="4200360" cy="360217"/>
          </a:xfrm>
          <a:prstGeom prst="ellipse">
            <a:avLst/>
          </a:prstGeom>
          <a:noFill/>
          <a:ln w="603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CA9458A-956D-224F-95D4-A04D8A9409E1}"/>
              </a:ext>
            </a:extLst>
          </p:cNvPr>
          <p:cNvSpPr/>
          <p:nvPr/>
        </p:nvSpPr>
        <p:spPr>
          <a:xfrm>
            <a:off x="6300494" y="865537"/>
            <a:ext cx="491067" cy="400110"/>
          </a:xfrm>
          <a:prstGeom prst="ellipse">
            <a:avLst/>
          </a:prstGeom>
          <a:noFill/>
          <a:ln w="603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3860D88-D296-7145-8400-682AC414FAB5}"/>
              </a:ext>
            </a:extLst>
          </p:cNvPr>
          <p:cNvSpPr/>
          <p:nvPr/>
        </p:nvSpPr>
        <p:spPr>
          <a:xfrm>
            <a:off x="4757622" y="865537"/>
            <a:ext cx="491067" cy="400110"/>
          </a:xfrm>
          <a:prstGeom prst="ellipse">
            <a:avLst/>
          </a:prstGeom>
          <a:noFill/>
          <a:ln w="603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89C3626-2ED6-F740-9237-4E7A66936158}"/>
              </a:ext>
            </a:extLst>
          </p:cNvPr>
          <p:cNvSpPr/>
          <p:nvPr/>
        </p:nvSpPr>
        <p:spPr>
          <a:xfrm>
            <a:off x="2349502" y="3015668"/>
            <a:ext cx="2036231" cy="413332"/>
          </a:xfrm>
          <a:prstGeom prst="ellipse">
            <a:avLst/>
          </a:prstGeom>
          <a:noFill/>
          <a:ln w="603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48ECDB6-4305-AF4A-A2EE-CBDA23D563AB}"/>
              </a:ext>
            </a:extLst>
          </p:cNvPr>
          <p:cNvSpPr/>
          <p:nvPr/>
        </p:nvSpPr>
        <p:spPr>
          <a:xfrm>
            <a:off x="2332572" y="3913820"/>
            <a:ext cx="1062567" cy="360217"/>
          </a:xfrm>
          <a:prstGeom prst="ellipse">
            <a:avLst/>
          </a:prstGeom>
          <a:noFill/>
          <a:ln w="603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6214866-39DF-704D-93BF-2A3F7C9930D9}"/>
              </a:ext>
            </a:extLst>
          </p:cNvPr>
          <p:cNvSpPr/>
          <p:nvPr/>
        </p:nvSpPr>
        <p:spPr>
          <a:xfrm>
            <a:off x="3433241" y="3930753"/>
            <a:ext cx="4200360" cy="360215"/>
          </a:xfrm>
          <a:prstGeom prst="ellipse">
            <a:avLst/>
          </a:prstGeom>
          <a:noFill/>
          <a:ln w="603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868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2" grpId="0" animBg="1"/>
      <p:bldP spid="13" grpId="0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6F5FB8-3F1E-B940-88C3-CD05295DBCBF}"/>
              </a:ext>
            </a:extLst>
          </p:cNvPr>
          <p:cNvSpPr txBox="1">
            <a:spLocks/>
          </p:cNvSpPr>
          <p:nvPr/>
        </p:nvSpPr>
        <p:spPr>
          <a:xfrm>
            <a:off x="838200" y="280462"/>
            <a:ext cx="5257800" cy="633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 </a:t>
            </a:r>
            <a:r>
              <a:rPr lang="en-US" sz="2800" dirty="0" err="1">
                <a:latin typeface="Andale Mono" panose="020B0509000000000004" pitchFamily="49" charset="0"/>
              </a:rPr>
              <a:t>lm</a:t>
            </a:r>
            <a:r>
              <a:rPr lang="en-US" sz="2800" dirty="0">
                <a:latin typeface="Andale Mono" panose="020B0509000000000004" pitchFamily="49" charset="0"/>
              </a:rPr>
              <a:t>()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3E6095-3945-314E-B821-8EDF187CB0B1}"/>
              </a:ext>
            </a:extLst>
          </p:cNvPr>
          <p:cNvSpPr/>
          <p:nvPr/>
        </p:nvSpPr>
        <p:spPr>
          <a:xfrm>
            <a:off x="3467100" y="825644"/>
            <a:ext cx="47650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/>
              <a:t>raw_score</a:t>
            </a:r>
            <a:r>
              <a:rPr lang="en-US" sz="2000" b="0" i="0" dirty="0">
                <a:solidFill>
                  <a:srgbClr val="373737"/>
                </a:solidFill>
                <a:effectLst/>
                <a:latin typeface="Myriad Pro"/>
              </a:rPr>
              <a:t> = </a:t>
            </a:r>
            <a:r>
              <a:rPr lang="en-US" sz="2000" b="0" i="1" dirty="0">
                <a:solidFill>
                  <a:srgbClr val="373737"/>
                </a:solidFill>
                <a:effectLst/>
                <a:latin typeface="Myriad Pro"/>
              </a:rPr>
              <a:t>b</a:t>
            </a:r>
            <a:r>
              <a:rPr lang="en-US" sz="2000" b="0" i="0" baseline="-25000" dirty="0">
                <a:solidFill>
                  <a:srgbClr val="373737"/>
                </a:solidFill>
                <a:effectLst/>
                <a:latin typeface="Myriad Pro"/>
              </a:rPr>
              <a:t>0</a:t>
            </a:r>
            <a:r>
              <a:rPr lang="en-US" sz="2000" b="0" i="0" dirty="0">
                <a:solidFill>
                  <a:srgbClr val="373737"/>
                </a:solidFill>
                <a:effectLst/>
                <a:latin typeface="Myriad Pro"/>
              </a:rPr>
              <a:t> + </a:t>
            </a:r>
            <a:r>
              <a:rPr lang="en-US" sz="2000" b="0" i="1" dirty="0">
                <a:solidFill>
                  <a:srgbClr val="373737"/>
                </a:solidFill>
                <a:effectLst/>
                <a:latin typeface="Myriad Pro"/>
              </a:rPr>
              <a:t>b</a:t>
            </a:r>
            <a:r>
              <a:rPr lang="en-US" sz="2000" b="0" i="0" baseline="-25000" dirty="0">
                <a:solidFill>
                  <a:srgbClr val="373737"/>
                </a:solidFill>
                <a:effectLst/>
                <a:latin typeface="Myriad Pro"/>
              </a:rPr>
              <a:t>1</a:t>
            </a:r>
            <a:r>
              <a:rPr lang="en-US" sz="2000" dirty="0"/>
              <a:t>age</a:t>
            </a:r>
            <a:r>
              <a:rPr lang="en-US" sz="2000" dirty="0">
                <a:solidFill>
                  <a:srgbClr val="373737"/>
                </a:solidFill>
                <a:latin typeface="Myriad Pro"/>
              </a:rPr>
              <a:t> + </a:t>
            </a:r>
            <a:r>
              <a:rPr lang="en-US" sz="2000" b="0" i="1" dirty="0">
                <a:solidFill>
                  <a:srgbClr val="373737"/>
                </a:solidFill>
                <a:effectLst/>
                <a:latin typeface="Myriad Pro"/>
              </a:rPr>
              <a:t>b</a:t>
            </a:r>
            <a:r>
              <a:rPr lang="en-US" sz="2000" baseline="-25000" dirty="0">
                <a:solidFill>
                  <a:srgbClr val="373737"/>
                </a:solidFill>
                <a:latin typeface="Myriad Pro"/>
              </a:rPr>
              <a:t>2</a:t>
            </a:r>
            <a:r>
              <a:rPr lang="en-US" sz="2000" dirty="0">
                <a:solidFill>
                  <a:srgbClr val="373737"/>
                </a:solidFill>
                <a:latin typeface="Myriad Pro"/>
              </a:rPr>
              <a:t>pretest_score</a:t>
            </a:r>
            <a:endParaRPr lang="en-US" sz="2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D4B9A8-D3D8-424E-8AAE-3D414AF5A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201" y="724432"/>
            <a:ext cx="3285066" cy="111865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A9817B6-7493-684C-BE08-A20814FF3AD1}"/>
              </a:ext>
            </a:extLst>
          </p:cNvPr>
          <p:cNvSpPr txBox="1"/>
          <p:nvPr/>
        </p:nvSpPr>
        <p:spPr>
          <a:xfrm>
            <a:off x="5145099" y="1326966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434426-3E67-A943-B9AD-C44753B22A6D}"/>
              </a:ext>
            </a:extLst>
          </p:cNvPr>
          <p:cNvSpPr txBox="1"/>
          <p:nvPr/>
        </p:nvSpPr>
        <p:spPr>
          <a:xfrm>
            <a:off x="6130149" y="1783552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2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A5A3F8-2678-E14C-AE0A-AE0BDC742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137" y="1161165"/>
            <a:ext cx="8209727" cy="1118656"/>
          </a:xfrm>
          <a:prstGeom prst="rect">
            <a:avLst/>
          </a:prstGeom>
        </p:spPr>
      </p:pic>
      <p:pic>
        <p:nvPicPr>
          <p:cNvPr id="19" name="Picture 18" descr="Text&#10;&#10;Description automatically generated">
            <a:extLst>
              <a:ext uri="{FF2B5EF4-FFF2-40B4-BE49-F238E27FC236}">
                <a16:creationId xmlns:a16="http://schemas.microsoft.com/office/drawing/2014/main" id="{A783BE20-824F-E147-A378-4E5BE922A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62304"/>
            <a:ext cx="5140090" cy="4104994"/>
          </a:xfrm>
          <a:prstGeom prst="rect">
            <a:avLst/>
          </a:prstGeom>
        </p:spPr>
      </p:pic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0344A0DC-F151-684D-9254-48F190D8BA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759" y="2279821"/>
            <a:ext cx="5378278" cy="4231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507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6F5FB8-3F1E-B940-88C3-CD05295DBCBF}"/>
              </a:ext>
            </a:extLst>
          </p:cNvPr>
          <p:cNvSpPr txBox="1">
            <a:spLocks/>
          </p:cNvSpPr>
          <p:nvPr/>
        </p:nvSpPr>
        <p:spPr>
          <a:xfrm>
            <a:off x="838200" y="280462"/>
            <a:ext cx="5257800" cy="633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 </a:t>
            </a:r>
            <a:r>
              <a:rPr lang="en-US" sz="2800" dirty="0" err="1">
                <a:latin typeface="Andale Mono" panose="020B0509000000000004" pitchFamily="49" charset="0"/>
              </a:rPr>
              <a:t>lm</a:t>
            </a:r>
            <a:r>
              <a:rPr lang="en-US" sz="2800" dirty="0">
                <a:latin typeface="Andale Mono" panose="020B0509000000000004" pitchFamily="49" charset="0"/>
              </a:rPr>
              <a:t>()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3E6095-3945-314E-B821-8EDF187CB0B1}"/>
              </a:ext>
            </a:extLst>
          </p:cNvPr>
          <p:cNvSpPr/>
          <p:nvPr/>
        </p:nvSpPr>
        <p:spPr>
          <a:xfrm>
            <a:off x="3467100" y="825644"/>
            <a:ext cx="47650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/>
              <a:t>raw_score</a:t>
            </a:r>
            <a:r>
              <a:rPr lang="en-US" sz="2000" b="0" i="0" dirty="0">
                <a:solidFill>
                  <a:srgbClr val="373737"/>
                </a:solidFill>
                <a:effectLst/>
                <a:latin typeface="Myriad Pro"/>
              </a:rPr>
              <a:t> = </a:t>
            </a:r>
            <a:r>
              <a:rPr lang="en-US" sz="2000" b="0" i="1" dirty="0">
                <a:solidFill>
                  <a:srgbClr val="373737"/>
                </a:solidFill>
                <a:effectLst/>
                <a:latin typeface="Myriad Pro"/>
              </a:rPr>
              <a:t>b</a:t>
            </a:r>
            <a:r>
              <a:rPr lang="en-US" sz="2000" b="0" i="0" baseline="-25000" dirty="0">
                <a:solidFill>
                  <a:srgbClr val="373737"/>
                </a:solidFill>
                <a:effectLst/>
                <a:latin typeface="Myriad Pro"/>
              </a:rPr>
              <a:t>0</a:t>
            </a:r>
            <a:r>
              <a:rPr lang="en-US" sz="2000" b="0" i="0" dirty="0">
                <a:solidFill>
                  <a:srgbClr val="373737"/>
                </a:solidFill>
                <a:effectLst/>
                <a:latin typeface="Myriad Pro"/>
              </a:rPr>
              <a:t> + </a:t>
            </a:r>
            <a:r>
              <a:rPr lang="en-US" sz="2000" b="0" i="1" dirty="0">
                <a:solidFill>
                  <a:srgbClr val="373737"/>
                </a:solidFill>
                <a:effectLst/>
                <a:latin typeface="Myriad Pro"/>
              </a:rPr>
              <a:t>b</a:t>
            </a:r>
            <a:r>
              <a:rPr lang="en-US" sz="2000" b="0" i="0" baseline="-25000" dirty="0">
                <a:solidFill>
                  <a:srgbClr val="373737"/>
                </a:solidFill>
                <a:effectLst/>
                <a:latin typeface="Myriad Pro"/>
              </a:rPr>
              <a:t>1</a:t>
            </a:r>
            <a:r>
              <a:rPr lang="en-US" sz="2000" dirty="0"/>
              <a:t>age</a:t>
            </a:r>
            <a:r>
              <a:rPr lang="en-US" sz="2000" dirty="0">
                <a:solidFill>
                  <a:srgbClr val="373737"/>
                </a:solidFill>
                <a:latin typeface="Myriad Pro"/>
              </a:rPr>
              <a:t> + </a:t>
            </a:r>
            <a:r>
              <a:rPr lang="en-US" sz="2000" b="0" i="1" dirty="0">
                <a:solidFill>
                  <a:srgbClr val="373737"/>
                </a:solidFill>
                <a:effectLst/>
                <a:latin typeface="Myriad Pro"/>
              </a:rPr>
              <a:t>b</a:t>
            </a:r>
            <a:r>
              <a:rPr lang="en-US" sz="2000" baseline="-25000" dirty="0">
                <a:solidFill>
                  <a:srgbClr val="373737"/>
                </a:solidFill>
                <a:latin typeface="Myriad Pro"/>
              </a:rPr>
              <a:t>2</a:t>
            </a:r>
            <a:r>
              <a:rPr lang="en-US" sz="2000" dirty="0">
                <a:solidFill>
                  <a:srgbClr val="373737"/>
                </a:solidFill>
                <a:latin typeface="Myriad Pro"/>
              </a:rPr>
              <a:t>pretest_score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434426-3E67-A943-B9AD-C44753B22A6D}"/>
              </a:ext>
            </a:extLst>
          </p:cNvPr>
          <p:cNvSpPr txBox="1"/>
          <p:nvPr/>
        </p:nvSpPr>
        <p:spPr>
          <a:xfrm>
            <a:off x="6130149" y="1309428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2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A5A3F8-2678-E14C-AE0A-AE0BDC742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137" y="687041"/>
            <a:ext cx="8209727" cy="1118656"/>
          </a:xfrm>
          <a:prstGeom prst="rect">
            <a:avLst/>
          </a:prstGeom>
        </p:spPr>
      </p:pic>
      <p:pic>
        <p:nvPicPr>
          <p:cNvPr id="10" name="Picture 9" descr="Text&#10;&#10;Description automatically generated with medium confidence">
            <a:extLst>
              <a:ext uri="{FF2B5EF4-FFF2-40B4-BE49-F238E27FC236}">
                <a16:creationId xmlns:a16="http://schemas.microsoft.com/office/drawing/2014/main" id="{BB3AEA47-1BDA-F94B-92DD-C9B754260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84" y="2899976"/>
            <a:ext cx="10579924" cy="143269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8B4B4760-8E13-FC42-95B0-CB92933108B9}"/>
              </a:ext>
            </a:extLst>
          </p:cNvPr>
          <p:cNvSpPr/>
          <p:nvPr/>
        </p:nvSpPr>
        <p:spPr>
          <a:xfrm>
            <a:off x="4656667" y="3327200"/>
            <a:ext cx="1566333" cy="413332"/>
          </a:xfrm>
          <a:prstGeom prst="ellipse">
            <a:avLst/>
          </a:prstGeom>
          <a:noFill/>
          <a:ln w="603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FA0C377-165D-AA4C-8837-71071AE9BF4C}"/>
              </a:ext>
            </a:extLst>
          </p:cNvPr>
          <p:cNvSpPr/>
          <p:nvPr/>
        </p:nvSpPr>
        <p:spPr>
          <a:xfrm>
            <a:off x="3090334" y="3721864"/>
            <a:ext cx="1566333" cy="413332"/>
          </a:xfrm>
          <a:prstGeom prst="ellipse">
            <a:avLst/>
          </a:prstGeom>
          <a:noFill/>
          <a:ln w="603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FC83054-EFB5-7A48-8470-34ED08B411D9}"/>
              </a:ext>
            </a:extLst>
          </p:cNvPr>
          <p:cNvSpPr/>
          <p:nvPr/>
        </p:nvSpPr>
        <p:spPr>
          <a:xfrm>
            <a:off x="7177217" y="3723537"/>
            <a:ext cx="3972491" cy="413332"/>
          </a:xfrm>
          <a:prstGeom prst="ellipse">
            <a:avLst/>
          </a:prstGeom>
          <a:noFill/>
          <a:ln w="603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443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6" grpId="0" animBg="1"/>
      <p:bldP spid="16" grpId="1" animBg="1"/>
      <p:bldP spid="18" grpId="0" animBg="1"/>
      <p:bldP spid="18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Table&#10;&#10;Description automatically generated">
            <a:extLst>
              <a:ext uri="{FF2B5EF4-FFF2-40B4-BE49-F238E27FC236}">
                <a16:creationId xmlns:a16="http://schemas.microsoft.com/office/drawing/2014/main" id="{7A740A6B-BF1D-AF48-8A21-742C312B7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776" y="2544997"/>
            <a:ext cx="9414932" cy="235373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E6F5FB8-3F1E-B940-88C3-CD05295DBCBF}"/>
              </a:ext>
            </a:extLst>
          </p:cNvPr>
          <p:cNvSpPr txBox="1">
            <a:spLocks/>
          </p:cNvSpPr>
          <p:nvPr/>
        </p:nvSpPr>
        <p:spPr>
          <a:xfrm>
            <a:off x="838200" y="280462"/>
            <a:ext cx="5257800" cy="633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 </a:t>
            </a:r>
            <a:r>
              <a:rPr lang="en-US" sz="2800" dirty="0" err="1">
                <a:latin typeface="Andale Mono" panose="020B0509000000000004" pitchFamily="49" charset="0"/>
              </a:rPr>
              <a:t>lm</a:t>
            </a:r>
            <a:r>
              <a:rPr lang="en-US" sz="2800" dirty="0">
                <a:latin typeface="Andale Mono" panose="020B0509000000000004" pitchFamily="49" charset="0"/>
              </a:rPr>
              <a:t>()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3E6095-3945-314E-B821-8EDF187CB0B1}"/>
              </a:ext>
            </a:extLst>
          </p:cNvPr>
          <p:cNvSpPr/>
          <p:nvPr/>
        </p:nvSpPr>
        <p:spPr>
          <a:xfrm>
            <a:off x="3467100" y="825644"/>
            <a:ext cx="47650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/>
              <a:t>raw_score</a:t>
            </a:r>
            <a:r>
              <a:rPr lang="en-US" sz="2000" b="0" i="0" dirty="0">
                <a:solidFill>
                  <a:srgbClr val="373737"/>
                </a:solidFill>
                <a:effectLst/>
                <a:latin typeface="Myriad Pro"/>
              </a:rPr>
              <a:t> = </a:t>
            </a:r>
            <a:r>
              <a:rPr lang="en-US" sz="2000" b="0" i="1" dirty="0">
                <a:solidFill>
                  <a:srgbClr val="373737"/>
                </a:solidFill>
                <a:effectLst/>
                <a:latin typeface="Myriad Pro"/>
              </a:rPr>
              <a:t>b</a:t>
            </a:r>
            <a:r>
              <a:rPr lang="en-US" sz="2000" b="0" i="0" baseline="-25000" dirty="0">
                <a:solidFill>
                  <a:srgbClr val="373737"/>
                </a:solidFill>
                <a:effectLst/>
                <a:latin typeface="Myriad Pro"/>
              </a:rPr>
              <a:t>0</a:t>
            </a:r>
            <a:r>
              <a:rPr lang="en-US" sz="2000" b="0" i="0" dirty="0">
                <a:solidFill>
                  <a:srgbClr val="373737"/>
                </a:solidFill>
                <a:effectLst/>
                <a:latin typeface="Myriad Pro"/>
              </a:rPr>
              <a:t> + </a:t>
            </a:r>
            <a:r>
              <a:rPr lang="en-US" sz="2000" b="0" i="1" dirty="0">
                <a:solidFill>
                  <a:srgbClr val="373737"/>
                </a:solidFill>
                <a:effectLst/>
                <a:latin typeface="Myriad Pro"/>
              </a:rPr>
              <a:t>b</a:t>
            </a:r>
            <a:r>
              <a:rPr lang="en-US" sz="2000" b="0" i="0" baseline="-25000" dirty="0">
                <a:solidFill>
                  <a:srgbClr val="373737"/>
                </a:solidFill>
                <a:effectLst/>
                <a:latin typeface="Myriad Pro"/>
              </a:rPr>
              <a:t>1</a:t>
            </a:r>
            <a:r>
              <a:rPr lang="en-US" sz="2000" dirty="0"/>
              <a:t>age</a:t>
            </a:r>
            <a:r>
              <a:rPr lang="en-US" sz="2000" dirty="0">
                <a:solidFill>
                  <a:srgbClr val="373737"/>
                </a:solidFill>
                <a:latin typeface="Myriad Pro"/>
              </a:rPr>
              <a:t> + </a:t>
            </a:r>
            <a:r>
              <a:rPr lang="en-US" sz="2000" b="0" i="1" dirty="0">
                <a:solidFill>
                  <a:srgbClr val="373737"/>
                </a:solidFill>
                <a:effectLst/>
                <a:latin typeface="Myriad Pro"/>
              </a:rPr>
              <a:t>b</a:t>
            </a:r>
            <a:r>
              <a:rPr lang="en-US" sz="2000" baseline="-25000" dirty="0">
                <a:solidFill>
                  <a:srgbClr val="373737"/>
                </a:solidFill>
                <a:latin typeface="Myriad Pro"/>
              </a:rPr>
              <a:t>2</a:t>
            </a:r>
            <a:r>
              <a:rPr lang="en-US" sz="2000" dirty="0">
                <a:solidFill>
                  <a:srgbClr val="373737"/>
                </a:solidFill>
                <a:latin typeface="Myriad Pro"/>
              </a:rPr>
              <a:t>pretest_score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434426-3E67-A943-B9AD-C44753B22A6D}"/>
              </a:ext>
            </a:extLst>
          </p:cNvPr>
          <p:cNvSpPr txBox="1"/>
          <p:nvPr/>
        </p:nvSpPr>
        <p:spPr>
          <a:xfrm>
            <a:off x="6130149" y="1309428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2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A5A3F8-2678-E14C-AE0A-AE0BDC742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137" y="687041"/>
            <a:ext cx="8209727" cy="1118656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8B4B4760-8E13-FC42-95B0-CB92933108B9}"/>
              </a:ext>
            </a:extLst>
          </p:cNvPr>
          <p:cNvSpPr/>
          <p:nvPr/>
        </p:nvSpPr>
        <p:spPr>
          <a:xfrm>
            <a:off x="4218553" y="3156275"/>
            <a:ext cx="1566333" cy="413332"/>
          </a:xfrm>
          <a:prstGeom prst="ellipse">
            <a:avLst/>
          </a:prstGeom>
          <a:noFill/>
          <a:ln w="603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FA0C377-165D-AA4C-8837-71071AE9BF4C}"/>
              </a:ext>
            </a:extLst>
          </p:cNvPr>
          <p:cNvSpPr/>
          <p:nvPr/>
        </p:nvSpPr>
        <p:spPr>
          <a:xfrm>
            <a:off x="4278643" y="3418803"/>
            <a:ext cx="1566333" cy="579099"/>
          </a:xfrm>
          <a:prstGeom prst="ellipse">
            <a:avLst/>
          </a:prstGeom>
          <a:noFill/>
          <a:ln w="603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FC83054-EFB5-7A48-8470-34ED08B411D9}"/>
              </a:ext>
            </a:extLst>
          </p:cNvPr>
          <p:cNvSpPr/>
          <p:nvPr/>
        </p:nvSpPr>
        <p:spPr>
          <a:xfrm>
            <a:off x="4297907" y="3863339"/>
            <a:ext cx="1566333" cy="413332"/>
          </a:xfrm>
          <a:prstGeom prst="ellipse">
            <a:avLst/>
          </a:prstGeom>
          <a:noFill/>
          <a:ln w="603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176062A-1275-8F45-B194-B4AE4069D8D1}"/>
              </a:ext>
            </a:extLst>
          </p:cNvPr>
          <p:cNvSpPr/>
          <p:nvPr/>
        </p:nvSpPr>
        <p:spPr>
          <a:xfrm>
            <a:off x="4681062" y="854259"/>
            <a:ext cx="641314" cy="413332"/>
          </a:xfrm>
          <a:prstGeom prst="ellipse">
            <a:avLst/>
          </a:prstGeom>
          <a:noFill/>
          <a:ln w="603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946D37E-5A11-F54A-96F8-F5C5050F3A2C}"/>
              </a:ext>
            </a:extLst>
          </p:cNvPr>
          <p:cNvSpPr/>
          <p:nvPr/>
        </p:nvSpPr>
        <p:spPr>
          <a:xfrm>
            <a:off x="5222926" y="854262"/>
            <a:ext cx="641314" cy="413332"/>
          </a:xfrm>
          <a:prstGeom prst="ellipse">
            <a:avLst/>
          </a:prstGeom>
          <a:noFill/>
          <a:ln w="603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040D492-DA94-3F49-9CCD-9AA85A4B3B63}"/>
              </a:ext>
            </a:extLst>
          </p:cNvPr>
          <p:cNvSpPr/>
          <p:nvPr/>
        </p:nvSpPr>
        <p:spPr>
          <a:xfrm>
            <a:off x="6168084" y="812930"/>
            <a:ext cx="641315" cy="413332"/>
          </a:xfrm>
          <a:prstGeom prst="ellipse">
            <a:avLst/>
          </a:prstGeom>
          <a:noFill/>
          <a:ln w="603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079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6" grpId="0" animBg="1"/>
      <p:bldP spid="16" grpId="1" animBg="1"/>
      <p:bldP spid="18" grpId="0" animBg="1"/>
      <p:bldP spid="14" grpId="0" animBg="1"/>
      <p:bldP spid="14" grpId="1" animBg="1"/>
      <p:bldP spid="19" grpId="0" animBg="1"/>
      <p:bldP spid="19" grpId="1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E6F5FB8-3F1E-B940-88C3-CD05295DBCBF}"/>
              </a:ext>
            </a:extLst>
          </p:cNvPr>
          <p:cNvSpPr txBox="1">
            <a:spLocks/>
          </p:cNvSpPr>
          <p:nvPr/>
        </p:nvSpPr>
        <p:spPr>
          <a:xfrm>
            <a:off x="838200" y="280462"/>
            <a:ext cx="5257800" cy="633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 </a:t>
            </a:r>
            <a:r>
              <a:rPr lang="en-US" sz="2800" dirty="0" err="1">
                <a:latin typeface="Andale Mono" panose="020B0509000000000004" pitchFamily="49" charset="0"/>
              </a:rPr>
              <a:t>lm</a:t>
            </a:r>
            <a:r>
              <a:rPr lang="en-US" sz="2800" dirty="0">
                <a:latin typeface="Andale Mono" panose="020B0509000000000004" pitchFamily="49" charset="0"/>
              </a:rPr>
              <a:t>()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3E6095-3945-314E-B821-8EDF187CB0B1}"/>
              </a:ext>
            </a:extLst>
          </p:cNvPr>
          <p:cNvSpPr/>
          <p:nvPr/>
        </p:nvSpPr>
        <p:spPr>
          <a:xfrm>
            <a:off x="3467100" y="825644"/>
            <a:ext cx="47650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/>
              <a:t>raw_score</a:t>
            </a:r>
            <a:r>
              <a:rPr lang="en-US" sz="2000" b="0" i="0" dirty="0">
                <a:solidFill>
                  <a:srgbClr val="373737"/>
                </a:solidFill>
                <a:effectLst/>
                <a:latin typeface="Myriad Pro"/>
              </a:rPr>
              <a:t> = </a:t>
            </a:r>
            <a:r>
              <a:rPr lang="en-US" sz="2000" b="0" i="1" dirty="0">
                <a:solidFill>
                  <a:srgbClr val="373737"/>
                </a:solidFill>
                <a:effectLst/>
                <a:latin typeface="Myriad Pro"/>
              </a:rPr>
              <a:t>b</a:t>
            </a:r>
            <a:r>
              <a:rPr lang="en-US" sz="2000" b="0" i="0" baseline="-25000" dirty="0">
                <a:solidFill>
                  <a:srgbClr val="373737"/>
                </a:solidFill>
                <a:effectLst/>
                <a:latin typeface="Myriad Pro"/>
              </a:rPr>
              <a:t>0</a:t>
            </a:r>
            <a:r>
              <a:rPr lang="en-US" sz="2000" b="0" i="0" dirty="0">
                <a:solidFill>
                  <a:srgbClr val="373737"/>
                </a:solidFill>
                <a:effectLst/>
                <a:latin typeface="Myriad Pro"/>
              </a:rPr>
              <a:t> + </a:t>
            </a:r>
            <a:r>
              <a:rPr lang="en-US" sz="2000" b="0" i="1" dirty="0">
                <a:solidFill>
                  <a:srgbClr val="373737"/>
                </a:solidFill>
                <a:effectLst/>
                <a:latin typeface="Myriad Pro"/>
              </a:rPr>
              <a:t>b</a:t>
            </a:r>
            <a:r>
              <a:rPr lang="en-US" sz="2000" b="0" i="0" baseline="-25000" dirty="0">
                <a:solidFill>
                  <a:srgbClr val="373737"/>
                </a:solidFill>
                <a:effectLst/>
                <a:latin typeface="Myriad Pro"/>
              </a:rPr>
              <a:t>1</a:t>
            </a:r>
            <a:r>
              <a:rPr lang="en-US" sz="2000" dirty="0"/>
              <a:t>age</a:t>
            </a:r>
            <a:r>
              <a:rPr lang="en-US" sz="2000" dirty="0">
                <a:solidFill>
                  <a:srgbClr val="373737"/>
                </a:solidFill>
                <a:latin typeface="Myriad Pro"/>
              </a:rPr>
              <a:t> + </a:t>
            </a:r>
            <a:r>
              <a:rPr lang="en-US" sz="2000" b="0" i="1" dirty="0">
                <a:solidFill>
                  <a:srgbClr val="373737"/>
                </a:solidFill>
                <a:effectLst/>
                <a:latin typeface="Myriad Pro"/>
              </a:rPr>
              <a:t>b</a:t>
            </a:r>
            <a:r>
              <a:rPr lang="en-US" sz="2000" baseline="-25000" dirty="0">
                <a:solidFill>
                  <a:srgbClr val="373737"/>
                </a:solidFill>
                <a:latin typeface="Myriad Pro"/>
              </a:rPr>
              <a:t>2</a:t>
            </a:r>
            <a:r>
              <a:rPr lang="en-US" sz="2000" dirty="0">
                <a:solidFill>
                  <a:srgbClr val="373737"/>
                </a:solidFill>
                <a:latin typeface="Myriad Pro"/>
              </a:rPr>
              <a:t>pretest_score</a:t>
            </a:r>
            <a:endParaRPr lang="en-US" sz="2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D4B9A8-D3D8-424E-8AAE-3D414AF5A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201" y="724432"/>
            <a:ext cx="3285066" cy="111865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A9817B6-7493-684C-BE08-A20814FF3AD1}"/>
              </a:ext>
            </a:extLst>
          </p:cNvPr>
          <p:cNvSpPr txBox="1"/>
          <p:nvPr/>
        </p:nvSpPr>
        <p:spPr>
          <a:xfrm>
            <a:off x="5145099" y="1326966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434426-3E67-A943-B9AD-C44753B22A6D}"/>
              </a:ext>
            </a:extLst>
          </p:cNvPr>
          <p:cNvSpPr txBox="1"/>
          <p:nvPr/>
        </p:nvSpPr>
        <p:spPr>
          <a:xfrm>
            <a:off x="6130149" y="1783552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2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A5A3F8-2678-E14C-AE0A-AE0BDC742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137" y="1161165"/>
            <a:ext cx="8209727" cy="11186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1D69717-AF16-5D48-8ECC-D8CF8AB9C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050" y="2526582"/>
            <a:ext cx="6819900" cy="558800"/>
          </a:xfrm>
          <a:prstGeom prst="rect">
            <a:avLst/>
          </a:prstGeom>
        </p:spPr>
      </p:pic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195F1E30-4D48-6645-936D-EBEB2E235D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7887" y="2287058"/>
            <a:ext cx="8659977" cy="4065867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4CA75218-3B05-DA4A-92B9-FFDA2122FB36}"/>
              </a:ext>
            </a:extLst>
          </p:cNvPr>
          <p:cNvSpPr/>
          <p:nvPr/>
        </p:nvSpPr>
        <p:spPr>
          <a:xfrm>
            <a:off x="5854950" y="4896272"/>
            <a:ext cx="3085850" cy="413332"/>
          </a:xfrm>
          <a:prstGeom prst="ellipse">
            <a:avLst/>
          </a:prstGeom>
          <a:noFill/>
          <a:ln w="603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876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D11C9-A095-0048-A7EC-8954DC788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035800" cy="633942"/>
          </a:xfrm>
        </p:spPr>
        <p:txBody>
          <a:bodyPr>
            <a:normAutofit fontScale="90000"/>
          </a:bodyPr>
          <a:lstStyle/>
          <a:p>
            <a:r>
              <a:rPr lang="en-US" dirty="0"/>
              <a:t>SPSS </a:t>
            </a:r>
            <a:r>
              <a:rPr lang="en-US" sz="2800" dirty="0">
                <a:latin typeface="Andale Mono" panose="020B0509000000000004" pitchFamily="49" charset="0"/>
              </a:rPr>
              <a:t>Regression-&gt;Binary Logistic</a:t>
            </a:r>
            <a:r>
              <a:rPr lang="en-US" dirty="0"/>
              <a:t> </a:t>
            </a:r>
          </a:p>
        </p:txBody>
      </p:sp>
      <p:pic>
        <p:nvPicPr>
          <p:cNvPr id="1026" name="Picture 2" descr="logitstic regression, logistic regression equation">
            <a:extLst>
              <a:ext uri="{FF2B5EF4-FFF2-40B4-BE49-F238E27FC236}">
                <a16:creationId xmlns:a16="http://schemas.microsoft.com/office/drawing/2014/main" id="{BB37FF2B-B308-C545-8443-F89C14B76F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050" y="844550"/>
            <a:ext cx="3987800" cy="132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C027972-16E5-924B-B50A-613A70F7C1F7}"/>
              </a:ext>
            </a:extLst>
          </p:cNvPr>
          <p:cNvSpPr txBox="1"/>
          <p:nvPr/>
        </p:nvSpPr>
        <p:spPr>
          <a:xfrm>
            <a:off x="6551430" y="1255183"/>
            <a:ext cx="170110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ndale Mono" panose="020B0509000000000004" pitchFamily="49" charset="0"/>
              </a:rPr>
              <a:t>(</a:t>
            </a:r>
            <a:r>
              <a:rPr lang="en-US" dirty="0" err="1">
                <a:latin typeface="Andale Mono" panose="020B0509000000000004" pitchFamily="49" charset="0"/>
              </a:rPr>
              <a:t>years_edu</a:t>
            </a:r>
            <a:r>
              <a:rPr lang="en-US" dirty="0">
                <a:latin typeface="Andale Mono" panose="020B0509000000000004" pitchFamily="49" charset="0"/>
              </a:rPr>
              <a:t>)</a:t>
            </a:r>
          </a:p>
        </p:txBody>
      </p:sp>
      <p:pic>
        <p:nvPicPr>
          <p:cNvPr id="18" name="Picture 17" descr="Table&#10;&#10;Description automatically generated">
            <a:extLst>
              <a:ext uri="{FF2B5EF4-FFF2-40B4-BE49-F238E27FC236}">
                <a16:creationId xmlns:a16="http://schemas.microsoft.com/office/drawing/2014/main" id="{AC6B3B4E-6252-464E-81D9-AF636EB4C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8734" y="2289173"/>
            <a:ext cx="6116642" cy="4043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634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D11C9-A095-0048-A7EC-8954DC788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035800" cy="633942"/>
          </a:xfrm>
        </p:spPr>
        <p:txBody>
          <a:bodyPr>
            <a:normAutofit fontScale="90000"/>
          </a:bodyPr>
          <a:lstStyle/>
          <a:p>
            <a:r>
              <a:rPr lang="en-US" dirty="0"/>
              <a:t>SPSS </a:t>
            </a:r>
            <a:r>
              <a:rPr lang="en-US" sz="2800" dirty="0">
                <a:latin typeface="Andale Mono" panose="020B0509000000000004" pitchFamily="49" charset="0"/>
              </a:rPr>
              <a:t>Regression-&gt;Binary Logistic</a:t>
            </a:r>
            <a:r>
              <a:rPr lang="en-US" dirty="0"/>
              <a:t> </a:t>
            </a:r>
          </a:p>
        </p:txBody>
      </p:sp>
      <p:pic>
        <p:nvPicPr>
          <p:cNvPr id="1026" name="Picture 2" descr="logitstic regression, logistic regression equation">
            <a:extLst>
              <a:ext uri="{FF2B5EF4-FFF2-40B4-BE49-F238E27FC236}">
                <a16:creationId xmlns:a16="http://schemas.microsoft.com/office/drawing/2014/main" id="{BB37FF2B-B308-C545-8443-F89C14B76F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050" y="844550"/>
            <a:ext cx="3987800" cy="132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C027972-16E5-924B-B50A-613A70F7C1F7}"/>
              </a:ext>
            </a:extLst>
          </p:cNvPr>
          <p:cNvSpPr txBox="1"/>
          <p:nvPr/>
        </p:nvSpPr>
        <p:spPr>
          <a:xfrm>
            <a:off x="6551430" y="1255183"/>
            <a:ext cx="170110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ndale Mono" panose="020B0509000000000004" pitchFamily="49" charset="0"/>
              </a:rPr>
              <a:t>(</a:t>
            </a:r>
            <a:r>
              <a:rPr lang="en-US" dirty="0" err="1">
                <a:latin typeface="Andale Mono" panose="020B0509000000000004" pitchFamily="49" charset="0"/>
              </a:rPr>
              <a:t>years_edu</a:t>
            </a:r>
            <a:r>
              <a:rPr lang="en-US" dirty="0">
                <a:latin typeface="Andale Mono" panose="020B0509000000000004" pitchFamily="49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A8C3CF-E804-D447-A4B4-AE67A4EA0621}"/>
              </a:ext>
            </a:extLst>
          </p:cNvPr>
          <p:cNvSpPr txBox="1"/>
          <p:nvPr/>
        </p:nvSpPr>
        <p:spPr>
          <a:xfrm>
            <a:off x="838200" y="3166533"/>
            <a:ext cx="25056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NULL model</a:t>
            </a:r>
          </a:p>
          <a:p>
            <a:r>
              <a:rPr lang="en-US" dirty="0"/>
              <a:t>always predicts the most</a:t>
            </a:r>
          </a:p>
          <a:p>
            <a:r>
              <a:rPr lang="en-US" dirty="0"/>
              <a:t>common outcome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9B5C208-0BF7-7D44-B17D-E8F49C23E27E}"/>
              </a:ext>
            </a:extLst>
          </p:cNvPr>
          <p:cNvSpPr/>
          <p:nvPr/>
        </p:nvSpPr>
        <p:spPr>
          <a:xfrm>
            <a:off x="3388100" y="962210"/>
            <a:ext cx="2707900" cy="1203139"/>
          </a:xfrm>
          <a:prstGeom prst="ellipse">
            <a:avLst/>
          </a:prstGeom>
          <a:noFill/>
          <a:ln w="603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Table&#10;&#10;Description automatically generated">
            <a:extLst>
              <a:ext uri="{FF2B5EF4-FFF2-40B4-BE49-F238E27FC236}">
                <a16:creationId xmlns:a16="http://schemas.microsoft.com/office/drawing/2014/main" id="{E4466CDF-4E39-6C4A-9071-FD444F4A1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5099" y="2644774"/>
            <a:ext cx="5863167" cy="375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765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D11C9-A095-0048-A7EC-8954DC788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035800" cy="633942"/>
          </a:xfrm>
        </p:spPr>
        <p:txBody>
          <a:bodyPr>
            <a:normAutofit fontScale="90000"/>
          </a:bodyPr>
          <a:lstStyle/>
          <a:p>
            <a:r>
              <a:rPr lang="en-US" dirty="0"/>
              <a:t>SPSS </a:t>
            </a:r>
            <a:r>
              <a:rPr lang="en-US" sz="2800" dirty="0">
                <a:latin typeface="Andale Mono" panose="020B0509000000000004" pitchFamily="49" charset="0"/>
              </a:rPr>
              <a:t>Regression-&gt;Binary Logistic</a:t>
            </a:r>
            <a:r>
              <a:rPr lang="en-US" dirty="0"/>
              <a:t> </a:t>
            </a:r>
          </a:p>
        </p:txBody>
      </p:sp>
      <p:pic>
        <p:nvPicPr>
          <p:cNvPr id="1026" name="Picture 2" descr="logitstic regression, logistic regression equation">
            <a:extLst>
              <a:ext uri="{FF2B5EF4-FFF2-40B4-BE49-F238E27FC236}">
                <a16:creationId xmlns:a16="http://schemas.microsoft.com/office/drawing/2014/main" id="{BB37FF2B-B308-C545-8443-F89C14B76F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050" y="844550"/>
            <a:ext cx="3987800" cy="132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C027972-16E5-924B-B50A-613A70F7C1F7}"/>
              </a:ext>
            </a:extLst>
          </p:cNvPr>
          <p:cNvSpPr txBox="1"/>
          <p:nvPr/>
        </p:nvSpPr>
        <p:spPr>
          <a:xfrm>
            <a:off x="6551430" y="1255183"/>
            <a:ext cx="170110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ndale Mono" panose="020B0509000000000004" pitchFamily="49" charset="0"/>
              </a:rPr>
              <a:t>(</a:t>
            </a:r>
            <a:r>
              <a:rPr lang="en-US" dirty="0" err="1">
                <a:latin typeface="Andale Mono" panose="020B0509000000000004" pitchFamily="49" charset="0"/>
              </a:rPr>
              <a:t>years_edu</a:t>
            </a:r>
            <a:r>
              <a:rPr lang="en-US" dirty="0">
                <a:latin typeface="Andale Mono" panose="020B0509000000000004" pitchFamily="49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A8C3CF-E804-D447-A4B4-AE67A4EA0621}"/>
              </a:ext>
            </a:extLst>
          </p:cNvPr>
          <p:cNvSpPr txBox="1"/>
          <p:nvPr/>
        </p:nvSpPr>
        <p:spPr>
          <a:xfrm>
            <a:off x="838200" y="3166533"/>
            <a:ext cx="35310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overall fit: analogous to overall F of </a:t>
            </a:r>
          </a:p>
          <a:p>
            <a:r>
              <a:rPr lang="en-US" dirty="0"/>
              <a:t>a linear model</a:t>
            </a:r>
          </a:p>
        </p:txBody>
      </p:sp>
      <p:pic>
        <p:nvPicPr>
          <p:cNvPr id="9" name="Picture 8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6148A12B-D1BC-CB4A-80DC-0AA4BC470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1083" y="1946247"/>
            <a:ext cx="4817533" cy="4621263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829E6235-568E-EC46-B5FD-DD86266F1E5D}"/>
              </a:ext>
            </a:extLst>
          </p:cNvPr>
          <p:cNvSpPr/>
          <p:nvPr/>
        </p:nvSpPr>
        <p:spPr>
          <a:xfrm>
            <a:off x="5543549" y="3808182"/>
            <a:ext cx="5107517" cy="372165"/>
          </a:xfrm>
          <a:prstGeom prst="ellipse">
            <a:avLst/>
          </a:prstGeom>
          <a:noFill/>
          <a:ln w="603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144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D11C9-A095-0048-A7EC-8954DC788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035800" cy="633942"/>
          </a:xfrm>
        </p:spPr>
        <p:txBody>
          <a:bodyPr>
            <a:normAutofit fontScale="90000"/>
          </a:bodyPr>
          <a:lstStyle/>
          <a:p>
            <a:r>
              <a:rPr lang="en-US" dirty="0"/>
              <a:t>SPSS </a:t>
            </a:r>
            <a:r>
              <a:rPr lang="en-US" sz="2800" dirty="0">
                <a:latin typeface="Andale Mono" panose="020B0509000000000004" pitchFamily="49" charset="0"/>
              </a:rPr>
              <a:t>Regression-&gt;Binary Logistic</a:t>
            </a:r>
            <a:r>
              <a:rPr lang="en-US" dirty="0"/>
              <a:t> </a:t>
            </a:r>
          </a:p>
        </p:txBody>
      </p:sp>
      <p:pic>
        <p:nvPicPr>
          <p:cNvPr id="1026" name="Picture 2" descr="logitstic regression, logistic regression equation">
            <a:extLst>
              <a:ext uri="{FF2B5EF4-FFF2-40B4-BE49-F238E27FC236}">
                <a16:creationId xmlns:a16="http://schemas.microsoft.com/office/drawing/2014/main" id="{BB37FF2B-B308-C545-8443-F89C14B76F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050" y="844550"/>
            <a:ext cx="3987800" cy="132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C027972-16E5-924B-B50A-613A70F7C1F7}"/>
              </a:ext>
            </a:extLst>
          </p:cNvPr>
          <p:cNvSpPr txBox="1"/>
          <p:nvPr/>
        </p:nvSpPr>
        <p:spPr>
          <a:xfrm>
            <a:off x="6551430" y="1255183"/>
            <a:ext cx="170110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ndale Mono" panose="020B0509000000000004" pitchFamily="49" charset="0"/>
              </a:rPr>
              <a:t>(</a:t>
            </a:r>
            <a:r>
              <a:rPr lang="en-US" dirty="0" err="1">
                <a:latin typeface="Andale Mono" panose="020B0509000000000004" pitchFamily="49" charset="0"/>
              </a:rPr>
              <a:t>years_edu</a:t>
            </a:r>
            <a:r>
              <a:rPr lang="en-US" dirty="0">
                <a:latin typeface="Andale Mono" panose="020B0509000000000004" pitchFamily="49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A8C3CF-E804-D447-A4B4-AE67A4EA0621}"/>
              </a:ext>
            </a:extLst>
          </p:cNvPr>
          <p:cNvSpPr txBox="1"/>
          <p:nvPr/>
        </p:nvSpPr>
        <p:spPr>
          <a:xfrm>
            <a:off x="347134" y="2901923"/>
            <a:ext cx="36381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Classification Table:</a:t>
            </a:r>
          </a:p>
          <a:p>
            <a:r>
              <a:rPr lang="en-US" dirty="0"/>
              <a:t>Predictions made by the model for</a:t>
            </a:r>
            <a:br>
              <a:rPr lang="en-US" dirty="0"/>
            </a:br>
            <a:r>
              <a:rPr lang="en-US" dirty="0"/>
              <a:t>each case in the data (probability &gt;.5</a:t>
            </a:r>
            <a:br>
              <a:rPr lang="en-US" dirty="0"/>
            </a:br>
            <a:r>
              <a:rPr lang="en-US" dirty="0"/>
              <a:t>determines prediction)</a:t>
            </a:r>
          </a:p>
        </p:txBody>
      </p:sp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C4637923-FB5B-FA4D-A62D-5158EA1BB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5309" y="2165350"/>
            <a:ext cx="7035800" cy="4373169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B20FE2B7-D2B7-B448-B077-3773B405851F}"/>
              </a:ext>
            </a:extLst>
          </p:cNvPr>
          <p:cNvSpPr/>
          <p:nvPr/>
        </p:nvSpPr>
        <p:spPr>
          <a:xfrm>
            <a:off x="6174468" y="1151835"/>
            <a:ext cx="666601" cy="633941"/>
          </a:xfrm>
          <a:prstGeom prst="ellipse">
            <a:avLst/>
          </a:prstGeom>
          <a:noFill/>
          <a:ln w="603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567C856-0334-9448-B9F8-D4599F85DBAE}"/>
              </a:ext>
            </a:extLst>
          </p:cNvPr>
          <p:cNvSpPr/>
          <p:nvPr/>
        </p:nvSpPr>
        <p:spPr>
          <a:xfrm>
            <a:off x="5695949" y="5401732"/>
            <a:ext cx="5107517" cy="372165"/>
          </a:xfrm>
          <a:prstGeom prst="ellipse">
            <a:avLst/>
          </a:prstGeom>
          <a:noFill/>
          <a:ln w="603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7AA6DDA-B838-FD42-BFD9-3FACAAD6C3D4}"/>
              </a:ext>
            </a:extLst>
          </p:cNvPr>
          <p:cNvSpPr/>
          <p:nvPr/>
        </p:nvSpPr>
        <p:spPr>
          <a:xfrm>
            <a:off x="5455705" y="2841597"/>
            <a:ext cx="4128559" cy="1611870"/>
          </a:xfrm>
          <a:prstGeom prst="ellipse">
            <a:avLst/>
          </a:prstGeom>
          <a:noFill/>
          <a:ln w="603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638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D11C9-A095-0048-A7EC-8954DC788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574868" cy="633942"/>
          </a:xfrm>
        </p:spPr>
        <p:txBody>
          <a:bodyPr>
            <a:normAutofit fontScale="90000"/>
          </a:bodyPr>
          <a:lstStyle/>
          <a:p>
            <a:r>
              <a:rPr lang="en-US" dirty="0"/>
              <a:t>R logistic - using </a:t>
            </a:r>
            <a:r>
              <a:rPr lang="en-US" sz="2700" dirty="0" err="1">
                <a:latin typeface="Andale Mono" panose="020B0509000000000004" pitchFamily="49" charset="0"/>
              </a:rPr>
              <a:t>glm</a:t>
            </a:r>
            <a:r>
              <a:rPr lang="en-US" sz="2700" dirty="0">
                <a:latin typeface="Andale Mono" panose="020B0509000000000004" pitchFamily="49" charset="0"/>
              </a:rPr>
              <a:t>(family=binomial)</a:t>
            </a:r>
            <a:endParaRPr lang="en-US" sz="2700" dirty="0"/>
          </a:p>
        </p:txBody>
      </p:sp>
      <p:pic>
        <p:nvPicPr>
          <p:cNvPr id="1026" name="Picture 2" descr="logitstic regression, logistic regression equation">
            <a:extLst>
              <a:ext uri="{FF2B5EF4-FFF2-40B4-BE49-F238E27FC236}">
                <a16:creationId xmlns:a16="http://schemas.microsoft.com/office/drawing/2014/main" id="{BB37FF2B-B308-C545-8443-F89C14B76F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050" y="980014"/>
            <a:ext cx="3987800" cy="132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C027972-16E5-924B-B50A-613A70F7C1F7}"/>
              </a:ext>
            </a:extLst>
          </p:cNvPr>
          <p:cNvSpPr txBox="1"/>
          <p:nvPr/>
        </p:nvSpPr>
        <p:spPr>
          <a:xfrm>
            <a:off x="6551430" y="1390649"/>
            <a:ext cx="170110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ndale Mono" panose="020B0509000000000004" pitchFamily="49" charset="0"/>
              </a:rPr>
              <a:t>(</a:t>
            </a:r>
            <a:r>
              <a:rPr lang="en-US" dirty="0" err="1">
                <a:latin typeface="Andale Mono" panose="020B0509000000000004" pitchFamily="49" charset="0"/>
              </a:rPr>
              <a:t>years_edu</a:t>
            </a:r>
            <a:r>
              <a:rPr lang="en-US" dirty="0">
                <a:latin typeface="Andale Mono" panose="020B0509000000000004" pitchFamily="49" charset="0"/>
              </a:rPr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F8E727-3660-7845-B726-C83FCBB0C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950" y="2151562"/>
            <a:ext cx="5626100" cy="317500"/>
          </a:xfrm>
          <a:prstGeom prst="rect">
            <a:avLst/>
          </a:prstGeom>
        </p:spPr>
      </p:pic>
      <p:pic>
        <p:nvPicPr>
          <p:cNvPr id="22" name="Picture 21" descr="Text&#10;&#10;Description automatically generated with medium confidence">
            <a:extLst>
              <a:ext uri="{FF2B5EF4-FFF2-40B4-BE49-F238E27FC236}">
                <a16:creationId xmlns:a16="http://schemas.microsoft.com/office/drawing/2014/main" id="{D23953C1-1453-E840-BFAF-9ECEC43A1C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5633" y="2469062"/>
            <a:ext cx="7620000" cy="1485900"/>
          </a:xfrm>
          <a:prstGeom prst="rect">
            <a:avLst/>
          </a:prstGeom>
        </p:spPr>
      </p:pic>
      <p:pic>
        <p:nvPicPr>
          <p:cNvPr id="24" name="Picture 23" descr="Table&#10;&#10;Description automatically generated">
            <a:extLst>
              <a:ext uri="{FF2B5EF4-FFF2-40B4-BE49-F238E27FC236}">
                <a16:creationId xmlns:a16="http://schemas.microsoft.com/office/drawing/2014/main" id="{B0B60AFA-F798-D24B-81F3-D51CDBDE24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2547" y="4272462"/>
            <a:ext cx="4381460" cy="1983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643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D11C9-A095-0048-A7EC-8954DC788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574868" cy="633942"/>
          </a:xfrm>
        </p:spPr>
        <p:txBody>
          <a:bodyPr>
            <a:normAutofit fontScale="90000"/>
          </a:bodyPr>
          <a:lstStyle/>
          <a:p>
            <a:r>
              <a:rPr lang="en-US" dirty="0"/>
              <a:t>R logistic - using </a:t>
            </a:r>
            <a:r>
              <a:rPr lang="en-US" sz="2700" dirty="0" err="1">
                <a:latin typeface="Andale Mono" panose="020B0509000000000004" pitchFamily="49" charset="0"/>
              </a:rPr>
              <a:t>glm</a:t>
            </a:r>
            <a:r>
              <a:rPr lang="en-US" sz="2700" dirty="0">
                <a:latin typeface="Andale Mono" panose="020B0509000000000004" pitchFamily="49" charset="0"/>
              </a:rPr>
              <a:t>(family=binomial)</a:t>
            </a:r>
            <a:endParaRPr lang="en-US" sz="2700" dirty="0"/>
          </a:p>
        </p:txBody>
      </p:sp>
      <p:pic>
        <p:nvPicPr>
          <p:cNvPr id="1026" name="Picture 2" descr="logitstic regression, logistic regression equation">
            <a:extLst>
              <a:ext uri="{FF2B5EF4-FFF2-40B4-BE49-F238E27FC236}">
                <a16:creationId xmlns:a16="http://schemas.microsoft.com/office/drawing/2014/main" id="{BB37FF2B-B308-C545-8443-F89C14B76F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050" y="980014"/>
            <a:ext cx="3987800" cy="132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C027972-16E5-924B-B50A-613A70F7C1F7}"/>
              </a:ext>
            </a:extLst>
          </p:cNvPr>
          <p:cNvSpPr txBox="1"/>
          <p:nvPr/>
        </p:nvSpPr>
        <p:spPr>
          <a:xfrm>
            <a:off x="6551430" y="1390649"/>
            <a:ext cx="170110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ndale Mono" panose="020B0509000000000004" pitchFamily="49" charset="0"/>
              </a:rPr>
              <a:t>(</a:t>
            </a:r>
            <a:r>
              <a:rPr lang="en-US" dirty="0" err="1">
                <a:latin typeface="Andale Mono" panose="020B0509000000000004" pitchFamily="49" charset="0"/>
              </a:rPr>
              <a:t>years_edu</a:t>
            </a:r>
            <a:r>
              <a:rPr lang="en-US" dirty="0">
                <a:latin typeface="Andale Mono" panose="020B0509000000000004" pitchFamily="49" charset="0"/>
              </a:rPr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F8E727-3660-7845-B726-C83FCBB0C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950" y="2151562"/>
            <a:ext cx="5626100" cy="317500"/>
          </a:xfrm>
          <a:prstGeom prst="rect">
            <a:avLst/>
          </a:prstGeom>
        </p:spPr>
      </p:pic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573925B8-240D-AA43-8D1B-6A57EF9933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5450" y="3143250"/>
            <a:ext cx="3721100" cy="571500"/>
          </a:xfrm>
          <a:prstGeom prst="rect">
            <a:avLst/>
          </a:prstGeom>
        </p:spPr>
      </p:pic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9B6442E8-068A-664D-A508-D8E8FE471C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4200" y="3187700"/>
            <a:ext cx="3403600" cy="482600"/>
          </a:xfrm>
          <a:prstGeom prst="rect">
            <a:avLst/>
          </a:prstGeom>
        </p:spPr>
      </p:pic>
      <p:pic>
        <p:nvPicPr>
          <p:cNvPr id="15" name="Picture 14" descr="Text&#10;&#10;Description automatically generated with medium confidence">
            <a:extLst>
              <a:ext uri="{FF2B5EF4-FFF2-40B4-BE49-F238E27FC236}">
                <a16:creationId xmlns:a16="http://schemas.microsoft.com/office/drawing/2014/main" id="{37085054-D7C4-1647-AF94-6ABFDC3E73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3650" y="3187700"/>
            <a:ext cx="7124700" cy="3416300"/>
          </a:xfrm>
          <a:prstGeom prst="rect">
            <a:avLst/>
          </a:prstGeom>
        </p:spPr>
      </p:pic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29322EC6-2D3C-154C-BD00-66458C4BDC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400" y="2549525"/>
            <a:ext cx="37211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5730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D11C9-A095-0048-A7EC-8954DC788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574868" cy="633942"/>
          </a:xfrm>
        </p:spPr>
        <p:txBody>
          <a:bodyPr>
            <a:normAutofit fontScale="90000"/>
          </a:bodyPr>
          <a:lstStyle/>
          <a:p>
            <a:r>
              <a:rPr lang="en-US" dirty="0"/>
              <a:t>R logistic - using </a:t>
            </a:r>
            <a:r>
              <a:rPr lang="en-US" sz="2700" dirty="0" err="1">
                <a:latin typeface="Andale Mono" panose="020B0509000000000004" pitchFamily="49" charset="0"/>
              </a:rPr>
              <a:t>glm</a:t>
            </a:r>
            <a:r>
              <a:rPr lang="en-US" sz="2700" dirty="0">
                <a:latin typeface="Andale Mono" panose="020B0509000000000004" pitchFamily="49" charset="0"/>
              </a:rPr>
              <a:t>(family=binomial)</a:t>
            </a:r>
            <a:endParaRPr lang="en-US" sz="2700" dirty="0"/>
          </a:p>
        </p:txBody>
      </p:sp>
      <p:pic>
        <p:nvPicPr>
          <p:cNvPr id="1026" name="Picture 2" descr="logitstic regression, logistic regression equation">
            <a:extLst>
              <a:ext uri="{FF2B5EF4-FFF2-40B4-BE49-F238E27FC236}">
                <a16:creationId xmlns:a16="http://schemas.microsoft.com/office/drawing/2014/main" id="{BB37FF2B-B308-C545-8443-F89C14B76F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050" y="980014"/>
            <a:ext cx="3987800" cy="132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C027972-16E5-924B-B50A-613A70F7C1F7}"/>
              </a:ext>
            </a:extLst>
          </p:cNvPr>
          <p:cNvSpPr txBox="1"/>
          <p:nvPr/>
        </p:nvSpPr>
        <p:spPr>
          <a:xfrm>
            <a:off x="6551430" y="1390649"/>
            <a:ext cx="170110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ndale Mono" panose="020B0509000000000004" pitchFamily="49" charset="0"/>
              </a:rPr>
              <a:t>(</a:t>
            </a:r>
            <a:r>
              <a:rPr lang="en-US" dirty="0" err="1">
                <a:latin typeface="Andale Mono" panose="020B0509000000000004" pitchFamily="49" charset="0"/>
              </a:rPr>
              <a:t>years_edu</a:t>
            </a:r>
            <a:r>
              <a:rPr lang="en-US" dirty="0">
                <a:latin typeface="Andale Mono" panose="020B0509000000000004" pitchFamily="49" charset="0"/>
              </a:rPr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F8E727-3660-7845-B726-C83FCBB0C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950" y="2151562"/>
            <a:ext cx="5626100" cy="317500"/>
          </a:xfrm>
          <a:prstGeom prst="rect">
            <a:avLst/>
          </a:prstGeom>
        </p:spPr>
      </p:pic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9B6442E8-068A-664D-A508-D8E8FE471C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8950" y="2635250"/>
            <a:ext cx="3403600" cy="482600"/>
          </a:xfrm>
          <a:prstGeom prst="rect">
            <a:avLst/>
          </a:prstGeom>
        </p:spPr>
      </p:pic>
      <p:pic>
        <p:nvPicPr>
          <p:cNvPr id="8" name="Picture 7" descr="Table&#10;&#10;Description automatically generated with medium confidence">
            <a:extLst>
              <a:ext uri="{FF2B5EF4-FFF2-40B4-BE49-F238E27FC236}">
                <a16:creationId xmlns:a16="http://schemas.microsoft.com/office/drawing/2014/main" id="{863DE772-DB5B-6D47-8F24-31DADC27BF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8350" y="980014"/>
            <a:ext cx="81153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164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79728-5232-3443-8117-092035C48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DV/IV (assigning predictor vs outcome doesn’t determine causation)</a:t>
            </a:r>
          </a:p>
          <a:p>
            <a:r>
              <a:rPr lang="en-US" dirty="0"/>
              <a:t>fitting the noise </a:t>
            </a:r>
          </a:p>
          <a:p>
            <a:r>
              <a:rPr lang="en-US" dirty="0"/>
              <a:t>Lots of terms</a:t>
            </a:r>
          </a:p>
          <a:p>
            <a:pPr lvl="1"/>
            <a:r>
              <a:rPr lang="en-US" dirty="0" err="1"/>
              <a:t>heirarchical</a:t>
            </a:r>
            <a:r>
              <a:rPr lang="en-US" dirty="0"/>
              <a:t> entry (</a:t>
            </a:r>
            <a:r>
              <a:rPr lang="en-US" dirty="0" err="1"/>
              <a:t>heirarchical</a:t>
            </a:r>
            <a:r>
              <a:rPr lang="en-US" dirty="0"/>
              <a:t> forced), HLM</a:t>
            </a:r>
          </a:p>
          <a:p>
            <a:pPr lvl="1"/>
            <a:r>
              <a:rPr lang="en-US" dirty="0" err="1"/>
              <a:t>lm</a:t>
            </a:r>
            <a:r>
              <a:rPr lang="en-US" dirty="0"/>
              <a:t>() vs </a:t>
            </a:r>
            <a:r>
              <a:rPr lang="en-US" dirty="0" err="1"/>
              <a:t>glm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783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6780</TotalTime>
  <Words>297</Words>
  <Application>Microsoft Macintosh PowerPoint</Application>
  <PresentationFormat>Widescreen</PresentationFormat>
  <Paragraphs>54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Andale Mono</vt:lpstr>
      <vt:lpstr>Arial</vt:lpstr>
      <vt:lpstr>Calibri</vt:lpstr>
      <vt:lpstr>Calibri Light</vt:lpstr>
      <vt:lpstr>Myriad Pro</vt:lpstr>
      <vt:lpstr>Office Theme</vt:lpstr>
      <vt:lpstr>Reading output from a  linear regression</vt:lpstr>
      <vt:lpstr>SPSS Regression-&gt;Linear </vt:lpstr>
      <vt:lpstr>SPSS Regression-&gt;Linear </vt:lpstr>
      <vt:lpstr>SPSS Regression-&gt;Linear </vt:lpstr>
      <vt:lpstr>PowerPoint Presentation</vt:lpstr>
      <vt:lpstr>PowerPoint Presentation</vt:lpstr>
      <vt:lpstr>PowerPoint Presentation</vt:lpstr>
      <vt:lpstr>PowerPoint Presentation</vt:lpstr>
      <vt:lpstr>SPSS Regression-&gt;Binary Logistic </vt:lpstr>
      <vt:lpstr>SPSS Regression-&gt;Binary Logistic </vt:lpstr>
      <vt:lpstr>SPSS Regression-&gt;Binary Logistic </vt:lpstr>
      <vt:lpstr>SPSS Regression-&gt;Binary Logistic </vt:lpstr>
      <vt:lpstr>R logistic - using glm(family=binomial)</vt:lpstr>
      <vt:lpstr>R logistic - using glm(family=binomial)</vt:lpstr>
      <vt:lpstr>R logistic - using glm(family=binomial)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Reading output from a  linear regression</dc:title>
  <dc:creator>Jamil Bhanji</dc:creator>
  <cp:lastModifiedBy>Jamil Bhanji</cp:lastModifiedBy>
  <cp:revision>9</cp:revision>
  <dcterms:created xsi:type="dcterms:W3CDTF">2021-10-05T21:10:06Z</dcterms:created>
  <dcterms:modified xsi:type="dcterms:W3CDTF">2025-10-06T20:18:41Z</dcterms:modified>
</cp:coreProperties>
</file>